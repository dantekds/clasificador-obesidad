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1274552" cy="457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Análisis de Niveles de Obesidad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FD8"/>
                </a:solidFill>
              </a:rPr>
              <a:t>mediante Métodos de Ciencia de Datos — Versión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Dataset: Estimation of Obesity Levels — UCI ML Repository  ·  Nuevos experimentos: PCA · TruncatedSVD · Ingeniería de Características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6702552" cy="2651760"/>
          </a:xfrm>
          <a:prstGeom prst="rect">
            <a:avLst/>
          </a:prstGeom>
          <a:solidFill>
            <a:srgbClr val="222D6E"/>
          </a:solidFill>
          <a:ln w="9525"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Alumno: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Dante Gil Zenteno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472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Docente: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472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Dr. Mauricio Sepúlveda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0142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Asignatura: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142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Taller de Aplicaciones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581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Programa: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58114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Magíster en Data Science — Facultad de Ingeniería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AA"/>
                </a:solidFill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Objetivo del Trabajo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1: Comprensión del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66928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</a:rPr>
              <a:t>El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2.111 registros de México, Perú y Colombia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17 atributos: hábitos alimentarios, actividad física y características personales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Variable objetivo NObeyesdad: 7 niveles de obesidad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Clases balanceadas (272–351 registros cada una)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Sin valores nulos ni duplicados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77% de registros sintéticos (SMOTE) — Mendoza Palechor &amp; De la Hoz (2019)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</a:rPr>
              <a:t>Preguntas Guía (v2)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¿Existen grupos de personas con perfiles de riesgo similares?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¿Qué algoritmo predice mejor el nivel de obesidad?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¿Qué combinaciones de hábitos se asocian con la obesidad?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¿Cómo cambian los resultados con reducción de dimensionalidad (PCA / SVD)?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¿Aportan valor 5 nuevos atributos de ingeniería de características?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</a:rPr>
              <a:t>Objetivo 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292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Aplicar CRISP-DM con agrupamiento, clasificación y asociación FP-Growth, incorporando 3 experimentos de transformación de datos y comparando su impacto en las métricas.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CRISP-DM — ¿Qué Elementos Fueron Útiles?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Reflexión metodológica exigida por la rúbrica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7150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✓ Elementos ÚTILES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Comprensión del negocio: obligó a definir preguntas guía ANTES de tocar datos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Comprensión de los datos: inspección temprana (nulos, duplicados, balance) evitó retrabajos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Preparación POR TÉCNICA: escalado para clustering, pipelines para clasificación, discretización para FP-Growth → sin fugas de datos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Evaluación: forzó a comparar en test y a documentar resultados negativos (PCA/SVD no mejoran)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Ciclo iterativo: esta versión 2 ES una iteración CRISP-DM motivada por feedback y rúbrica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6235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</a:rPr>
              <a:t>✗ Elementos MENOS útiles aquí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Fase de Despliegue: en contexto académico se reduce a PPT + notebook (sin monitoreo productivo)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Linealidad aparente: el trabajo real fue iterativo entre Preparación ↔ Modelamiento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No prescribe el CÓMO: justificar k o elegir métricas vino del criterio técnico, no de la metodología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663440"/>
            <a:ext cx="5623560" cy="1828800"/>
          </a:xfrm>
          <a:prstGeom prst="rect">
            <a:avLst/>
          </a:prstGeom>
          <a:solidFill>
            <a:srgbClr val="E3F2FD"/>
          </a:solidFill>
          <a:ln w="9525">
            <a:solidFill>
              <a:srgbClr val="1E6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BB8"/>
                </a:solidFill>
              </a:rPr>
              <a:t>Cómo ordenó el análisis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120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Funcionó como esqueleto organizador: cada sección del notebook corresponde a una fase → trabajo trazable y reproducible. Su mayor valor: separar la comprensión del modelamiento.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Descripción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2: Comprensión de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Variables del Dataset (17)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Género (Gender)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Edad (Age)  |  Altura (Height)  |  Peso (Weight)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Historia familiar sobrepeso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Consumo alimentos hipercalóricos (FAVC)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Frecuencia de vegetales (FCVC)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Número de comidas principales (NCP)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Snacks entre comidas (CAEC)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Tabaquismo (SMOKE)  |  Agua (CH2O)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Monitoreo de calorías (SCC)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Actividad física (FAF)  |  Tiempo pantallas (TUE)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Consumo de alcohol (CALC)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Medio de transporte (MTRANS)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→ Nivel de obesidad: NObeyesdad  ★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Niveles de Obesidad (Variable Objetivo)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783080"/>
            <a:ext cx="3474720" cy="384048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84708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Nivel de Obesidad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783080"/>
            <a:ext cx="1188720" cy="384048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184708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Registros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783080"/>
            <a:ext cx="1188720" cy="384048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47504" y="184708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167128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2231136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Obesity_Type_I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16712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223113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351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16712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7504" y="223113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16.6%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551176"/>
            <a:ext cx="3474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4064" y="2615184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Obesity_Type_III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551176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261518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324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551176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61518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15.3%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935224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4064" y="2999232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Obesity_Type_II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93522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8784" y="2999232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297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93522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7504" y="2999232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14.1%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319272"/>
            <a:ext cx="3474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338328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Overweight_Level_I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3319272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338328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319272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47504" y="338328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13.7%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703320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4064" y="3767328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Overweight_Level_II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703320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58784" y="376732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703320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47504" y="3767328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13.7%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4087368"/>
            <a:ext cx="3474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84064" y="4151376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Normal_Weight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087368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58784" y="415137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287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4087368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47504" y="415137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13.6%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4471416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4064" y="4535424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Insufficient_Weight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447141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453542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272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447141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47504" y="4535424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12.9%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Preparación y Transformación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3: Preparación de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24028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Calidad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Sin nulos (0 valores faltantes)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Sin filas duplicadas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Rangos numéricos consistentes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224028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202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Numéricas (8): Age, Height, Weight, FCVC, NCP, CH2O, FAF, TUE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Categóricas (8): Gender, FAVC, CAEC, SMOKE, SCC, CALC, MTRANS, family_history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Target: NObeyesdad — 7 clases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24028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Para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202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OrdinalEncoder en categóricas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StandardScaler en todas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Target excluido → sin fuga de datos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371600"/>
            <a:ext cx="224028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Para Clasificación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9202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Pipeline con ColumnTransformer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Preprocesamiento DENTRO del pipeline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train/test estratificado 80/20 · random_state=42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371600"/>
            <a:ext cx="224028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Para FP-Growth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9202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Numéricas discretizadas en rangos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Categóricas prefijadas: Gender=Female…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Formato OHE booleano (mlxtend)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303520"/>
            <a:ext cx="11612880" cy="1188720"/>
          </a:xfrm>
          <a:prstGeom prst="rect">
            <a:avLst/>
          </a:prstGeom>
          <a:solidFill>
            <a:srgbClr val="F3E5F5"/>
          </a:solidFill>
          <a:ln w="9525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73AB7"/>
                </a:solidFill>
              </a:rPr>
              <a:t>NUEVO EN V2 — Transformaciones experimentales: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PCA (14 componentes, 95% varianza)  ·  TruncatedSVD sobre One-Hot (11 componentes, 90% varianza)  ·  5 atributos nuevos: BMI, BMI_Category, Healthy_Habits_Score, Risky_Eating_Score, Sedentary_Risk_Score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Análisis Exploratorio de Datos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2 — Distribuciones, correlaciones y patrones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6 / 15</a:t>
            </a:r>
          </a:p>
        </p:txBody>
      </p:sp>
      <p:pic>
        <p:nvPicPr>
          <p:cNvPr id="7" name="Picture 6" descr="01_distribucion_obje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5943600" cy="2377440"/>
          </a:xfrm>
          <a:prstGeom prst="rect">
            <a:avLst/>
          </a:prstGeom>
        </p:spPr>
      </p:pic>
      <p:pic>
        <p:nvPicPr>
          <p:cNvPr id="8" name="Picture 7" descr="03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486400" cy="426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59436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Hallazgos clave: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26364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7 clases balanceadas (272–351 por nivel)   • Weight y Height con mayor correlación al target   • Age tiene menor variación entre clases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Clustering — Algoritmo y Número de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4: Modelamiento (Agrupamiento)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7 / 15</a:t>
            </a:r>
          </a:p>
        </p:txBody>
      </p:sp>
      <p:pic>
        <p:nvPicPr>
          <p:cNvPr id="7" name="Picture 6" descr="06_evaluacio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7498079" cy="28838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371600"/>
            <a:ext cx="41148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Justificación del Algoritmo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74519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K-Means: escala bien con 2.111 registros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Variables mixtas escaladas → centroides interpretables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Alternativas evaluadas: DBSCAN (requiere calibrar eps) y Agglomerative (lento, resultado similar)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Elección de k=4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0690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k=2 maximiza Silhouette pero solo separa "obeso / no-obeso" — insuficiente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k=4 mapea los 7 niveles en 4 perfiles de riesgo accionables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Permite diseñar intervenciones por grupo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Silhouettes &lt;0.20 en todo el rango: normal en datos de salud con registros sintéticos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Clustering — Interpretación de los 4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4: Modelamiento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8 / 15</a:t>
            </a:r>
          </a:p>
        </p:txBody>
      </p:sp>
      <p:pic>
        <p:nvPicPr>
          <p:cNvPr id="7" name="Picture 6" descr="07_clusters_visu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7132320" cy="2547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37160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371600"/>
            <a:ext cx="228600" cy="1234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0 · 22.4%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719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Bajo peso / 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011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21.4 · Peso 56.6 kg
Edad 20.8 · FAF 1.10
Hist. familiar 41%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69748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697480"/>
            <a:ext cx="22860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1 · 23.1%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3044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Obesidad Severa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337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37.8 · Peso 106.6 kg
Edad 22.9 · FAF 0.73
Hist. familiar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02336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4023360"/>
            <a:ext cx="228600" cy="1234440"/>
          </a:xfrm>
          <a:prstGeom prst="rect">
            <a:avLst/>
          </a:prstGeom>
          <a:solidFill>
            <a:srgbClr val="E6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2 · 36.4%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9A00"/>
                </a:solidFill>
              </a:rPr>
              <a:t>Obesidad Moderada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19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28.9 · Peso 90.2 kg
Edad 22.3 · FAF 1.20
Hist. familiar 90%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34924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5349240"/>
            <a:ext cx="22860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3 · 18.1%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19" y="5696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Obesidad Leve/I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5989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31.2 · Peso 91.0 kg
Edad 34.4 · FAF 0.88
Hist. familiar 92%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Clasificación — 5 Modelos Comparados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4: Modelamiento (Clasificación)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9 / 15</a:t>
            </a:r>
          </a:p>
        </p:txBody>
      </p:sp>
      <p:pic>
        <p:nvPicPr>
          <p:cNvPr id="7" name="Picture 6" descr="08_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8686800" cy="39485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Configuración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Train / Test: 80% / 20% estratificado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Pipeline con preprocesamiento dentro (sin data leakage)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Métricas macro (todas las clases pesan igual)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random_state =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Modelos evaluados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519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Regresión Logística Multinomial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Árbol de Decisión (max_depth=12)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Random Forest (100 árboles)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K-Nearest Neighbors (k=7)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XGBoost (200 árboles) — NUEVO en 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Clasificación — Resultados en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5: Evaluación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10 / 15</a:t>
            </a:r>
          </a:p>
        </p:txBody>
      </p:sp>
      <p:pic>
        <p:nvPicPr>
          <p:cNvPr id="7" name="Picture 6" descr="0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5943600" cy="4622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Métricas en Datos de Testeo (20%)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83080"/>
            <a:ext cx="228600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47088"/>
            <a:ext cx="2212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783080"/>
            <a:ext cx="7772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41664" y="18470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783080"/>
            <a:ext cx="8229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18904" y="18470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0" y="1783080"/>
            <a:ext cx="7772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41864" y="18470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64240" y="1783080"/>
            <a:ext cx="8229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19104" y="18470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28600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304288"/>
            <a:ext cx="2212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Random Forest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240280"/>
            <a:ext cx="77724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1664" y="23042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0.9598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2240280"/>
            <a:ext cx="82296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23042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0.9623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87000" y="2240280"/>
            <a:ext cx="77724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042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0.9588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64240" y="2240280"/>
            <a:ext cx="82296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19104" y="23042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0.9596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2761488"/>
            <a:ext cx="2212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XGBoost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69748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41664" y="27614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0.9551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2697480"/>
            <a:ext cx="8229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18904" y="27614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0.9558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87000" y="269748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41864" y="27614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0.9537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64240" y="2697480"/>
            <a:ext cx="8229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19104" y="27614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0.9541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15468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3218688"/>
            <a:ext cx="2212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Árbol de Decisión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31546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41664" y="32186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0.9102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4040" y="31546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18904" y="32186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0.9107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7000" y="31546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41864" y="32186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0.9081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64240" y="31546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19104" y="32186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0.9089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611880"/>
            <a:ext cx="22860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3675888"/>
            <a:ext cx="2212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Regresión Logística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361188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1664" y="36758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0.8723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64040" y="3611880"/>
            <a:ext cx="8229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8904" y="36758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0.8693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87000" y="361188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41864" y="36758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0.8688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64240" y="3611880"/>
            <a:ext cx="8229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19104" y="36758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0.8671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06908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4133088"/>
            <a:ext cx="2212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KNN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0" y="40690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41664" y="41330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0.8274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64040" y="40690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18904" y="41330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0.8301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87000" y="40690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41864" y="4133088"/>
            <a:ext cx="7040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0.8221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64240" y="40690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19104" y="4133088"/>
            <a:ext cx="7498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0.8129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754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★ Random Forest es el mejor modelo con F1 Macro = 0.9596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25780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Las clases limítrofes (Normal / Overweight) concentran los errores —
esperable porque sus fronteras de IMC son continuas.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FP-Growth — Reglas con Mejores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min_support=0.15 · min_confidence=0.70 · Lift &gt; 2.0 · target como consecuente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11 / 15</a:t>
            </a:r>
          </a:p>
        </p:txBody>
      </p:sp>
      <p:pic>
        <p:nvPicPr>
          <p:cNvPr id="7" name="Picture 6" descr="10_reglas_asoci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6858000" cy="26376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0350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5E"/>
                </a:solidFill>
              </a:rPr>
              <a:t>Preparación: numéricas discretizadas + ítems prefijados → 7.312 itemsets · 134.739 reglas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Top Reglas (NObeyesdad como consecuente)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783080"/>
            <a:ext cx="251460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847088"/>
            <a:ext cx="2441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Antecedentes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783080"/>
            <a:ext cx="5943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0384" y="18470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Consecuente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69880" y="1783080"/>
            <a:ext cx="5486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24744" y="18470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18520" y="1783080"/>
            <a:ext cx="5486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73384" y="18470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67160" y="1783080"/>
            <a:ext cx="5943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22024" y="18470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24028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4" y="2304288"/>
            <a:ext cx="2441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family_history=yes, Weight=Extremo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2402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0384" y="23042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69880" y="22402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24744" y="23042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18520" y="22402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73384" y="23042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567160" y="22402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22024" y="23042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697480"/>
            <a:ext cx="25146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0064" y="2761488"/>
            <a:ext cx="2441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FAVC=yes, FAF=Nulo, Weight=Alto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26974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0384" y="27614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69880" y="26974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24744" y="27614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0.167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18520" y="26974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73384" y="27614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567160" y="26974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22024" y="27614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15468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0064" y="3218688"/>
            <a:ext cx="2441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CALC=Sometimes, Gender=Female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31546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0384" y="32186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69880" y="31546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24744" y="32186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18520" y="31546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73384" y="32186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0.969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67160" y="31546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22024" y="32186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3611880"/>
            <a:ext cx="25146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0064" y="3675888"/>
            <a:ext cx="2441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NCP=Normal, SCC=no, FAVC=yes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6118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30384" y="36758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69880" y="36118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24744" y="36758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018520" y="36118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73384" y="36758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567160" y="36118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22024" y="36758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0" y="406908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0064" y="4133088"/>
            <a:ext cx="2441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CH2O=Bajo, FAF=Nulo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5520" y="40690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30384" y="41330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40690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24744" y="41330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0.189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018520" y="40690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73384" y="41330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0.943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567160" y="40690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622024" y="41330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5.47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4526280"/>
            <a:ext cx="25146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0064" y="4590288"/>
            <a:ext cx="2441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MTRANS=Public, FCVC=Alto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5520" y="45262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30384" y="45902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69880" y="45262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24744" y="45902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018520" y="45262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73384" y="4590288"/>
            <a:ext cx="47548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567160" y="45262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622024" y="4590288"/>
            <a:ext cx="521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4892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★ Lift &gt; 6 ⇒ la regla es 6× más probable que por azar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0" y="5394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6BB8"/>
                </a:solidFill>
              </a:rPr>
              <a:t>Support = P(A∪B)   ·   Confidence = P(B|A)   ·   Lift = Confidence / P(B)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 Reglas Novedosas de Asociación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FP-Growth · Interpretación y novedad de las reglas seleccionadas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19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CAEC=Sometimes, CALC=Sometimes, FAVC=yes, FCVC=Alto, Gender=Female, MTRANS=Public_Transportation, NCP=Normal, SCC=no, family_history_with_overweight=yes
→ NObeyesdad=Obesity_Type_III  (Conf. 97.9% · Sup. 15.3%)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83464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8036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Combina factor genético con patrón conductual complejo — no trivial.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7160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2880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CAEC=Sometimes, CALC=Sometimes, FAVC=yes, FCVC=Alto, Gender=Female, MTRANS=Public_Transportation, NCP=Normal, SCC=no, family_history_with_overweight=yes
→ NObeyesdad=Obesity_Type_III, SMOKE=no  (Conf. 97.6% · Sup. 15.2%)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83464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88036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El transporte público sedentario potencia el efecto de la dieta hipercalórica.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37160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198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182880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CALC=Sometimes, FAVC=yes, FCVC=Alto, Gender=Female, MTRANS=Public_Transportation, NCP=Normal, SCC=no, SMOKE=no, family_history_with_overweight=yes
→ CAEC=Sometimes, NObeyesdad=Obesity_Type_III  (Conf. 97.6% · Sup. 15.2%)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283464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88036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No fumar no protege de obesidad severa cuando los hábitos alimentarios son malos.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4048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84048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19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29768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CALC=Sometimes, FAVC=yes, FCVC=Alto, Gender=Female, MTRANS=Public_Transportation, NCP=Normal, SCC=no, family_history_with_overweight=yes
→ CAEC=Sometimes, NObeyesdad=Obesity_Type_III, SMOKE=no  (Conf. 97.0% · Sup. 15.2%)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30352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34924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Snacking y alcohol moderado refuerzan el riesgo — regla multivariada novedosa.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84048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84048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29768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CAEC=Sometimes, CALC=Sometimes, FCVC=Alto, Gender=Female, MTRANS=Public_Transportation, NCP=Normal, SCC=no, family_history_with_overweight=yes
→ FAVC=yes, NObeyesdad=Obesity_Type_III  (Conf. 97.0% · Sup. 15.3%)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30352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534924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Predice también el patrón de conducta (FAVC), no solo el nivel de obesidad.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84048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3879" y="384048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198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19" y="429768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CAEC=Sometimes, CALC=Sometimes, FCVC=Alto, Gender=Female, MTRANS=Public_Transportation, NCP=Normal, SCC=no, family_history_with_overweight=yes
→ FAVC=yes, NObeyesdad=Obesity_Type_III, SMOKE=no  (Conf. 96.7% · Sup. 15.2%)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79" y="530352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19" y="534924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Alcohol ocasional en mujeres con antecedentes familiares y dieta alta en calorías.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Experimentos — PCA · TruncatedSVD · Ingeniería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¿Cómo cambian clustering y clasificación con cada transformación?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13 / 15</a:t>
            </a:r>
          </a:p>
        </p:txBody>
      </p:sp>
      <p:pic>
        <p:nvPicPr>
          <p:cNvPr id="7" name="Picture 6" descr="16_comparacion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7863840" cy="2621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Resultados (Random Forest + KMeans k=4)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783080"/>
            <a:ext cx="1554480" cy="438912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847088"/>
            <a:ext cx="14813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Experimento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1783080"/>
            <a:ext cx="777240" cy="438912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8944" y="1847088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61320" y="1783080"/>
            <a:ext cx="777240" cy="438912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16184" y="1847088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0" y="1783080"/>
            <a:ext cx="777240" cy="438912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93424" y="1847088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Silhouette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221992"/>
            <a:ext cx="1554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286000"/>
            <a:ext cx="14813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221992"/>
            <a:ext cx="777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38944" y="2286000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0.9598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61320" y="2221992"/>
            <a:ext cx="777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16184" y="2286000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0.9596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0" y="2221992"/>
            <a:ext cx="777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93424" y="2286000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0.1057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660904"/>
            <a:ext cx="155448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2724912"/>
            <a:ext cx="14813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PCA (14 comps)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660904"/>
            <a:ext cx="77724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8944" y="2724912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0.8723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61320" y="2660904"/>
            <a:ext cx="77724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16184" y="2724912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0.8679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338560" y="2660904"/>
            <a:ext cx="77724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93424" y="2724912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0.1514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099816"/>
            <a:ext cx="1554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3163824"/>
            <a:ext cx="14813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SVD (11 comps)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3099816"/>
            <a:ext cx="777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3163824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0.8605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3099816"/>
            <a:ext cx="777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16184" y="3163824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0.8579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338560" y="3099816"/>
            <a:ext cx="777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93424" y="3163824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0.1467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538728"/>
            <a:ext cx="155448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3602736"/>
            <a:ext cx="14813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FE (+5 attrs)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538728"/>
            <a:ext cx="77724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38944" y="3602736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0.9905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61320" y="3538728"/>
            <a:ext cx="77724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16184" y="3602736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0.9904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338560" y="3538728"/>
            <a:ext cx="777240" cy="43891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393424" y="3602736"/>
            <a:ext cx="70408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0.1491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206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Lectura de los experimentos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553712"/>
            <a:ext cx="38404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Clasificación: PCA y SVD pierden señal (F1 0.868 / 0.858 vs 0.960)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Clustering: PCA MEJORA la separación — Silhouette 0.106 → 0.151 (+43%)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FE: BMI eleva F1 a 0.99 pero casi determina el target (construido desde IMC) — advertencia metodológica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El valor de una transformación DEPENDE de la tarea (predecir vs segmentar)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Descubrimientos Destacados y 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Cada hallazgo respaldado por una métrica y contrastado con literatura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8064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64592" cy="1600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264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1 · Mejor clasificador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Random Forest: F1 macro 0.960 y accuracy 0.960 en test. Das et al. (2026) reportan resultados comparables con ensembles sobre ESTE MISMO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8064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164592" cy="1600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264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2 · Historia familiar domina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55648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Las reglas con mayor Lift (&gt;6) incluyen family_history=yes; clusters de mayor IMC: &gt;90% con antecedentes. Coincide con HUNT Study (Næss et al., 2016): dos padres con sobrepeso → BMI z-score +0.76 en hijos.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63240"/>
            <a:ext cx="58064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164592" cy="16002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181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3AB7"/>
                </a:solidFill>
              </a:rPr>
              <a:t>3 · IMC casi determina el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Con BMI como atributo, F1 sube de 0.960 a 0.990. El target fue construido desde el IMC (Mendoza Palechor, 2019) → el modelo útil en la práctica es el que predice SIN antropometría directa.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63240"/>
            <a:ext cx="58064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63240"/>
            <a:ext cx="164592" cy="1600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1181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BB8"/>
                </a:solidFill>
              </a:rPr>
              <a:t>4 · Reducción dimensional: efecto mixto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47288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En clasificación PCA/SVD pierden señal (F1 0.868 / 0.858 vs 0.960), pero en clustering PCA MEJORA la separación (Silhouette 0.106 → 0.151). La utilidad de una transformación depende de la tarea.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92040"/>
            <a:ext cx="11612880" cy="1600200"/>
          </a:xfrm>
          <a:prstGeom prst="rect">
            <a:avLst/>
          </a:prstGeom>
          <a:solidFill>
            <a:srgbClr val="E8EAF6"/>
          </a:solidFill>
          <a:ln w="9525">
            <a:solidFill>
              <a:srgbClr val="1A2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560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Bibliografía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8523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Mendoza Palechor, F., &amp; De la Hoz Manotas, A. (2019). Dataset for estimation of obesity levels… Data in Brief, 25, 104344. doi:10.1016/j.dib.2019.104344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Das, S., et al. (2026). GBWOEM: A Gradient-Based Weight Optimization Model… F1000Research, 14, 1161. doi:10.12688/f1000research.169436.2 [PubMed]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Næss, M., et al. (2016). Intergenerational Transmission of Overweight and Obesity — The HUNT Study. PLoS ONE, 11(11), e0166585. doi:10.1371/journal.pone.0166585 [PubMed]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Conclusiones y Mejoras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Dataset: Estimation of Obesity Levels — UCI ML Repository · Versión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15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12880" cy="969264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82880" cy="969264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D8"/>
                </a:solidFill>
              </a:rPr>
              <a:t>Clustering K-Means k=4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 perfiles de riesgo diferenciados por IMC, peso y actividad física. El grupo de obesidad severa concentra 100% de historia familiar y la menor actividad física.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49424"/>
            <a:ext cx="11612880" cy="969264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49424"/>
            <a:ext cx="182880" cy="969264"/>
          </a:xfrm>
          <a:prstGeom prst="rect">
            <a:avLst/>
          </a:prstGeom>
          <a:solidFill>
            <a:srgbClr val="66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951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FF66"/>
                </a:solidFill>
              </a:rPr>
              <a:t>Clasificación —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15184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Mejor modelo con F1 macro 0.9596 y accuracy 96.0% en test, comparando 5 algoritmos (incluido XGBoost, nuevo en v2).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10128"/>
            <a:ext cx="11612880" cy="969264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310128"/>
            <a:ext cx="182880" cy="9692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558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Asociación FP-Growth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75888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Lift máximo 6.38: historia familiar + hábitos hipercalóricos + sedentarismo = predictor combinado robusto de obesidad severa. 6 reglas novedosas interpretadas.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70831"/>
            <a:ext cx="11612880" cy="969264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370831"/>
            <a:ext cx="182880" cy="9692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1655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00"/>
                </a:solidFill>
              </a:rPr>
              <a:t>Experimentos (v2)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1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PCA y TruncatedSVD no mejoran (F1 0.868 / 0.858 vs 0.960); la ingeniería de características eleva F1 a 0.990 pero BMI casi determina el target — advertencia metodológica documentada.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31536"/>
            <a:ext cx="11612880" cy="969264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431536"/>
            <a:ext cx="182880" cy="9692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4772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E93D8"/>
                </a:solidFill>
              </a:rPr>
              <a:t>Mejoras futuras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97296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GridSearchCV + validación cruzada · modelo sin antropometría directa (solo hábitos) · validación con datos reales no sintéticos · Backoffice Streamlit ya disponible (app.py).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</a:rPr>
              <a:t>Notebook reproducible · Backoffice Streamlit (app.py) · Dataset UCI · Alumno: Dante Gil Zenteno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