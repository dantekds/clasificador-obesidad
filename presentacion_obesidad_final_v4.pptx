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3" d="100"/>
          <a:sy n="83" d="100"/>
        </p:scale>
        <p:origin x="60" y="47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601200" y="3291840"/>
            <a:ext cx="4572000" cy="4572000"/>
          </a:xfrm>
          <a:prstGeom prst="ellipse">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789920" y="4389120"/>
            <a:ext cx="3108960" cy="310896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052560" y="-1280160"/>
            <a:ext cx="2194560" cy="2194560"/>
          </a:xfrm>
          <a:prstGeom prst="ellipse">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85800" y="2514600"/>
            <a:ext cx="2743200" cy="4445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731520"/>
            <a:ext cx="9601200" cy="365760"/>
          </a:xfrm>
          <a:prstGeom prst="rect">
            <a:avLst/>
          </a:prstGeom>
          <a:noFill/>
        </p:spPr>
        <p:txBody>
          <a:bodyPr wrap="square">
            <a:spAutoFit/>
          </a:bodyPr>
          <a:lstStyle/>
          <a:p>
            <a:pPr algn="l"/>
            <a:r>
              <a:rPr sz="1300" b="1" i="0">
                <a:solidFill>
                  <a:srgbClr val="2563EB"/>
                </a:solidFill>
                <a:latin typeface="Segoe UI"/>
              </a:rPr>
              <a:t>TALLER DE APLICACIONES · MAGÍSTER EN DATA SCIENCE · USS</a:t>
            </a:r>
          </a:p>
        </p:txBody>
      </p:sp>
      <p:sp>
        <p:nvSpPr>
          <p:cNvPr id="8" name="TextBox 7"/>
          <p:cNvSpPr txBox="1"/>
          <p:nvPr/>
        </p:nvSpPr>
        <p:spPr>
          <a:xfrm>
            <a:off x="640080" y="1097280"/>
            <a:ext cx="10515600" cy="914400"/>
          </a:xfrm>
          <a:prstGeom prst="rect">
            <a:avLst/>
          </a:prstGeom>
          <a:noFill/>
        </p:spPr>
        <p:txBody>
          <a:bodyPr wrap="square">
            <a:spAutoFit/>
          </a:bodyPr>
          <a:lstStyle/>
          <a:p>
            <a:pPr algn="l"/>
            <a:r>
              <a:rPr sz="4400" b="1" i="0">
                <a:solidFill>
                  <a:srgbClr val="F9FAFB"/>
                </a:solidFill>
                <a:latin typeface="Segoe UI"/>
              </a:rPr>
              <a:t>Análisis de Niveles de Obesidad con CRISP-DM</a:t>
            </a:r>
          </a:p>
        </p:txBody>
      </p:sp>
      <p:sp>
        <p:nvSpPr>
          <p:cNvPr id="10" name="TextBox 9"/>
          <p:cNvSpPr txBox="1"/>
          <p:nvPr/>
        </p:nvSpPr>
        <p:spPr>
          <a:xfrm>
            <a:off x="685800" y="2743200"/>
            <a:ext cx="8686800" cy="685800"/>
          </a:xfrm>
          <a:prstGeom prst="rect">
            <a:avLst/>
          </a:prstGeom>
          <a:noFill/>
        </p:spPr>
        <p:txBody>
          <a:bodyPr wrap="square">
            <a:spAutoFit/>
          </a:bodyPr>
          <a:lstStyle/>
          <a:p>
            <a:pPr algn="l"/>
            <a:r>
              <a:rPr sz="1300" b="0" i="0">
                <a:solidFill>
                  <a:srgbClr val="8AA4BC"/>
                </a:solidFill>
                <a:latin typeface="Segoe UI"/>
              </a:rPr>
              <a:t>Dataset: Estimation of Obesity Levels (UCI ML Repository)
2.111 registros · 17 variables · México, Perú y Colombia</a:t>
            </a:r>
          </a:p>
        </p:txBody>
      </p:sp>
      <p:sp>
        <p:nvSpPr>
          <p:cNvPr id="11" name="Rectangle 10"/>
          <p:cNvSpPr/>
          <p:nvPr/>
        </p:nvSpPr>
        <p:spPr>
          <a:xfrm>
            <a:off x="713232" y="3840479"/>
            <a:ext cx="64008" cy="47548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3749039"/>
            <a:ext cx="3200400" cy="274320"/>
          </a:xfrm>
          <a:prstGeom prst="rect">
            <a:avLst/>
          </a:prstGeom>
          <a:noFill/>
        </p:spPr>
        <p:txBody>
          <a:bodyPr wrap="square">
            <a:spAutoFit/>
          </a:bodyPr>
          <a:lstStyle/>
          <a:p>
            <a:pPr algn="l"/>
            <a:r>
              <a:rPr sz="1000" b="1" i="0">
                <a:solidFill>
                  <a:srgbClr val="7E96AE"/>
                </a:solidFill>
                <a:latin typeface="Segoe UI"/>
              </a:rPr>
              <a:t>ALUMNO</a:t>
            </a:r>
          </a:p>
        </p:txBody>
      </p:sp>
      <p:sp>
        <p:nvSpPr>
          <p:cNvPr id="13" name="TextBox 12"/>
          <p:cNvSpPr txBox="1"/>
          <p:nvPr/>
        </p:nvSpPr>
        <p:spPr>
          <a:xfrm>
            <a:off x="932688" y="4005071"/>
            <a:ext cx="5486400" cy="384048"/>
          </a:xfrm>
          <a:prstGeom prst="rect">
            <a:avLst/>
          </a:prstGeom>
          <a:noFill/>
        </p:spPr>
        <p:txBody>
          <a:bodyPr wrap="square">
            <a:spAutoFit/>
          </a:bodyPr>
          <a:lstStyle/>
          <a:p>
            <a:pPr algn="l"/>
            <a:r>
              <a:rPr sz="1600" b="1" i="0">
                <a:solidFill>
                  <a:srgbClr val="F9FAFB"/>
                </a:solidFill>
                <a:latin typeface="Segoe UI"/>
              </a:rPr>
              <a:t>Dante Gil Zenteno</a:t>
            </a:r>
          </a:p>
        </p:txBody>
      </p:sp>
      <p:sp>
        <p:nvSpPr>
          <p:cNvPr id="14" name="Rectangle 13"/>
          <p:cNvSpPr/>
          <p:nvPr/>
        </p:nvSpPr>
        <p:spPr>
          <a:xfrm>
            <a:off x="713232" y="4590287"/>
            <a:ext cx="64008" cy="47548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4498847"/>
            <a:ext cx="3200400" cy="274320"/>
          </a:xfrm>
          <a:prstGeom prst="rect">
            <a:avLst/>
          </a:prstGeom>
          <a:noFill/>
        </p:spPr>
        <p:txBody>
          <a:bodyPr wrap="square">
            <a:spAutoFit/>
          </a:bodyPr>
          <a:lstStyle/>
          <a:p>
            <a:pPr algn="l"/>
            <a:r>
              <a:rPr sz="1000" b="1" i="0">
                <a:solidFill>
                  <a:srgbClr val="7E96AE"/>
                </a:solidFill>
                <a:latin typeface="Segoe UI"/>
              </a:rPr>
              <a:t>DOCENTE</a:t>
            </a:r>
          </a:p>
        </p:txBody>
      </p:sp>
      <p:sp>
        <p:nvSpPr>
          <p:cNvPr id="16" name="TextBox 15"/>
          <p:cNvSpPr txBox="1"/>
          <p:nvPr/>
        </p:nvSpPr>
        <p:spPr>
          <a:xfrm>
            <a:off x="932688" y="4754879"/>
            <a:ext cx="5486400" cy="384048"/>
          </a:xfrm>
          <a:prstGeom prst="rect">
            <a:avLst/>
          </a:prstGeom>
          <a:noFill/>
        </p:spPr>
        <p:txBody>
          <a:bodyPr wrap="square">
            <a:spAutoFit/>
          </a:bodyPr>
          <a:lstStyle/>
          <a:p>
            <a:pPr algn="l"/>
            <a:r>
              <a:rPr sz="1600" b="1" i="0">
                <a:solidFill>
                  <a:srgbClr val="F9FAFB"/>
                </a:solidFill>
                <a:latin typeface="Segoe UI"/>
              </a:rPr>
              <a:t>Dr. Mauricio Sepúlveda</a:t>
            </a:r>
          </a:p>
        </p:txBody>
      </p:sp>
      <p:sp>
        <p:nvSpPr>
          <p:cNvPr id="17" name="Rectangle 16"/>
          <p:cNvSpPr/>
          <p:nvPr/>
        </p:nvSpPr>
        <p:spPr>
          <a:xfrm>
            <a:off x="713232" y="5340095"/>
            <a:ext cx="64008" cy="47548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32688" y="5248655"/>
            <a:ext cx="3200400" cy="274320"/>
          </a:xfrm>
          <a:prstGeom prst="rect">
            <a:avLst/>
          </a:prstGeom>
          <a:noFill/>
        </p:spPr>
        <p:txBody>
          <a:bodyPr wrap="square">
            <a:spAutoFit/>
          </a:bodyPr>
          <a:lstStyle/>
          <a:p>
            <a:pPr algn="l"/>
            <a:r>
              <a:rPr sz="1000" b="1" i="0">
                <a:solidFill>
                  <a:srgbClr val="7E96AE"/>
                </a:solidFill>
                <a:latin typeface="Segoe UI"/>
              </a:rPr>
              <a:t>ASIGNATURA</a:t>
            </a:r>
          </a:p>
        </p:txBody>
      </p:sp>
      <p:sp>
        <p:nvSpPr>
          <p:cNvPr id="19" name="TextBox 18"/>
          <p:cNvSpPr txBox="1"/>
          <p:nvPr/>
        </p:nvSpPr>
        <p:spPr>
          <a:xfrm>
            <a:off x="932688" y="5504687"/>
            <a:ext cx="5486400" cy="384048"/>
          </a:xfrm>
          <a:prstGeom prst="rect">
            <a:avLst/>
          </a:prstGeom>
          <a:noFill/>
        </p:spPr>
        <p:txBody>
          <a:bodyPr wrap="square">
            <a:spAutoFit/>
          </a:bodyPr>
          <a:lstStyle/>
          <a:p>
            <a:pPr algn="l"/>
            <a:r>
              <a:rPr sz="1600" b="1" i="0">
                <a:solidFill>
                  <a:srgbClr val="F9FAFB"/>
                </a:solidFill>
                <a:latin typeface="Segoe UI"/>
              </a:rPr>
              <a:t>Taller de Aplicaciones</a:t>
            </a:r>
          </a:p>
        </p:txBody>
      </p:sp>
      <p:sp>
        <p:nvSpPr>
          <p:cNvPr id="20" name="TextBox 19"/>
          <p:cNvSpPr txBox="1"/>
          <p:nvPr/>
        </p:nvSpPr>
        <p:spPr>
          <a:xfrm>
            <a:off x="713232" y="6446520"/>
            <a:ext cx="2743200" cy="320040"/>
          </a:xfrm>
          <a:prstGeom prst="rect">
            <a:avLst/>
          </a:prstGeom>
          <a:noFill/>
        </p:spPr>
        <p:txBody>
          <a:bodyPr wrap="square">
            <a:spAutoFit/>
          </a:bodyPr>
          <a:lstStyle/>
          <a:p>
            <a:pPr algn="l"/>
            <a:r>
              <a:rPr sz="1200" b="1" i="0">
                <a:solidFill>
                  <a:srgbClr val="7E96AE"/>
                </a:solidFill>
                <a:latin typeface="Segoe UI"/>
              </a:rPr>
              <a:t>Junio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11480" y="256032"/>
            <a:ext cx="146304" cy="59436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57784" y="182880"/>
            <a:ext cx="11512296" cy="523220"/>
          </a:xfrm>
          <a:prstGeom prst="rect">
            <a:avLst/>
          </a:prstGeom>
          <a:noFill/>
        </p:spPr>
        <p:txBody>
          <a:bodyPr wrap="square">
            <a:spAutoFit/>
          </a:bodyPr>
          <a:lstStyle/>
          <a:p>
            <a:pPr algn="l"/>
            <a:r>
              <a:rPr sz="2800" b="1" i="0" dirty="0">
                <a:solidFill>
                  <a:srgbClr val="111827"/>
                </a:solidFill>
                <a:latin typeface="Segoe UI"/>
              </a:rPr>
              <a:t>¿</a:t>
            </a:r>
            <a:r>
              <a:rPr sz="2800" b="1" i="0" dirty="0" err="1">
                <a:solidFill>
                  <a:srgbClr val="111827"/>
                </a:solidFill>
                <a:latin typeface="Segoe UI"/>
              </a:rPr>
              <a:t>Qué</a:t>
            </a:r>
            <a:r>
              <a:rPr sz="2800" b="1" i="0" dirty="0">
                <a:solidFill>
                  <a:srgbClr val="111827"/>
                </a:solidFill>
                <a:latin typeface="Segoe UI"/>
              </a:rPr>
              <a:t> </a:t>
            </a:r>
            <a:r>
              <a:rPr sz="2800" b="1" i="0" dirty="0" err="1">
                <a:solidFill>
                  <a:srgbClr val="111827"/>
                </a:solidFill>
                <a:latin typeface="Segoe UI"/>
              </a:rPr>
              <a:t>patrones</a:t>
            </a:r>
            <a:r>
              <a:rPr sz="2800" b="1" i="0" dirty="0">
                <a:solidFill>
                  <a:srgbClr val="111827"/>
                </a:solidFill>
                <a:latin typeface="Segoe UI"/>
              </a:rPr>
              <a:t> de </a:t>
            </a:r>
            <a:r>
              <a:rPr sz="2800" b="1" i="0" dirty="0" err="1">
                <a:solidFill>
                  <a:srgbClr val="111827"/>
                </a:solidFill>
                <a:latin typeface="Segoe UI"/>
              </a:rPr>
              <a:t>hábitos</a:t>
            </a:r>
            <a:r>
              <a:rPr sz="2800" b="1" i="0" dirty="0">
                <a:solidFill>
                  <a:srgbClr val="111827"/>
                </a:solidFill>
                <a:latin typeface="Segoe UI"/>
              </a:rPr>
              <a:t> y </a:t>
            </a:r>
            <a:r>
              <a:rPr sz="2800" b="1" i="0" dirty="0" err="1">
                <a:solidFill>
                  <a:srgbClr val="111827"/>
                </a:solidFill>
                <a:latin typeface="Segoe UI"/>
              </a:rPr>
              <a:t>riesgo</a:t>
            </a:r>
            <a:r>
              <a:rPr sz="2800" b="1" i="0" dirty="0">
                <a:solidFill>
                  <a:srgbClr val="111827"/>
                </a:solidFill>
                <a:latin typeface="Segoe UI"/>
              </a:rPr>
              <a:t> </a:t>
            </a:r>
            <a:r>
              <a:rPr sz="2800" b="1" i="0" dirty="0" err="1">
                <a:solidFill>
                  <a:srgbClr val="111827"/>
                </a:solidFill>
                <a:latin typeface="Segoe UI"/>
              </a:rPr>
              <a:t>explican</a:t>
            </a:r>
            <a:r>
              <a:rPr sz="2800" b="1" i="0" dirty="0">
                <a:solidFill>
                  <a:srgbClr val="111827"/>
                </a:solidFill>
                <a:latin typeface="Segoe UI"/>
              </a:rPr>
              <a:t> </a:t>
            </a:r>
            <a:r>
              <a:rPr sz="2800" b="1" i="0" dirty="0" err="1">
                <a:solidFill>
                  <a:srgbClr val="111827"/>
                </a:solidFill>
                <a:latin typeface="Segoe UI"/>
              </a:rPr>
              <a:t>los</a:t>
            </a:r>
            <a:r>
              <a:rPr sz="2800" b="1" i="0" dirty="0">
                <a:solidFill>
                  <a:srgbClr val="111827"/>
                </a:solidFill>
                <a:latin typeface="Segoe UI"/>
              </a:rPr>
              <a:t> </a:t>
            </a:r>
            <a:r>
              <a:rPr sz="2800" b="1" i="0" dirty="0" err="1">
                <a:solidFill>
                  <a:srgbClr val="111827"/>
                </a:solidFill>
                <a:latin typeface="Segoe UI"/>
              </a:rPr>
              <a:t>niveles</a:t>
            </a:r>
            <a:r>
              <a:rPr sz="2800" b="1" i="0" dirty="0">
                <a:solidFill>
                  <a:srgbClr val="111827"/>
                </a:solidFill>
                <a:latin typeface="Segoe UI"/>
              </a:rPr>
              <a:t> de </a:t>
            </a:r>
            <a:r>
              <a:rPr sz="2800" b="1" i="0" dirty="0" err="1">
                <a:solidFill>
                  <a:srgbClr val="111827"/>
                </a:solidFill>
                <a:latin typeface="Segoe UI"/>
              </a:rPr>
              <a:t>obesidad</a:t>
            </a:r>
            <a:r>
              <a:rPr sz="2800" b="1" i="0" dirty="0">
                <a:solidFill>
                  <a:srgbClr val="111827"/>
                </a:solidFill>
                <a:latin typeface="Segoe UI"/>
              </a:rPr>
              <a:t>?</a:t>
            </a:r>
          </a:p>
        </p:txBody>
      </p:sp>
      <p:sp>
        <p:nvSpPr>
          <p:cNvPr id="5" name="TextBox 4"/>
          <p:cNvSpPr txBox="1"/>
          <p:nvPr/>
        </p:nvSpPr>
        <p:spPr>
          <a:xfrm>
            <a:off x="731520" y="731520"/>
            <a:ext cx="10881360" cy="307777"/>
          </a:xfrm>
          <a:prstGeom prst="rect">
            <a:avLst/>
          </a:prstGeom>
          <a:noFill/>
        </p:spPr>
        <p:txBody>
          <a:bodyPr wrap="square">
            <a:spAutoFit/>
          </a:bodyPr>
          <a:lstStyle/>
          <a:p>
            <a:pPr algn="l"/>
            <a:r>
              <a:rPr sz="1400" b="0" i="0" dirty="0" err="1">
                <a:solidFill>
                  <a:srgbClr val="64748B"/>
                </a:solidFill>
                <a:latin typeface="Segoe UI"/>
              </a:rPr>
              <a:t>Comprensión</a:t>
            </a:r>
            <a:r>
              <a:rPr sz="1400" b="0" i="0" dirty="0">
                <a:solidFill>
                  <a:srgbClr val="64748B"/>
                </a:solidFill>
                <a:latin typeface="Segoe UI"/>
              </a:rPr>
              <a:t> del </a:t>
            </a:r>
            <a:r>
              <a:rPr sz="1400" b="0" i="0" dirty="0" err="1">
                <a:solidFill>
                  <a:srgbClr val="64748B"/>
                </a:solidFill>
                <a:latin typeface="Segoe UI"/>
              </a:rPr>
              <a:t>negocio</a:t>
            </a:r>
            <a:r>
              <a:rPr sz="1400" b="0" i="0" dirty="0">
                <a:solidFill>
                  <a:srgbClr val="64748B"/>
                </a:solidFill>
                <a:latin typeface="Segoe UI"/>
              </a:rPr>
              <a:t> — CRISP-DM Fase 1</a:t>
            </a:r>
          </a:p>
        </p:txBody>
      </p:sp>
      <p:sp>
        <p:nvSpPr>
          <p:cNvPr id="6" name="Rectangle 5"/>
          <p:cNvSpPr/>
          <p:nvPr/>
        </p:nvSpPr>
        <p:spPr>
          <a:xfrm>
            <a:off x="411480" y="1133856"/>
            <a:ext cx="11365992"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55680" y="6510528"/>
            <a:ext cx="914400" cy="274320"/>
          </a:xfrm>
          <a:prstGeom prst="rect">
            <a:avLst/>
          </a:prstGeom>
          <a:noFill/>
        </p:spPr>
        <p:txBody>
          <a:bodyPr wrap="square">
            <a:spAutoFit/>
          </a:bodyPr>
          <a:lstStyle/>
          <a:p>
            <a:pPr algn="r"/>
            <a:r>
              <a:rPr sz="900" b="0" i="0">
                <a:solidFill>
                  <a:srgbClr val="64748B"/>
                </a:solidFill>
                <a:latin typeface="Segoe UI"/>
              </a:rPr>
              <a:t>01 / 20</a:t>
            </a:r>
          </a:p>
        </p:txBody>
      </p:sp>
      <p:sp>
        <p:nvSpPr>
          <p:cNvPr id="8" name="Rounded Rectangle 7"/>
          <p:cNvSpPr/>
          <p:nvPr/>
        </p:nvSpPr>
        <p:spPr>
          <a:xfrm>
            <a:off x="411480" y="1325880"/>
            <a:ext cx="5394960" cy="5120640"/>
          </a:xfrm>
          <a:prstGeom prst="roundRect">
            <a:avLst>
              <a:gd name="adj" fmla="val 7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11480" y="1325880"/>
            <a:ext cx="109728" cy="5120640"/>
          </a:xfrm>
          <a:prstGeom prst="roundRect">
            <a:avLst>
              <a:gd name="adj" fmla="val 7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1463040"/>
            <a:ext cx="4937760" cy="365760"/>
          </a:xfrm>
          <a:prstGeom prst="rect">
            <a:avLst/>
          </a:prstGeom>
          <a:noFill/>
        </p:spPr>
        <p:txBody>
          <a:bodyPr wrap="square">
            <a:spAutoFit/>
          </a:bodyPr>
          <a:lstStyle/>
          <a:p>
            <a:pPr algn="l"/>
            <a:r>
              <a:rPr sz="1800" b="1" i="0">
                <a:solidFill>
                  <a:srgbClr val="111827"/>
                </a:solidFill>
                <a:latin typeface="Segoe UI"/>
              </a:rPr>
              <a:t>El problema</a:t>
            </a:r>
          </a:p>
        </p:txBody>
      </p:sp>
      <p:sp>
        <p:nvSpPr>
          <p:cNvPr id="11" name="TextBox 10"/>
          <p:cNvSpPr txBox="1"/>
          <p:nvPr/>
        </p:nvSpPr>
        <p:spPr>
          <a:xfrm>
            <a:off x="713232" y="1920240"/>
            <a:ext cx="4937760" cy="3474720"/>
          </a:xfrm>
          <a:prstGeom prst="rect">
            <a:avLst/>
          </a:prstGeom>
          <a:noFill/>
        </p:spPr>
        <p:txBody>
          <a:bodyPr wrap="square">
            <a:spAutoFit/>
          </a:bodyPr>
          <a:lstStyle/>
          <a:p>
            <a:pPr>
              <a:spcBef>
                <a:spcPts val="800"/>
              </a:spcBef>
            </a:pPr>
            <a:r>
              <a:rPr sz="1400">
                <a:solidFill>
                  <a:srgbClr val="111827"/>
                </a:solidFill>
                <a:latin typeface="Segoe UI"/>
              </a:rPr>
              <a:t>•  Obesidad: problema de salud pública con causas multifactoriales (hábitos, genética, entorno)</a:t>
            </a:r>
          </a:p>
          <a:p>
            <a:pPr>
              <a:spcBef>
                <a:spcPts val="800"/>
              </a:spcBef>
            </a:pPr>
            <a:r>
              <a:rPr sz="1400">
                <a:solidFill>
                  <a:srgbClr val="111827"/>
                </a:solidFill>
                <a:latin typeface="Segoe UI"/>
              </a:rPr>
              <a:t>•  El dataset registra hábitos alimentarios, actividad física y datos personales</a:t>
            </a:r>
          </a:p>
          <a:p>
            <a:pPr>
              <a:spcBef>
                <a:spcPts val="800"/>
              </a:spcBef>
            </a:pPr>
            <a:r>
              <a:rPr sz="1400">
                <a:solidFill>
                  <a:srgbClr val="111827"/>
                </a:solidFill>
                <a:latin typeface="Segoe UI"/>
              </a:rPr>
              <a:t>•  Variable objetivo NObeyesdad: 7 niveles desde Insufficient_Weight hasta Obesity_Type_III</a:t>
            </a:r>
          </a:p>
          <a:p>
            <a:pPr>
              <a:spcBef>
                <a:spcPts val="800"/>
              </a:spcBef>
            </a:pPr>
            <a:r>
              <a:rPr sz="1400">
                <a:solidFill>
                  <a:srgbClr val="111827"/>
                </a:solidFill>
                <a:latin typeface="Segoe UI"/>
              </a:rPr>
              <a:t>•  Clasificación multiclase con 7 clases balanceadas → métricas macro confiables</a:t>
            </a:r>
          </a:p>
          <a:p>
            <a:pPr>
              <a:spcBef>
                <a:spcPts val="800"/>
              </a:spcBef>
            </a:pPr>
            <a:r>
              <a:rPr sz="1400">
                <a:solidFill>
                  <a:srgbClr val="111827"/>
                </a:solidFill>
                <a:latin typeface="Segoe UI"/>
              </a:rPr>
              <a:t>•  Fuente: Mendoza Palechor &amp; De la Hoz Manotas (2019) — Data in Brief, 104344</a:t>
            </a:r>
          </a:p>
        </p:txBody>
      </p:sp>
      <p:sp>
        <p:nvSpPr>
          <p:cNvPr id="12" name="Rounded Rectangle 11"/>
          <p:cNvSpPr/>
          <p:nvPr/>
        </p:nvSpPr>
        <p:spPr>
          <a:xfrm>
            <a:off x="6080760" y="1325880"/>
            <a:ext cx="5715000" cy="2514600"/>
          </a:xfrm>
          <a:prstGeom prst="roundRect">
            <a:avLst>
              <a:gd name="adj" fmla="val 7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080760" y="1325880"/>
            <a:ext cx="109728" cy="2514600"/>
          </a:xfrm>
          <a:prstGeom prst="roundRect">
            <a:avLst>
              <a:gd name="adj" fmla="val 7000"/>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82512" y="1463040"/>
            <a:ext cx="5303520" cy="365760"/>
          </a:xfrm>
          <a:prstGeom prst="rect">
            <a:avLst/>
          </a:prstGeom>
          <a:noFill/>
        </p:spPr>
        <p:txBody>
          <a:bodyPr wrap="square">
            <a:spAutoFit/>
          </a:bodyPr>
          <a:lstStyle/>
          <a:p>
            <a:pPr algn="l"/>
            <a:r>
              <a:rPr sz="1700" b="1" i="0">
                <a:solidFill>
                  <a:srgbClr val="111827"/>
                </a:solidFill>
                <a:latin typeface="Segoe UI"/>
              </a:rPr>
              <a:t>Preguntas guía del análisis</a:t>
            </a:r>
          </a:p>
        </p:txBody>
      </p:sp>
      <p:sp>
        <p:nvSpPr>
          <p:cNvPr id="15" name="TextBox 14"/>
          <p:cNvSpPr txBox="1"/>
          <p:nvPr/>
        </p:nvSpPr>
        <p:spPr>
          <a:xfrm>
            <a:off x="6382512" y="1901952"/>
            <a:ext cx="5303520" cy="1828800"/>
          </a:xfrm>
          <a:prstGeom prst="rect">
            <a:avLst/>
          </a:prstGeom>
          <a:noFill/>
        </p:spPr>
        <p:txBody>
          <a:bodyPr wrap="square">
            <a:spAutoFit/>
          </a:bodyPr>
          <a:lstStyle/>
          <a:p>
            <a:pPr>
              <a:spcBef>
                <a:spcPts val="500"/>
              </a:spcBef>
            </a:pPr>
            <a:r>
              <a:rPr sz="1300">
                <a:solidFill>
                  <a:srgbClr val="111827"/>
                </a:solidFill>
                <a:latin typeface="Segoe UI"/>
              </a:rPr>
              <a:t>•  ¿Existen perfiles de riesgo diferenciables por clustering?</a:t>
            </a:r>
          </a:p>
          <a:p>
            <a:pPr>
              <a:spcBef>
                <a:spcPts val="500"/>
              </a:spcBef>
            </a:pPr>
            <a:r>
              <a:rPr sz="1300">
                <a:solidFill>
                  <a:srgbClr val="111827"/>
                </a:solidFill>
                <a:latin typeface="Segoe UI"/>
              </a:rPr>
              <a:t>•  ¿Qué algoritmo predice mejor el nivel de obesidad?</a:t>
            </a:r>
          </a:p>
          <a:p>
            <a:pPr>
              <a:spcBef>
                <a:spcPts val="500"/>
              </a:spcBef>
            </a:pPr>
            <a:r>
              <a:rPr sz="1300">
                <a:solidFill>
                  <a:srgbClr val="111827"/>
                </a:solidFill>
                <a:latin typeface="Segoe UI"/>
              </a:rPr>
              <a:t>•  ¿Qué combinaciones de hábitos se asocian con mayor riesgo?</a:t>
            </a:r>
          </a:p>
          <a:p>
            <a:pPr>
              <a:spcBef>
                <a:spcPts val="500"/>
              </a:spcBef>
            </a:pPr>
            <a:r>
              <a:rPr sz="1300">
                <a:solidFill>
                  <a:srgbClr val="111827"/>
                </a:solidFill>
                <a:latin typeface="Segoe UI"/>
              </a:rPr>
              <a:t>•  ¿Reducir dimensiones mejora o degrada los resultados?</a:t>
            </a:r>
          </a:p>
          <a:p>
            <a:pPr>
              <a:spcBef>
                <a:spcPts val="500"/>
              </a:spcBef>
            </a:pPr>
            <a:r>
              <a:rPr sz="1300">
                <a:solidFill>
                  <a:srgbClr val="111827"/>
                </a:solidFill>
                <a:latin typeface="Segoe UI"/>
              </a:rPr>
              <a:t>•  ¿Nuevas variables de ingeniería aportan señal real?</a:t>
            </a:r>
          </a:p>
        </p:txBody>
      </p:sp>
      <p:sp>
        <p:nvSpPr>
          <p:cNvPr id="16" name="Rounded Rectangle 15"/>
          <p:cNvSpPr/>
          <p:nvPr/>
        </p:nvSpPr>
        <p:spPr>
          <a:xfrm>
            <a:off x="6080760" y="4023360"/>
            <a:ext cx="5715000" cy="2423160"/>
          </a:xfrm>
          <a:prstGeom prst="roundRect">
            <a:avLst>
              <a:gd name="adj" fmla="val 7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080760" y="4023360"/>
            <a:ext cx="109728" cy="2423160"/>
          </a:xfrm>
          <a:prstGeom prst="roundRect">
            <a:avLst>
              <a:gd name="adj" fmla="val 7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82512" y="4160520"/>
            <a:ext cx="5303520" cy="365760"/>
          </a:xfrm>
          <a:prstGeom prst="rect">
            <a:avLst/>
          </a:prstGeom>
          <a:noFill/>
        </p:spPr>
        <p:txBody>
          <a:bodyPr wrap="square">
            <a:spAutoFit/>
          </a:bodyPr>
          <a:lstStyle/>
          <a:p>
            <a:pPr algn="l"/>
            <a:r>
              <a:rPr sz="1700" b="1" i="0">
                <a:solidFill>
                  <a:srgbClr val="111827"/>
                </a:solidFill>
                <a:latin typeface="Segoe UI"/>
              </a:rPr>
              <a:t>Lo que se espera descubrir</a:t>
            </a:r>
          </a:p>
        </p:txBody>
      </p:sp>
      <p:sp>
        <p:nvSpPr>
          <p:cNvPr id="19" name="TextBox 18"/>
          <p:cNvSpPr txBox="1"/>
          <p:nvPr/>
        </p:nvSpPr>
        <p:spPr>
          <a:xfrm>
            <a:off x="6382512" y="4572000"/>
            <a:ext cx="5303520" cy="1737360"/>
          </a:xfrm>
          <a:prstGeom prst="rect">
            <a:avLst/>
          </a:prstGeom>
          <a:noFill/>
        </p:spPr>
        <p:txBody>
          <a:bodyPr wrap="square">
            <a:spAutoFit/>
          </a:bodyPr>
          <a:lstStyle/>
          <a:p>
            <a:pPr algn="l"/>
            <a:r>
              <a:rPr sz="1300" b="0" i="0">
                <a:solidFill>
                  <a:srgbClr val="64748B"/>
                </a:solidFill>
                <a:latin typeface="Segoe UI"/>
              </a:rPr>
              <a:t>El equipo aplicó CRISP-DM para comparar múltiples estrategias de modelamiento, evaluar iteraciones de mejora y extraer conocimiento interpretable sobre los factores que determinan el nivel de obesidad.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11480" y="256032"/>
            <a:ext cx="146304" cy="59436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182880"/>
            <a:ext cx="10881360" cy="461665"/>
          </a:xfrm>
          <a:prstGeom prst="rect">
            <a:avLst/>
          </a:prstGeom>
          <a:noFill/>
        </p:spPr>
        <p:txBody>
          <a:bodyPr wrap="square">
            <a:spAutoFit/>
          </a:bodyPr>
          <a:lstStyle/>
          <a:p>
            <a:pPr algn="l"/>
            <a:r>
              <a:rPr sz="2400" b="1" i="0" dirty="0">
                <a:solidFill>
                  <a:srgbClr val="111827"/>
                </a:solidFill>
                <a:latin typeface="Segoe UI"/>
              </a:rPr>
              <a:t>El dataset </a:t>
            </a:r>
            <a:r>
              <a:rPr sz="2400" b="1" i="0" dirty="0" err="1">
                <a:solidFill>
                  <a:srgbClr val="111827"/>
                </a:solidFill>
                <a:latin typeface="Segoe UI"/>
              </a:rPr>
              <a:t>representa</a:t>
            </a:r>
            <a:r>
              <a:rPr sz="2400" b="1" i="0" dirty="0">
                <a:solidFill>
                  <a:srgbClr val="111827"/>
                </a:solidFill>
                <a:latin typeface="Segoe UI"/>
              </a:rPr>
              <a:t> 7 </a:t>
            </a:r>
            <a:r>
              <a:rPr sz="2400" b="1" i="0" dirty="0" err="1">
                <a:solidFill>
                  <a:srgbClr val="111827"/>
                </a:solidFill>
                <a:latin typeface="Segoe UI"/>
              </a:rPr>
              <a:t>niveles</a:t>
            </a:r>
            <a:r>
              <a:rPr sz="2400" b="1" i="0" dirty="0">
                <a:solidFill>
                  <a:srgbClr val="111827"/>
                </a:solidFill>
                <a:latin typeface="Segoe UI"/>
              </a:rPr>
              <a:t> de </a:t>
            </a:r>
            <a:r>
              <a:rPr sz="2400" b="1" i="0" dirty="0" err="1">
                <a:solidFill>
                  <a:srgbClr val="111827"/>
                </a:solidFill>
                <a:latin typeface="Segoe UI"/>
              </a:rPr>
              <a:t>obesidad</a:t>
            </a:r>
            <a:r>
              <a:rPr sz="2400" b="1" i="0" dirty="0">
                <a:solidFill>
                  <a:srgbClr val="111827"/>
                </a:solidFill>
                <a:latin typeface="Segoe UI"/>
              </a:rPr>
              <a:t> con </a:t>
            </a:r>
            <a:r>
              <a:rPr sz="2400" b="1" i="0" dirty="0" err="1">
                <a:solidFill>
                  <a:srgbClr val="111827"/>
                </a:solidFill>
                <a:latin typeface="Segoe UI"/>
              </a:rPr>
              <a:t>alta</a:t>
            </a:r>
            <a:r>
              <a:rPr sz="2400" b="1" i="0" dirty="0">
                <a:solidFill>
                  <a:srgbClr val="111827"/>
                </a:solidFill>
                <a:latin typeface="Segoe UI"/>
              </a:rPr>
              <a:t> </a:t>
            </a:r>
            <a:r>
              <a:rPr sz="2400" b="1" i="0" dirty="0" err="1">
                <a:solidFill>
                  <a:srgbClr val="111827"/>
                </a:solidFill>
                <a:latin typeface="Segoe UI"/>
              </a:rPr>
              <a:t>cobertura</a:t>
            </a:r>
            <a:r>
              <a:rPr sz="2400" b="1" i="0" dirty="0">
                <a:solidFill>
                  <a:srgbClr val="111827"/>
                </a:solidFill>
                <a:latin typeface="Segoe UI"/>
              </a:rPr>
              <a:t> de </a:t>
            </a:r>
            <a:r>
              <a:rPr sz="2400" b="1" i="0" dirty="0" err="1">
                <a:solidFill>
                  <a:srgbClr val="111827"/>
                </a:solidFill>
                <a:latin typeface="Segoe UI"/>
              </a:rPr>
              <a:t>hábitos</a:t>
            </a:r>
            <a:endParaRPr sz="2400" b="1" i="0" dirty="0">
              <a:solidFill>
                <a:srgbClr val="111827"/>
              </a:solidFill>
              <a:latin typeface="Segoe UI"/>
            </a:endParaRPr>
          </a:p>
        </p:txBody>
      </p:sp>
      <p:sp>
        <p:nvSpPr>
          <p:cNvPr id="5" name="TextBox 4"/>
          <p:cNvSpPr txBox="1"/>
          <p:nvPr/>
        </p:nvSpPr>
        <p:spPr>
          <a:xfrm>
            <a:off x="731520" y="731520"/>
            <a:ext cx="10881360" cy="347472"/>
          </a:xfrm>
          <a:prstGeom prst="rect">
            <a:avLst/>
          </a:prstGeom>
          <a:noFill/>
        </p:spPr>
        <p:txBody>
          <a:bodyPr wrap="square">
            <a:spAutoFit/>
          </a:bodyPr>
          <a:lstStyle/>
          <a:p>
            <a:pPr algn="l"/>
            <a:r>
              <a:rPr sz="1400" b="0" i="0" dirty="0" err="1">
                <a:solidFill>
                  <a:srgbClr val="64748B"/>
                </a:solidFill>
                <a:latin typeface="Segoe UI"/>
              </a:rPr>
              <a:t>Comprensión</a:t>
            </a:r>
            <a:r>
              <a:rPr sz="1400" b="0" i="0" dirty="0">
                <a:solidFill>
                  <a:srgbClr val="64748B"/>
                </a:solidFill>
                <a:latin typeface="Segoe UI"/>
              </a:rPr>
              <a:t> de </a:t>
            </a:r>
            <a:r>
              <a:rPr sz="1400" b="0" i="0" dirty="0" err="1">
                <a:solidFill>
                  <a:srgbClr val="64748B"/>
                </a:solidFill>
                <a:latin typeface="Segoe UI"/>
              </a:rPr>
              <a:t>datos</a:t>
            </a:r>
            <a:r>
              <a:rPr sz="1400" b="0" i="0" dirty="0">
                <a:solidFill>
                  <a:srgbClr val="64748B"/>
                </a:solidFill>
                <a:latin typeface="Segoe UI"/>
              </a:rPr>
              <a:t> — CRISP-DM Fase 2</a:t>
            </a:r>
          </a:p>
        </p:txBody>
      </p:sp>
      <p:sp>
        <p:nvSpPr>
          <p:cNvPr id="6" name="Rectangle 5"/>
          <p:cNvSpPr/>
          <p:nvPr/>
        </p:nvSpPr>
        <p:spPr>
          <a:xfrm>
            <a:off x="411480" y="1133856"/>
            <a:ext cx="11365992"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55680" y="6510528"/>
            <a:ext cx="914400" cy="274320"/>
          </a:xfrm>
          <a:prstGeom prst="rect">
            <a:avLst/>
          </a:prstGeom>
          <a:noFill/>
        </p:spPr>
        <p:txBody>
          <a:bodyPr wrap="square">
            <a:spAutoFit/>
          </a:bodyPr>
          <a:lstStyle/>
          <a:p>
            <a:pPr algn="r"/>
            <a:r>
              <a:rPr sz="900" b="0" i="0">
                <a:solidFill>
                  <a:srgbClr val="64748B"/>
                </a:solidFill>
                <a:latin typeface="Segoe UI"/>
              </a:rPr>
              <a:t>02 / 20</a:t>
            </a:r>
          </a:p>
        </p:txBody>
      </p:sp>
      <p:pic>
        <p:nvPicPr>
          <p:cNvPr id="8" name="Picture 7" descr="01_distribucion_objetivo.png"/>
          <p:cNvPicPr>
            <a:picLocks noChangeAspect="1"/>
          </p:cNvPicPr>
          <p:nvPr/>
        </p:nvPicPr>
        <p:blipFill>
          <a:blip r:embed="rId2"/>
          <a:stretch>
            <a:fillRect/>
          </a:stretch>
        </p:blipFill>
        <p:spPr>
          <a:xfrm>
            <a:off x="411480" y="1280160"/>
            <a:ext cx="5943600" cy="2377440"/>
          </a:xfrm>
          <a:prstGeom prst="rect">
            <a:avLst/>
          </a:prstGeom>
        </p:spPr>
      </p:pic>
      <p:sp>
        <p:nvSpPr>
          <p:cNvPr id="9" name="Rounded Rectangle 8"/>
          <p:cNvSpPr/>
          <p:nvPr/>
        </p:nvSpPr>
        <p:spPr>
          <a:xfrm>
            <a:off x="6583680" y="1280160"/>
            <a:ext cx="5212080" cy="5120640"/>
          </a:xfrm>
          <a:prstGeom prst="roundRect">
            <a:avLst>
              <a:gd name="adj" fmla="val 7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583680" y="1280160"/>
            <a:ext cx="109728" cy="5120640"/>
          </a:xfrm>
          <a:prstGeom prst="roundRect">
            <a:avLst>
              <a:gd name="adj" fmla="val 7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76288" y="1417320"/>
            <a:ext cx="4754880" cy="365760"/>
          </a:xfrm>
          <a:prstGeom prst="rect">
            <a:avLst/>
          </a:prstGeom>
          <a:noFill/>
        </p:spPr>
        <p:txBody>
          <a:bodyPr wrap="square">
            <a:spAutoFit/>
          </a:bodyPr>
          <a:lstStyle/>
          <a:p>
            <a:pPr algn="l"/>
            <a:r>
              <a:rPr sz="1700" b="1" i="0">
                <a:solidFill>
                  <a:srgbClr val="111827"/>
                </a:solidFill>
                <a:latin typeface="Segoe UI"/>
              </a:rPr>
              <a:t>Estructura del dataset</a:t>
            </a:r>
          </a:p>
        </p:txBody>
      </p:sp>
      <p:sp>
        <p:nvSpPr>
          <p:cNvPr id="12" name="TextBox 11"/>
          <p:cNvSpPr txBox="1"/>
          <p:nvPr/>
        </p:nvSpPr>
        <p:spPr>
          <a:xfrm>
            <a:off x="6876288" y="1828800"/>
            <a:ext cx="4663440" cy="3657600"/>
          </a:xfrm>
          <a:prstGeom prst="rect">
            <a:avLst/>
          </a:prstGeom>
          <a:noFill/>
        </p:spPr>
        <p:txBody>
          <a:bodyPr wrap="square">
            <a:spAutoFit/>
          </a:bodyPr>
          <a:lstStyle/>
          <a:p>
            <a:pPr>
              <a:spcBef>
                <a:spcPts val="700"/>
              </a:spcBef>
            </a:pPr>
            <a:r>
              <a:rPr sz="1300">
                <a:solidFill>
                  <a:srgbClr val="111827"/>
                </a:solidFill>
                <a:latin typeface="Segoe UI"/>
              </a:rPr>
              <a:t>•  2.111 registros · 17 atributos + 1 variable objetivo</a:t>
            </a:r>
          </a:p>
          <a:p>
            <a:pPr>
              <a:spcBef>
                <a:spcPts val="700"/>
              </a:spcBef>
            </a:pPr>
            <a:r>
              <a:rPr sz="1300">
                <a:solidFill>
                  <a:srgbClr val="111827"/>
                </a:solidFill>
                <a:latin typeface="Segoe UI"/>
              </a:rPr>
              <a:t>•  Tipo de problema: clasificación multiclase supervisada</a:t>
            </a:r>
          </a:p>
          <a:p>
            <a:pPr>
              <a:spcBef>
                <a:spcPts val="700"/>
              </a:spcBef>
            </a:pPr>
            <a:r>
              <a:rPr sz="1300">
                <a:solidFill>
                  <a:srgbClr val="111827"/>
                </a:solidFill>
                <a:latin typeface="Segoe UI"/>
              </a:rPr>
              <a:t>•  Sin nulos ni duplicados — calidad de datos verificada</a:t>
            </a:r>
          </a:p>
          <a:p>
            <a:pPr>
              <a:spcBef>
                <a:spcPts val="700"/>
              </a:spcBef>
            </a:pPr>
            <a:r>
              <a:rPr sz="1300">
                <a:solidFill>
                  <a:srgbClr val="111827"/>
                </a:solidFill>
                <a:latin typeface="Segoe UI"/>
              </a:rPr>
              <a:t>•  77% sintético (SMOTE) → clases balanceadas (272–351/nivel)</a:t>
            </a:r>
          </a:p>
          <a:p>
            <a:pPr>
              <a:spcBef>
                <a:spcPts val="700"/>
              </a:spcBef>
            </a:pPr>
            <a:r>
              <a:rPr sz="1300">
                <a:solidFill>
                  <a:srgbClr val="111827"/>
                </a:solidFill>
                <a:latin typeface="Segoe UI"/>
              </a:rPr>
              <a:t>•  8 variables numéricas (Edad, Peso, Talla, FAF, FCVC…)</a:t>
            </a:r>
          </a:p>
          <a:p>
            <a:pPr>
              <a:spcBef>
                <a:spcPts val="700"/>
              </a:spcBef>
            </a:pPr>
            <a:r>
              <a:rPr sz="1300">
                <a:solidFill>
                  <a:srgbClr val="111827"/>
                </a:solidFill>
                <a:latin typeface="Segoe UI"/>
              </a:rPr>
              <a:t>•  8 variables categóricas (CAEC, CALC, FAVC, MTRANS…)</a:t>
            </a:r>
          </a:p>
          <a:p>
            <a:pPr>
              <a:spcBef>
                <a:spcPts val="700"/>
              </a:spcBef>
            </a:pPr>
            <a:r>
              <a:rPr sz="1300">
                <a:solidFill>
                  <a:srgbClr val="111827"/>
                </a:solidFill>
                <a:latin typeface="Segoe UI"/>
              </a:rPr>
              <a:t>•  Target: NObeyesdad — 7 niveles discretos de obesidad</a:t>
            </a:r>
          </a:p>
        </p:txBody>
      </p:sp>
      <p:sp>
        <p:nvSpPr>
          <p:cNvPr id="13" name="TextBox 12"/>
          <p:cNvSpPr txBox="1"/>
          <p:nvPr/>
        </p:nvSpPr>
        <p:spPr>
          <a:xfrm>
            <a:off x="6876288" y="5623560"/>
            <a:ext cx="4754880" cy="457200"/>
          </a:xfrm>
          <a:prstGeom prst="rect">
            <a:avLst/>
          </a:prstGeom>
          <a:noFill/>
        </p:spPr>
        <p:txBody>
          <a:bodyPr wrap="square">
            <a:spAutoFit/>
          </a:bodyPr>
          <a:lstStyle/>
          <a:p>
            <a:pPr algn="l"/>
            <a:r>
              <a:rPr sz="1200" b="0" i="1">
                <a:solidFill>
                  <a:srgbClr val="64748B"/>
                </a:solidFill>
                <a:latin typeface="Segoe UI"/>
              </a:rPr>
              <a:t>Clases balanceadas → métrica F1 macro representa todos los niveles por igual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11480" y="256032"/>
            <a:ext cx="146304" cy="59436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76072" y="182880"/>
            <a:ext cx="11494008" cy="830997"/>
          </a:xfrm>
          <a:prstGeom prst="rect">
            <a:avLst/>
          </a:prstGeom>
          <a:noFill/>
        </p:spPr>
        <p:txBody>
          <a:bodyPr wrap="square">
            <a:spAutoFit/>
          </a:bodyPr>
          <a:lstStyle/>
          <a:p>
            <a:pPr algn="l"/>
            <a:r>
              <a:rPr sz="2400" b="1" i="0" dirty="0">
                <a:solidFill>
                  <a:srgbClr val="111827"/>
                </a:solidFill>
                <a:latin typeface="Segoe UI"/>
              </a:rPr>
              <a:t>CRISP-DM </a:t>
            </a:r>
            <a:r>
              <a:rPr sz="2400" b="1" i="0" dirty="0" err="1">
                <a:solidFill>
                  <a:srgbClr val="111827"/>
                </a:solidFill>
                <a:latin typeface="Segoe UI"/>
              </a:rPr>
              <a:t>ordenó</a:t>
            </a:r>
            <a:r>
              <a:rPr sz="2400" b="1" i="0" dirty="0">
                <a:solidFill>
                  <a:srgbClr val="111827"/>
                </a:solidFill>
                <a:latin typeface="Segoe UI"/>
              </a:rPr>
              <a:t> </a:t>
            </a:r>
            <a:r>
              <a:rPr sz="2400" b="1" i="0" dirty="0" err="1">
                <a:solidFill>
                  <a:srgbClr val="111827"/>
                </a:solidFill>
                <a:latin typeface="Segoe UI"/>
              </a:rPr>
              <a:t>el</a:t>
            </a:r>
            <a:r>
              <a:rPr sz="2400" b="1" i="0" dirty="0">
                <a:solidFill>
                  <a:srgbClr val="111827"/>
                </a:solidFill>
                <a:latin typeface="Segoe UI"/>
              </a:rPr>
              <a:t> </a:t>
            </a:r>
            <a:r>
              <a:rPr sz="2400" b="1" i="0" dirty="0" err="1">
                <a:solidFill>
                  <a:srgbClr val="111827"/>
                </a:solidFill>
                <a:latin typeface="Segoe UI"/>
              </a:rPr>
              <a:t>análisis</a:t>
            </a:r>
            <a:r>
              <a:rPr sz="2400" b="1" i="0" dirty="0">
                <a:solidFill>
                  <a:srgbClr val="111827"/>
                </a:solidFill>
                <a:latin typeface="Segoe UI"/>
              </a:rPr>
              <a:t> </a:t>
            </a:r>
            <a:r>
              <a:rPr sz="2400" b="1" i="0" dirty="0" err="1">
                <a:solidFill>
                  <a:srgbClr val="111827"/>
                </a:solidFill>
                <a:latin typeface="Segoe UI"/>
              </a:rPr>
              <a:t>desde</a:t>
            </a:r>
            <a:r>
              <a:rPr sz="2400" b="1" i="0" dirty="0">
                <a:solidFill>
                  <a:srgbClr val="111827"/>
                </a:solidFill>
                <a:latin typeface="Segoe UI"/>
              </a:rPr>
              <a:t> </a:t>
            </a:r>
            <a:r>
              <a:rPr sz="2400" b="1" i="0" dirty="0" err="1">
                <a:solidFill>
                  <a:srgbClr val="111827"/>
                </a:solidFill>
                <a:latin typeface="Segoe UI"/>
              </a:rPr>
              <a:t>el</a:t>
            </a:r>
            <a:r>
              <a:rPr sz="2400" b="1" i="0" dirty="0">
                <a:solidFill>
                  <a:srgbClr val="111827"/>
                </a:solidFill>
                <a:latin typeface="Segoe UI"/>
              </a:rPr>
              <a:t> </a:t>
            </a:r>
            <a:r>
              <a:rPr sz="2400" b="1" i="0" dirty="0" err="1">
                <a:solidFill>
                  <a:srgbClr val="111827"/>
                </a:solidFill>
                <a:latin typeface="Segoe UI"/>
              </a:rPr>
              <a:t>problema</a:t>
            </a:r>
            <a:r>
              <a:rPr sz="2400" b="1" i="0" dirty="0">
                <a:solidFill>
                  <a:srgbClr val="111827"/>
                </a:solidFill>
                <a:latin typeface="Segoe UI"/>
              </a:rPr>
              <a:t> hasta la </a:t>
            </a:r>
            <a:r>
              <a:rPr sz="2400" b="1" i="0" dirty="0" err="1">
                <a:solidFill>
                  <a:srgbClr val="111827"/>
                </a:solidFill>
                <a:latin typeface="Segoe UI"/>
              </a:rPr>
              <a:t>comunicación</a:t>
            </a:r>
            <a:r>
              <a:rPr sz="2400" b="1" i="0" dirty="0">
                <a:solidFill>
                  <a:srgbClr val="111827"/>
                </a:solidFill>
                <a:latin typeface="Segoe UI"/>
              </a:rPr>
              <a:t> de </a:t>
            </a:r>
            <a:r>
              <a:rPr sz="2400" b="1" i="0" dirty="0" err="1">
                <a:solidFill>
                  <a:srgbClr val="111827"/>
                </a:solidFill>
                <a:latin typeface="Segoe UI"/>
              </a:rPr>
              <a:t>resultados</a:t>
            </a:r>
            <a:endParaRPr sz="2400" b="1" i="0" dirty="0">
              <a:solidFill>
                <a:srgbClr val="111827"/>
              </a:solidFill>
              <a:latin typeface="Segoe UI"/>
            </a:endParaRPr>
          </a:p>
        </p:txBody>
      </p:sp>
      <p:sp>
        <p:nvSpPr>
          <p:cNvPr id="5" name="TextBox 4"/>
          <p:cNvSpPr txBox="1"/>
          <p:nvPr/>
        </p:nvSpPr>
        <p:spPr>
          <a:xfrm>
            <a:off x="2263140" y="684594"/>
            <a:ext cx="10881360" cy="347472"/>
          </a:xfrm>
          <a:prstGeom prst="rect">
            <a:avLst/>
          </a:prstGeom>
          <a:noFill/>
        </p:spPr>
        <p:txBody>
          <a:bodyPr wrap="square">
            <a:spAutoFit/>
          </a:bodyPr>
          <a:lstStyle/>
          <a:p>
            <a:pPr algn="l"/>
            <a:r>
              <a:rPr sz="1400" b="0" i="0" dirty="0" err="1">
                <a:solidFill>
                  <a:srgbClr val="64748B"/>
                </a:solidFill>
                <a:latin typeface="Segoe UI"/>
              </a:rPr>
              <a:t>Metodología</a:t>
            </a:r>
            <a:r>
              <a:rPr sz="1400" b="0" i="0" dirty="0">
                <a:solidFill>
                  <a:srgbClr val="64748B"/>
                </a:solidFill>
                <a:latin typeface="Segoe UI"/>
              </a:rPr>
              <a:t> CRISP-DM — 6 </a:t>
            </a:r>
            <a:r>
              <a:rPr sz="1400" b="0" i="0" dirty="0" err="1">
                <a:solidFill>
                  <a:srgbClr val="64748B"/>
                </a:solidFill>
                <a:latin typeface="Segoe UI"/>
              </a:rPr>
              <a:t>fases</a:t>
            </a:r>
            <a:r>
              <a:rPr sz="1400" b="0" i="0" dirty="0">
                <a:solidFill>
                  <a:srgbClr val="64748B"/>
                </a:solidFill>
                <a:latin typeface="Segoe UI"/>
              </a:rPr>
              <a:t> </a:t>
            </a:r>
            <a:r>
              <a:rPr sz="1400" b="0" i="0" dirty="0" err="1">
                <a:solidFill>
                  <a:srgbClr val="64748B"/>
                </a:solidFill>
                <a:latin typeface="Segoe UI"/>
              </a:rPr>
              <a:t>iterativas</a:t>
            </a:r>
            <a:endParaRPr sz="1400" b="0" i="0" dirty="0">
              <a:solidFill>
                <a:srgbClr val="64748B"/>
              </a:solidFill>
              <a:latin typeface="Segoe UI"/>
            </a:endParaRPr>
          </a:p>
        </p:txBody>
      </p:sp>
      <p:sp>
        <p:nvSpPr>
          <p:cNvPr id="6" name="Rectangle 5"/>
          <p:cNvSpPr/>
          <p:nvPr/>
        </p:nvSpPr>
        <p:spPr>
          <a:xfrm>
            <a:off x="411480" y="1133856"/>
            <a:ext cx="11365992"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55680" y="6510528"/>
            <a:ext cx="914400" cy="274320"/>
          </a:xfrm>
          <a:prstGeom prst="rect">
            <a:avLst/>
          </a:prstGeom>
          <a:noFill/>
        </p:spPr>
        <p:txBody>
          <a:bodyPr wrap="square">
            <a:spAutoFit/>
          </a:bodyPr>
          <a:lstStyle/>
          <a:p>
            <a:pPr algn="r"/>
            <a:r>
              <a:rPr sz="900" b="0" i="0">
                <a:solidFill>
                  <a:srgbClr val="64748B"/>
                </a:solidFill>
                <a:latin typeface="Segoe UI"/>
              </a:rPr>
              <a:t>03 / 20</a:t>
            </a:r>
          </a:p>
        </p:txBody>
      </p:sp>
      <p:sp>
        <p:nvSpPr>
          <p:cNvPr id="8" name="Rounded Rectangle 7"/>
          <p:cNvSpPr/>
          <p:nvPr/>
        </p:nvSpPr>
        <p:spPr>
          <a:xfrm>
            <a:off x="411480" y="1298448"/>
            <a:ext cx="3703320" cy="1280160"/>
          </a:xfrm>
          <a:prstGeom prst="roundRect">
            <a:avLst>
              <a:gd name="adj" fmla="val 7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76072" y="1554480"/>
            <a:ext cx="713232" cy="713232"/>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76072" y="1645920"/>
            <a:ext cx="713232" cy="512064"/>
          </a:xfrm>
          <a:prstGeom prst="rect">
            <a:avLst/>
          </a:prstGeom>
          <a:noFill/>
        </p:spPr>
        <p:txBody>
          <a:bodyPr wrap="square">
            <a:spAutoFit/>
          </a:bodyPr>
          <a:lstStyle/>
          <a:p>
            <a:pPr algn="ctr"/>
            <a:r>
              <a:rPr sz="2200" b="1" i="0">
                <a:solidFill>
                  <a:srgbClr val="FFFFFF"/>
                </a:solidFill>
                <a:latin typeface="Segoe UI"/>
              </a:rPr>
              <a:t>1</a:t>
            </a:r>
          </a:p>
        </p:txBody>
      </p:sp>
      <p:sp>
        <p:nvSpPr>
          <p:cNvPr id="11" name="TextBox 10"/>
          <p:cNvSpPr txBox="1"/>
          <p:nvPr/>
        </p:nvSpPr>
        <p:spPr>
          <a:xfrm>
            <a:off x="1417320" y="1389888"/>
            <a:ext cx="2606040" cy="548640"/>
          </a:xfrm>
          <a:prstGeom prst="rect">
            <a:avLst/>
          </a:prstGeom>
          <a:noFill/>
        </p:spPr>
        <p:txBody>
          <a:bodyPr wrap="square">
            <a:spAutoFit/>
          </a:bodyPr>
          <a:lstStyle/>
          <a:p>
            <a:pPr algn="l"/>
            <a:r>
              <a:rPr sz="1300" b="1" i="0">
                <a:solidFill>
                  <a:srgbClr val="111827"/>
                </a:solidFill>
                <a:latin typeface="Segoe UI"/>
              </a:rPr>
              <a:t>Comprensión del
Negocio</a:t>
            </a:r>
          </a:p>
        </p:txBody>
      </p:sp>
      <p:sp>
        <p:nvSpPr>
          <p:cNvPr id="12" name="TextBox 11"/>
          <p:cNvSpPr txBox="1"/>
          <p:nvPr/>
        </p:nvSpPr>
        <p:spPr>
          <a:xfrm>
            <a:off x="1417320" y="1901952"/>
            <a:ext cx="2606040" cy="621792"/>
          </a:xfrm>
          <a:prstGeom prst="rect">
            <a:avLst/>
          </a:prstGeom>
          <a:noFill/>
        </p:spPr>
        <p:txBody>
          <a:bodyPr wrap="square">
            <a:spAutoFit/>
          </a:bodyPr>
          <a:lstStyle/>
          <a:p>
            <a:pPr algn="l"/>
            <a:r>
              <a:rPr sz="1100" b="0" i="0">
                <a:solidFill>
                  <a:srgbClr val="64748B"/>
                </a:solidFill>
                <a:latin typeface="Segoe UI"/>
              </a:rPr>
              <a:t>Definición de preguntas
y métricas de éxito</a:t>
            </a:r>
          </a:p>
        </p:txBody>
      </p:sp>
      <p:sp>
        <p:nvSpPr>
          <p:cNvPr id="13" name="Rounded Rectangle 12"/>
          <p:cNvSpPr/>
          <p:nvPr/>
        </p:nvSpPr>
        <p:spPr>
          <a:xfrm>
            <a:off x="4297680" y="1298448"/>
            <a:ext cx="3703320" cy="1280160"/>
          </a:xfrm>
          <a:prstGeom prst="roundRect">
            <a:avLst>
              <a:gd name="adj" fmla="val 7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462272" y="1554480"/>
            <a:ext cx="713232" cy="713232"/>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62272" y="1645920"/>
            <a:ext cx="713232" cy="512064"/>
          </a:xfrm>
          <a:prstGeom prst="rect">
            <a:avLst/>
          </a:prstGeom>
          <a:noFill/>
        </p:spPr>
        <p:txBody>
          <a:bodyPr wrap="square">
            <a:spAutoFit/>
          </a:bodyPr>
          <a:lstStyle/>
          <a:p>
            <a:pPr algn="ctr"/>
            <a:r>
              <a:rPr sz="2200" b="1" i="0">
                <a:solidFill>
                  <a:srgbClr val="FFFFFF"/>
                </a:solidFill>
                <a:latin typeface="Segoe UI"/>
              </a:rPr>
              <a:t>2</a:t>
            </a:r>
          </a:p>
        </p:txBody>
      </p:sp>
      <p:sp>
        <p:nvSpPr>
          <p:cNvPr id="16" name="TextBox 15"/>
          <p:cNvSpPr txBox="1"/>
          <p:nvPr/>
        </p:nvSpPr>
        <p:spPr>
          <a:xfrm>
            <a:off x="5303520" y="1389888"/>
            <a:ext cx="2606040" cy="548640"/>
          </a:xfrm>
          <a:prstGeom prst="rect">
            <a:avLst/>
          </a:prstGeom>
          <a:noFill/>
        </p:spPr>
        <p:txBody>
          <a:bodyPr wrap="square">
            <a:spAutoFit/>
          </a:bodyPr>
          <a:lstStyle/>
          <a:p>
            <a:pPr algn="l"/>
            <a:r>
              <a:rPr sz="1300" b="1" i="0">
                <a:solidFill>
                  <a:srgbClr val="111827"/>
                </a:solidFill>
                <a:latin typeface="Segoe UI"/>
              </a:rPr>
              <a:t>Comprensión
de los Datos</a:t>
            </a:r>
          </a:p>
        </p:txBody>
      </p:sp>
      <p:sp>
        <p:nvSpPr>
          <p:cNvPr id="17" name="TextBox 16"/>
          <p:cNvSpPr txBox="1"/>
          <p:nvPr/>
        </p:nvSpPr>
        <p:spPr>
          <a:xfrm>
            <a:off x="5303520" y="1901952"/>
            <a:ext cx="2606040" cy="621792"/>
          </a:xfrm>
          <a:prstGeom prst="rect">
            <a:avLst/>
          </a:prstGeom>
          <a:noFill/>
        </p:spPr>
        <p:txBody>
          <a:bodyPr wrap="square">
            <a:spAutoFit/>
          </a:bodyPr>
          <a:lstStyle/>
          <a:p>
            <a:pPr algn="l"/>
            <a:r>
              <a:rPr sz="1100" b="0" i="0">
                <a:solidFill>
                  <a:srgbClr val="64748B"/>
                </a:solidFill>
                <a:latin typeface="Segoe UI"/>
              </a:rPr>
              <a:t>Inspección, calidad
y balance de clases</a:t>
            </a:r>
          </a:p>
        </p:txBody>
      </p:sp>
      <p:sp>
        <p:nvSpPr>
          <p:cNvPr id="18" name="Rounded Rectangle 17"/>
          <p:cNvSpPr/>
          <p:nvPr/>
        </p:nvSpPr>
        <p:spPr>
          <a:xfrm>
            <a:off x="8183879" y="1298448"/>
            <a:ext cx="3703320" cy="1280160"/>
          </a:xfrm>
          <a:prstGeom prst="roundRect">
            <a:avLst>
              <a:gd name="adj" fmla="val 7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348471" y="1554480"/>
            <a:ext cx="713232" cy="713232"/>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48471" y="1645920"/>
            <a:ext cx="713232" cy="512064"/>
          </a:xfrm>
          <a:prstGeom prst="rect">
            <a:avLst/>
          </a:prstGeom>
          <a:noFill/>
        </p:spPr>
        <p:txBody>
          <a:bodyPr wrap="square">
            <a:spAutoFit/>
          </a:bodyPr>
          <a:lstStyle/>
          <a:p>
            <a:pPr algn="ctr"/>
            <a:r>
              <a:rPr sz="2200" b="1" i="0">
                <a:solidFill>
                  <a:srgbClr val="FFFFFF"/>
                </a:solidFill>
                <a:latin typeface="Segoe UI"/>
              </a:rPr>
              <a:t>3</a:t>
            </a:r>
          </a:p>
        </p:txBody>
      </p:sp>
      <p:sp>
        <p:nvSpPr>
          <p:cNvPr id="21" name="TextBox 20"/>
          <p:cNvSpPr txBox="1"/>
          <p:nvPr/>
        </p:nvSpPr>
        <p:spPr>
          <a:xfrm>
            <a:off x="9189719" y="1389888"/>
            <a:ext cx="2606040" cy="548640"/>
          </a:xfrm>
          <a:prstGeom prst="rect">
            <a:avLst/>
          </a:prstGeom>
          <a:noFill/>
        </p:spPr>
        <p:txBody>
          <a:bodyPr wrap="square">
            <a:spAutoFit/>
          </a:bodyPr>
          <a:lstStyle/>
          <a:p>
            <a:pPr algn="l"/>
            <a:r>
              <a:rPr sz="1300" b="1" i="0">
                <a:solidFill>
                  <a:srgbClr val="111827"/>
                </a:solidFill>
                <a:latin typeface="Segoe UI"/>
              </a:rPr>
              <a:t>Preparación
de los Datos</a:t>
            </a:r>
          </a:p>
        </p:txBody>
      </p:sp>
      <p:sp>
        <p:nvSpPr>
          <p:cNvPr id="22" name="TextBox 21"/>
          <p:cNvSpPr txBox="1"/>
          <p:nvPr/>
        </p:nvSpPr>
        <p:spPr>
          <a:xfrm>
            <a:off x="9189719" y="1901952"/>
            <a:ext cx="2606040" cy="621792"/>
          </a:xfrm>
          <a:prstGeom prst="rect">
            <a:avLst/>
          </a:prstGeom>
          <a:noFill/>
        </p:spPr>
        <p:txBody>
          <a:bodyPr wrap="square">
            <a:spAutoFit/>
          </a:bodyPr>
          <a:lstStyle/>
          <a:p>
            <a:pPr algn="l"/>
            <a:r>
              <a:rPr sz="1100" b="0" i="0">
                <a:solidFill>
                  <a:srgbClr val="64748B"/>
                </a:solidFill>
                <a:latin typeface="Segoe UI"/>
              </a:rPr>
              <a:t>Codificación y escalado
por técnica específica</a:t>
            </a:r>
          </a:p>
        </p:txBody>
      </p:sp>
      <p:sp>
        <p:nvSpPr>
          <p:cNvPr id="23" name="Rounded Rectangle 22"/>
          <p:cNvSpPr/>
          <p:nvPr/>
        </p:nvSpPr>
        <p:spPr>
          <a:xfrm>
            <a:off x="411480" y="2715768"/>
            <a:ext cx="3703320" cy="1280160"/>
          </a:xfrm>
          <a:prstGeom prst="roundRect">
            <a:avLst>
              <a:gd name="adj" fmla="val 7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576072" y="2971800"/>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76072" y="3063240"/>
            <a:ext cx="713232" cy="512064"/>
          </a:xfrm>
          <a:prstGeom prst="rect">
            <a:avLst/>
          </a:prstGeom>
          <a:noFill/>
        </p:spPr>
        <p:txBody>
          <a:bodyPr wrap="square">
            <a:spAutoFit/>
          </a:bodyPr>
          <a:lstStyle/>
          <a:p>
            <a:pPr algn="ctr"/>
            <a:r>
              <a:rPr sz="2200" b="1" i="0">
                <a:solidFill>
                  <a:srgbClr val="FFFFFF"/>
                </a:solidFill>
                <a:latin typeface="Segoe UI"/>
              </a:rPr>
              <a:t>4</a:t>
            </a:r>
          </a:p>
        </p:txBody>
      </p:sp>
      <p:sp>
        <p:nvSpPr>
          <p:cNvPr id="26" name="TextBox 25"/>
          <p:cNvSpPr txBox="1"/>
          <p:nvPr/>
        </p:nvSpPr>
        <p:spPr>
          <a:xfrm>
            <a:off x="1417320" y="2807208"/>
            <a:ext cx="2606040" cy="548640"/>
          </a:xfrm>
          <a:prstGeom prst="rect">
            <a:avLst/>
          </a:prstGeom>
          <a:noFill/>
        </p:spPr>
        <p:txBody>
          <a:bodyPr wrap="square">
            <a:spAutoFit/>
          </a:bodyPr>
          <a:lstStyle/>
          <a:p>
            <a:pPr algn="l"/>
            <a:r>
              <a:rPr sz="1300" b="1" i="0">
                <a:solidFill>
                  <a:srgbClr val="111827"/>
                </a:solidFill>
                <a:latin typeface="Segoe UI"/>
              </a:rPr>
              <a:t>Modelamiento</a:t>
            </a:r>
          </a:p>
        </p:txBody>
      </p:sp>
      <p:sp>
        <p:nvSpPr>
          <p:cNvPr id="27" name="TextBox 26"/>
          <p:cNvSpPr txBox="1"/>
          <p:nvPr/>
        </p:nvSpPr>
        <p:spPr>
          <a:xfrm>
            <a:off x="1417320" y="3319272"/>
            <a:ext cx="2606040" cy="621792"/>
          </a:xfrm>
          <a:prstGeom prst="rect">
            <a:avLst/>
          </a:prstGeom>
          <a:noFill/>
        </p:spPr>
        <p:txBody>
          <a:bodyPr wrap="square">
            <a:spAutoFit/>
          </a:bodyPr>
          <a:lstStyle/>
          <a:p>
            <a:pPr algn="l"/>
            <a:r>
              <a:rPr sz="1100" b="0" i="0">
                <a:solidFill>
                  <a:srgbClr val="64748B"/>
                </a:solidFill>
                <a:latin typeface="Segoe UI"/>
              </a:rPr>
              <a:t>GMM · 6 clasificadores
FP-Growth · Experimentos</a:t>
            </a:r>
          </a:p>
        </p:txBody>
      </p:sp>
      <p:sp>
        <p:nvSpPr>
          <p:cNvPr id="28" name="Rounded Rectangle 27"/>
          <p:cNvSpPr/>
          <p:nvPr/>
        </p:nvSpPr>
        <p:spPr>
          <a:xfrm>
            <a:off x="4297680" y="2715768"/>
            <a:ext cx="3703320" cy="1280160"/>
          </a:xfrm>
          <a:prstGeom prst="roundRect">
            <a:avLst>
              <a:gd name="adj" fmla="val 7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4462272" y="2971800"/>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462272" y="3063240"/>
            <a:ext cx="713232" cy="512064"/>
          </a:xfrm>
          <a:prstGeom prst="rect">
            <a:avLst/>
          </a:prstGeom>
          <a:noFill/>
        </p:spPr>
        <p:txBody>
          <a:bodyPr wrap="square">
            <a:spAutoFit/>
          </a:bodyPr>
          <a:lstStyle/>
          <a:p>
            <a:pPr algn="ctr"/>
            <a:r>
              <a:rPr sz="2200" b="1" i="0">
                <a:solidFill>
                  <a:srgbClr val="FFFFFF"/>
                </a:solidFill>
                <a:latin typeface="Segoe UI"/>
              </a:rPr>
              <a:t>5</a:t>
            </a:r>
          </a:p>
        </p:txBody>
      </p:sp>
      <p:sp>
        <p:nvSpPr>
          <p:cNvPr id="31" name="TextBox 30"/>
          <p:cNvSpPr txBox="1"/>
          <p:nvPr/>
        </p:nvSpPr>
        <p:spPr>
          <a:xfrm>
            <a:off x="5303520" y="2807208"/>
            <a:ext cx="2606040" cy="548640"/>
          </a:xfrm>
          <a:prstGeom prst="rect">
            <a:avLst/>
          </a:prstGeom>
          <a:noFill/>
        </p:spPr>
        <p:txBody>
          <a:bodyPr wrap="square">
            <a:spAutoFit/>
          </a:bodyPr>
          <a:lstStyle/>
          <a:p>
            <a:pPr algn="l"/>
            <a:r>
              <a:rPr sz="1300" b="1" i="0">
                <a:solidFill>
                  <a:srgbClr val="111827"/>
                </a:solidFill>
                <a:latin typeface="Segoe UI"/>
              </a:rPr>
              <a:t>Evaluación</a:t>
            </a:r>
          </a:p>
        </p:txBody>
      </p:sp>
      <p:sp>
        <p:nvSpPr>
          <p:cNvPr id="32" name="TextBox 31"/>
          <p:cNvSpPr txBox="1"/>
          <p:nvPr/>
        </p:nvSpPr>
        <p:spPr>
          <a:xfrm>
            <a:off x="5303520" y="3319272"/>
            <a:ext cx="2606040" cy="621792"/>
          </a:xfrm>
          <a:prstGeom prst="rect">
            <a:avLst/>
          </a:prstGeom>
          <a:noFill/>
        </p:spPr>
        <p:txBody>
          <a:bodyPr wrap="square">
            <a:spAutoFit/>
          </a:bodyPr>
          <a:lstStyle/>
          <a:p>
            <a:pPr algn="l"/>
            <a:r>
              <a:rPr sz="1100" b="0" i="0">
                <a:solidFill>
                  <a:srgbClr val="64748B"/>
                </a:solidFill>
                <a:latin typeface="Segoe UI"/>
              </a:rPr>
              <a:t>Métricas en test · Lift
Comparación iteraciones</a:t>
            </a:r>
          </a:p>
        </p:txBody>
      </p:sp>
      <p:sp>
        <p:nvSpPr>
          <p:cNvPr id="33" name="Rounded Rectangle 32"/>
          <p:cNvSpPr/>
          <p:nvPr/>
        </p:nvSpPr>
        <p:spPr>
          <a:xfrm>
            <a:off x="8183879" y="2715768"/>
            <a:ext cx="3703320" cy="1280160"/>
          </a:xfrm>
          <a:prstGeom prst="roundRect">
            <a:avLst>
              <a:gd name="adj" fmla="val 7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8348471" y="2971800"/>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348471" y="3063240"/>
            <a:ext cx="713232" cy="512064"/>
          </a:xfrm>
          <a:prstGeom prst="rect">
            <a:avLst/>
          </a:prstGeom>
          <a:noFill/>
        </p:spPr>
        <p:txBody>
          <a:bodyPr wrap="square">
            <a:spAutoFit/>
          </a:bodyPr>
          <a:lstStyle/>
          <a:p>
            <a:pPr algn="ctr"/>
            <a:r>
              <a:rPr sz="2200" b="1" i="0">
                <a:solidFill>
                  <a:srgbClr val="FFFFFF"/>
                </a:solidFill>
                <a:latin typeface="Segoe UI"/>
              </a:rPr>
              <a:t>6</a:t>
            </a:r>
          </a:p>
        </p:txBody>
      </p:sp>
      <p:sp>
        <p:nvSpPr>
          <p:cNvPr id="36" name="TextBox 35"/>
          <p:cNvSpPr txBox="1"/>
          <p:nvPr/>
        </p:nvSpPr>
        <p:spPr>
          <a:xfrm>
            <a:off x="9189719" y="2807208"/>
            <a:ext cx="2606040" cy="548640"/>
          </a:xfrm>
          <a:prstGeom prst="rect">
            <a:avLst/>
          </a:prstGeom>
          <a:noFill/>
        </p:spPr>
        <p:txBody>
          <a:bodyPr wrap="square">
            <a:spAutoFit/>
          </a:bodyPr>
          <a:lstStyle/>
          <a:p>
            <a:pPr algn="l"/>
            <a:r>
              <a:rPr sz="1300" b="1" i="0">
                <a:solidFill>
                  <a:srgbClr val="111827"/>
                </a:solidFill>
                <a:latin typeface="Segoe UI"/>
              </a:rPr>
              <a:t>Comunicación</a:t>
            </a:r>
          </a:p>
        </p:txBody>
      </p:sp>
      <p:sp>
        <p:nvSpPr>
          <p:cNvPr id="37" name="TextBox 36"/>
          <p:cNvSpPr txBox="1"/>
          <p:nvPr/>
        </p:nvSpPr>
        <p:spPr>
          <a:xfrm>
            <a:off x="9189719" y="3319272"/>
            <a:ext cx="2606040" cy="621792"/>
          </a:xfrm>
          <a:prstGeom prst="rect">
            <a:avLst/>
          </a:prstGeom>
          <a:noFill/>
        </p:spPr>
        <p:txBody>
          <a:bodyPr wrap="square">
            <a:spAutoFit/>
          </a:bodyPr>
          <a:lstStyle/>
          <a:p>
            <a:pPr algn="l"/>
            <a:r>
              <a:rPr sz="1100" b="0" i="0">
                <a:solidFill>
                  <a:srgbClr val="64748B"/>
                </a:solidFill>
                <a:latin typeface="Segoe UI"/>
              </a:rPr>
              <a:t>Presentación · Notebook
reproducible</a:t>
            </a:r>
          </a:p>
        </p:txBody>
      </p:sp>
      <p:sp>
        <p:nvSpPr>
          <p:cNvPr id="38" name="Rounded Rectangle 37"/>
          <p:cNvSpPr/>
          <p:nvPr/>
        </p:nvSpPr>
        <p:spPr>
          <a:xfrm>
            <a:off x="411480" y="4279392"/>
            <a:ext cx="11384280" cy="2148840"/>
          </a:xfrm>
          <a:prstGeom prst="roundRect">
            <a:avLst>
              <a:gd name="adj" fmla="val 7000"/>
            </a:avLst>
          </a:prstGeom>
          <a:solidFill>
            <a:srgbClr val="EFF6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411480" y="4279392"/>
            <a:ext cx="109728" cy="2148840"/>
          </a:xfrm>
          <a:prstGeom prst="roundRect">
            <a:avLst>
              <a:gd name="adj" fmla="val 7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13232" y="4407408"/>
            <a:ext cx="10881360" cy="347472"/>
          </a:xfrm>
          <a:prstGeom prst="rect">
            <a:avLst/>
          </a:prstGeom>
          <a:noFill/>
        </p:spPr>
        <p:txBody>
          <a:bodyPr wrap="square">
            <a:spAutoFit/>
          </a:bodyPr>
          <a:lstStyle/>
          <a:p>
            <a:pPr algn="l"/>
            <a:r>
              <a:rPr sz="1600" b="1" i="0">
                <a:solidFill>
                  <a:srgbClr val="111827"/>
                </a:solidFill>
                <a:latin typeface="Segoe UI"/>
              </a:rPr>
              <a:t>Por qué CRISP-DM fue útil en este proyecto</a:t>
            </a:r>
          </a:p>
        </p:txBody>
      </p:sp>
      <p:sp>
        <p:nvSpPr>
          <p:cNvPr id="41" name="TextBox 40"/>
          <p:cNvSpPr txBox="1"/>
          <p:nvPr/>
        </p:nvSpPr>
        <p:spPr>
          <a:xfrm>
            <a:off x="713232" y="4809744"/>
            <a:ext cx="10881360" cy="1508760"/>
          </a:xfrm>
          <a:prstGeom prst="rect">
            <a:avLst/>
          </a:prstGeom>
          <a:noFill/>
        </p:spPr>
        <p:txBody>
          <a:bodyPr wrap="square">
            <a:spAutoFit/>
          </a:bodyPr>
          <a:lstStyle/>
          <a:p>
            <a:pPr>
              <a:spcBef>
                <a:spcPts val="400"/>
              </a:spcBef>
            </a:pPr>
            <a:r>
              <a:rPr sz="1200">
                <a:solidFill>
                  <a:srgbClr val="111827"/>
                </a:solidFill>
                <a:latin typeface="Segoe UI"/>
              </a:rPr>
              <a:t>•  Definir preguntas guía ANTES de tocar los datos evitó modelar sin entender el problema</a:t>
            </a:r>
          </a:p>
          <a:p>
            <a:pPr>
              <a:spcBef>
                <a:spcPts val="400"/>
              </a:spcBef>
            </a:pPr>
            <a:r>
              <a:rPr sz="1200">
                <a:solidFill>
                  <a:srgbClr val="111827"/>
                </a:solidFill>
                <a:latin typeface="Segoe UI"/>
              </a:rPr>
              <a:t>•  La inspección temprana (nulos, duplicados, balance) descartó problemas de calidad antes de modelar</a:t>
            </a:r>
          </a:p>
          <a:p>
            <a:pPr>
              <a:spcBef>
                <a:spcPts val="400"/>
              </a:spcBef>
            </a:pPr>
            <a:r>
              <a:rPr sz="1200">
                <a:solidFill>
                  <a:srgbClr val="111827"/>
                </a:solidFill>
                <a:latin typeface="Segoe UI"/>
              </a:rPr>
              <a:t>•  Preparar los datos POR TÉCNICA (pipelines separados para clustering, clasificación y FP-Growth) eliminó fugas</a:t>
            </a:r>
          </a:p>
          <a:p>
            <a:pPr>
              <a:spcBef>
                <a:spcPts val="400"/>
              </a:spcBef>
            </a:pPr>
            <a:r>
              <a:rPr sz="1200">
                <a:solidFill>
                  <a:srgbClr val="111827"/>
                </a:solidFill>
                <a:latin typeface="Segoe UI"/>
              </a:rPr>
              <a:t>•  La fase de evaluación obligó a comparar en test y documentar también los resultados que NO mejoran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11480" y="256032"/>
            <a:ext cx="146304" cy="59436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182880"/>
            <a:ext cx="10881360" cy="461665"/>
          </a:xfrm>
          <a:prstGeom prst="rect">
            <a:avLst/>
          </a:prstGeom>
          <a:noFill/>
        </p:spPr>
        <p:txBody>
          <a:bodyPr wrap="square">
            <a:spAutoFit/>
          </a:bodyPr>
          <a:lstStyle/>
          <a:p>
            <a:pPr algn="l"/>
            <a:r>
              <a:rPr sz="2400" b="1" i="0" dirty="0">
                <a:solidFill>
                  <a:srgbClr val="111827"/>
                </a:solidFill>
                <a:latin typeface="Segoe UI"/>
              </a:rPr>
              <a:t>Cada </a:t>
            </a:r>
            <a:r>
              <a:rPr sz="2400" b="1" i="0" dirty="0" err="1">
                <a:solidFill>
                  <a:srgbClr val="111827"/>
                </a:solidFill>
                <a:latin typeface="Segoe UI"/>
              </a:rPr>
              <a:t>técnica</a:t>
            </a:r>
            <a:r>
              <a:rPr sz="2400" b="1" i="0" dirty="0">
                <a:solidFill>
                  <a:srgbClr val="111827"/>
                </a:solidFill>
                <a:latin typeface="Segoe UI"/>
              </a:rPr>
              <a:t> </a:t>
            </a:r>
            <a:r>
              <a:rPr sz="2400" b="1" i="0" dirty="0" err="1">
                <a:solidFill>
                  <a:srgbClr val="111827"/>
                </a:solidFill>
                <a:latin typeface="Segoe UI"/>
              </a:rPr>
              <a:t>recibió</a:t>
            </a:r>
            <a:r>
              <a:rPr sz="2400" b="1" i="0" dirty="0">
                <a:solidFill>
                  <a:srgbClr val="111827"/>
                </a:solidFill>
                <a:latin typeface="Segoe UI"/>
              </a:rPr>
              <a:t> </a:t>
            </a:r>
            <a:r>
              <a:rPr sz="2400" b="1" i="0" dirty="0" err="1">
                <a:solidFill>
                  <a:srgbClr val="111827"/>
                </a:solidFill>
                <a:latin typeface="Segoe UI"/>
              </a:rPr>
              <a:t>su</a:t>
            </a:r>
            <a:r>
              <a:rPr sz="2400" b="1" i="0" dirty="0">
                <a:solidFill>
                  <a:srgbClr val="111827"/>
                </a:solidFill>
                <a:latin typeface="Segoe UI"/>
              </a:rPr>
              <a:t> </a:t>
            </a:r>
            <a:r>
              <a:rPr sz="2400" b="1" i="0" dirty="0" err="1">
                <a:solidFill>
                  <a:srgbClr val="111827"/>
                </a:solidFill>
                <a:latin typeface="Segoe UI"/>
              </a:rPr>
              <a:t>propia</a:t>
            </a:r>
            <a:r>
              <a:rPr sz="2400" b="1" i="0" dirty="0">
                <a:solidFill>
                  <a:srgbClr val="111827"/>
                </a:solidFill>
                <a:latin typeface="Segoe UI"/>
              </a:rPr>
              <a:t> </a:t>
            </a:r>
            <a:r>
              <a:rPr sz="2400" b="1" i="0" dirty="0" err="1">
                <a:solidFill>
                  <a:srgbClr val="111827"/>
                </a:solidFill>
                <a:latin typeface="Segoe UI"/>
              </a:rPr>
              <a:t>preparación</a:t>
            </a:r>
            <a:r>
              <a:rPr sz="2400" b="1" i="0" dirty="0">
                <a:solidFill>
                  <a:srgbClr val="111827"/>
                </a:solidFill>
                <a:latin typeface="Segoe UI"/>
              </a:rPr>
              <a:t> para </a:t>
            </a:r>
            <a:r>
              <a:rPr sz="2400" b="1" i="0" dirty="0" err="1">
                <a:solidFill>
                  <a:srgbClr val="111827"/>
                </a:solidFill>
                <a:latin typeface="Segoe UI"/>
              </a:rPr>
              <a:t>evitar</a:t>
            </a:r>
            <a:r>
              <a:rPr sz="2400" b="1" i="0" dirty="0">
                <a:solidFill>
                  <a:srgbClr val="111827"/>
                </a:solidFill>
                <a:latin typeface="Segoe UI"/>
              </a:rPr>
              <a:t> </a:t>
            </a:r>
            <a:r>
              <a:rPr sz="2400" b="1" i="0" dirty="0" err="1">
                <a:solidFill>
                  <a:srgbClr val="111827"/>
                </a:solidFill>
                <a:latin typeface="Segoe UI"/>
              </a:rPr>
              <a:t>fugas</a:t>
            </a:r>
            <a:r>
              <a:rPr sz="2400" b="1" i="0" dirty="0">
                <a:solidFill>
                  <a:srgbClr val="111827"/>
                </a:solidFill>
                <a:latin typeface="Segoe UI"/>
              </a:rPr>
              <a:t> de </a:t>
            </a:r>
            <a:r>
              <a:rPr sz="2400" b="1" i="0" dirty="0" err="1">
                <a:solidFill>
                  <a:srgbClr val="111827"/>
                </a:solidFill>
                <a:latin typeface="Segoe UI"/>
              </a:rPr>
              <a:t>datos</a:t>
            </a:r>
            <a:endParaRPr sz="2400" b="1" i="0" dirty="0">
              <a:solidFill>
                <a:srgbClr val="111827"/>
              </a:solidFill>
              <a:latin typeface="Segoe UI"/>
            </a:endParaRPr>
          </a:p>
        </p:txBody>
      </p:sp>
      <p:sp>
        <p:nvSpPr>
          <p:cNvPr id="5" name="TextBox 4"/>
          <p:cNvSpPr txBox="1"/>
          <p:nvPr/>
        </p:nvSpPr>
        <p:spPr>
          <a:xfrm>
            <a:off x="731520" y="731520"/>
            <a:ext cx="10881360" cy="347472"/>
          </a:xfrm>
          <a:prstGeom prst="rect">
            <a:avLst/>
          </a:prstGeom>
          <a:noFill/>
        </p:spPr>
        <p:txBody>
          <a:bodyPr wrap="square">
            <a:spAutoFit/>
          </a:bodyPr>
          <a:lstStyle/>
          <a:p>
            <a:pPr algn="l"/>
            <a:r>
              <a:rPr sz="1400" b="0" i="0">
                <a:solidFill>
                  <a:srgbClr val="64748B"/>
                </a:solidFill>
                <a:latin typeface="Segoe UI"/>
              </a:rPr>
              <a:t>Preparación de datos — CRISP-DM Fase 3</a:t>
            </a:r>
          </a:p>
        </p:txBody>
      </p:sp>
      <p:sp>
        <p:nvSpPr>
          <p:cNvPr id="6" name="Rectangle 5"/>
          <p:cNvSpPr/>
          <p:nvPr/>
        </p:nvSpPr>
        <p:spPr>
          <a:xfrm>
            <a:off x="411480" y="1133856"/>
            <a:ext cx="11365992"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55680" y="6510528"/>
            <a:ext cx="914400" cy="274320"/>
          </a:xfrm>
          <a:prstGeom prst="rect">
            <a:avLst/>
          </a:prstGeom>
          <a:noFill/>
        </p:spPr>
        <p:txBody>
          <a:bodyPr wrap="square">
            <a:spAutoFit/>
          </a:bodyPr>
          <a:lstStyle/>
          <a:p>
            <a:pPr algn="r"/>
            <a:r>
              <a:rPr sz="900" b="0" i="0">
                <a:solidFill>
                  <a:srgbClr val="64748B"/>
                </a:solidFill>
                <a:latin typeface="Segoe UI"/>
              </a:rPr>
              <a:t>04 / 20</a:t>
            </a:r>
          </a:p>
        </p:txBody>
      </p:sp>
      <p:sp>
        <p:nvSpPr>
          <p:cNvPr id="8" name="Rounded Rectangle 7"/>
          <p:cNvSpPr/>
          <p:nvPr/>
        </p:nvSpPr>
        <p:spPr>
          <a:xfrm>
            <a:off x="411480" y="1298448"/>
            <a:ext cx="2176272" cy="5120640"/>
          </a:xfrm>
          <a:prstGeom prst="roundRect">
            <a:avLst>
              <a:gd name="adj" fmla="val 7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57784" y="1508760"/>
            <a:ext cx="502920" cy="4445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57784" y="1627632"/>
            <a:ext cx="1920240" cy="475488"/>
          </a:xfrm>
          <a:prstGeom prst="rect">
            <a:avLst/>
          </a:prstGeom>
          <a:noFill/>
        </p:spPr>
        <p:txBody>
          <a:bodyPr wrap="square">
            <a:spAutoFit/>
          </a:bodyPr>
          <a:lstStyle/>
          <a:p>
            <a:pPr algn="l"/>
            <a:r>
              <a:rPr sz="1300" b="1" i="0">
                <a:solidFill>
                  <a:srgbClr val="111827"/>
                </a:solidFill>
                <a:latin typeface="Segoe UI"/>
              </a:rPr>
              <a:t>Calidad
verificada</a:t>
            </a:r>
          </a:p>
        </p:txBody>
      </p:sp>
      <p:sp>
        <p:nvSpPr>
          <p:cNvPr id="11" name="TextBox 10"/>
          <p:cNvSpPr txBox="1"/>
          <p:nvPr/>
        </p:nvSpPr>
        <p:spPr>
          <a:xfrm>
            <a:off x="557784" y="2176272"/>
            <a:ext cx="1920240" cy="4023360"/>
          </a:xfrm>
          <a:prstGeom prst="rect">
            <a:avLst/>
          </a:prstGeom>
          <a:noFill/>
        </p:spPr>
        <p:txBody>
          <a:bodyPr wrap="square">
            <a:spAutoFit/>
          </a:bodyPr>
          <a:lstStyle/>
          <a:p>
            <a:pPr>
              <a:spcBef>
                <a:spcPts val="600"/>
              </a:spcBef>
            </a:pPr>
            <a:r>
              <a:rPr sz="1100">
                <a:solidFill>
                  <a:srgbClr val="111827"/>
                </a:solidFill>
                <a:latin typeface="Segoe UI"/>
              </a:rPr>
              <a:t>•  Sin nulos ni duplicados</a:t>
            </a:r>
          </a:p>
          <a:p>
            <a:pPr>
              <a:spcBef>
                <a:spcPts val="600"/>
              </a:spcBef>
            </a:pPr>
            <a:r>
              <a:rPr sz="1100">
                <a:solidFill>
                  <a:srgbClr val="111827"/>
                </a:solidFill>
                <a:latin typeface="Segoe UI"/>
              </a:rPr>
              <a:t>•  Rangos numéricos coherentes</a:t>
            </a:r>
          </a:p>
          <a:p>
            <a:pPr>
              <a:spcBef>
                <a:spcPts val="600"/>
              </a:spcBef>
            </a:pPr>
            <a:r>
              <a:rPr sz="1100">
                <a:solidFill>
                  <a:srgbClr val="111827"/>
                </a:solidFill>
                <a:latin typeface="Segoe UI"/>
              </a:rPr>
              <a:t>•  7 clases balanceadas (272–351)</a:t>
            </a:r>
          </a:p>
        </p:txBody>
      </p:sp>
      <p:sp>
        <p:nvSpPr>
          <p:cNvPr id="12" name="Rounded Rectangle 11"/>
          <p:cNvSpPr/>
          <p:nvPr/>
        </p:nvSpPr>
        <p:spPr>
          <a:xfrm>
            <a:off x="2724912" y="1298448"/>
            <a:ext cx="2176272" cy="5120640"/>
          </a:xfrm>
          <a:prstGeom prst="roundRect">
            <a:avLst>
              <a:gd name="adj" fmla="val 7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871216" y="1508760"/>
            <a:ext cx="502920" cy="4445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871216" y="1627632"/>
            <a:ext cx="1920240" cy="475488"/>
          </a:xfrm>
          <a:prstGeom prst="rect">
            <a:avLst/>
          </a:prstGeom>
          <a:noFill/>
        </p:spPr>
        <p:txBody>
          <a:bodyPr wrap="square">
            <a:spAutoFit/>
          </a:bodyPr>
          <a:lstStyle/>
          <a:p>
            <a:pPr algn="l"/>
            <a:r>
              <a:rPr sz="1300" b="1" i="0">
                <a:solidFill>
                  <a:srgbClr val="111827"/>
                </a:solidFill>
                <a:latin typeface="Segoe UI"/>
              </a:rPr>
              <a:t>Clustering
(sin target)</a:t>
            </a:r>
          </a:p>
        </p:txBody>
      </p:sp>
      <p:sp>
        <p:nvSpPr>
          <p:cNvPr id="15" name="TextBox 14"/>
          <p:cNvSpPr txBox="1"/>
          <p:nvPr/>
        </p:nvSpPr>
        <p:spPr>
          <a:xfrm>
            <a:off x="2871216" y="2176272"/>
            <a:ext cx="1920240" cy="4023360"/>
          </a:xfrm>
          <a:prstGeom prst="rect">
            <a:avLst/>
          </a:prstGeom>
          <a:noFill/>
        </p:spPr>
        <p:txBody>
          <a:bodyPr wrap="square">
            <a:spAutoFit/>
          </a:bodyPr>
          <a:lstStyle/>
          <a:p>
            <a:pPr>
              <a:spcBef>
                <a:spcPts val="600"/>
              </a:spcBef>
            </a:pPr>
            <a:r>
              <a:rPr sz="1100">
                <a:solidFill>
                  <a:srgbClr val="111827"/>
                </a:solidFill>
                <a:latin typeface="Segoe UI"/>
              </a:rPr>
              <a:t>•  OrdinalEncoder para categóricas</a:t>
            </a:r>
          </a:p>
          <a:p>
            <a:pPr>
              <a:spcBef>
                <a:spcPts val="600"/>
              </a:spcBef>
            </a:pPr>
            <a:r>
              <a:rPr sz="1100">
                <a:solidFill>
                  <a:srgbClr val="111827"/>
                </a:solidFill>
                <a:latin typeface="Segoe UI"/>
              </a:rPr>
              <a:t>•  StandardScaler para numéricas</a:t>
            </a:r>
          </a:p>
          <a:p>
            <a:pPr>
              <a:spcBef>
                <a:spcPts val="600"/>
              </a:spcBef>
            </a:pPr>
            <a:r>
              <a:rPr sz="1100">
                <a:solidFill>
                  <a:srgbClr val="111827"/>
                </a:solidFill>
                <a:latin typeface="Segoe UI"/>
              </a:rPr>
              <a:t>•  Target excluido — sin fuga</a:t>
            </a:r>
          </a:p>
        </p:txBody>
      </p:sp>
      <p:sp>
        <p:nvSpPr>
          <p:cNvPr id="16" name="Rounded Rectangle 15"/>
          <p:cNvSpPr/>
          <p:nvPr/>
        </p:nvSpPr>
        <p:spPr>
          <a:xfrm>
            <a:off x="5038344" y="1298448"/>
            <a:ext cx="2176272" cy="5120640"/>
          </a:xfrm>
          <a:prstGeom prst="roundRect">
            <a:avLst>
              <a:gd name="adj" fmla="val 7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184648" y="1508760"/>
            <a:ext cx="502920" cy="4445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184648" y="1627632"/>
            <a:ext cx="1920240" cy="475488"/>
          </a:xfrm>
          <a:prstGeom prst="rect">
            <a:avLst/>
          </a:prstGeom>
          <a:noFill/>
        </p:spPr>
        <p:txBody>
          <a:bodyPr wrap="square">
            <a:spAutoFit/>
          </a:bodyPr>
          <a:lstStyle/>
          <a:p>
            <a:pPr algn="l"/>
            <a:r>
              <a:rPr sz="1300" b="1" i="0">
                <a:solidFill>
                  <a:srgbClr val="111827"/>
                </a:solidFill>
                <a:latin typeface="Segoe UI"/>
              </a:rPr>
              <a:t>Clasificación
(pipeline)</a:t>
            </a:r>
          </a:p>
        </p:txBody>
      </p:sp>
      <p:sp>
        <p:nvSpPr>
          <p:cNvPr id="19" name="TextBox 18"/>
          <p:cNvSpPr txBox="1"/>
          <p:nvPr/>
        </p:nvSpPr>
        <p:spPr>
          <a:xfrm>
            <a:off x="5184648" y="2176272"/>
            <a:ext cx="1920240" cy="4023360"/>
          </a:xfrm>
          <a:prstGeom prst="rect">
            <a:avLst/>
          </a:prstGeom>
          <a:noFill/>
        </p:spPr>
        <p:txBody>
          <a:bodyPr wrap="square">
            <a:spAutoFit/>
          </a:bodyPr>
          <a:lstStyle/>
          <a:p>
            <a:pPr>
              <a:spcBef>
                <a:spcPts val="600"/>
              </a:spcBef>
            </a:pPr>
            <a:r>
              <a:rPr sz="1100">
                <a:solidFill>
                  <a:srgbClr val="111827"/>
                </a:solidFill>
                <a:latin typeface="Segoe UI"/>
              </a:rPr>
              <a:t>•  Pipeline con preprocesamiento interno</a:t>
            </a:r>
          </a:p>
          <a:p>
            <a:pPr>
              <a:spcBef>
                <a:spcPts val="600"/>
              </a:spcBef>
            </a:pPr>
            <a:r>
              <a:rPr sz="1100">
                <a:solidFill>
                  <a:srgbClr val="111827"/>
                </a:solidFill>
                <a:latin typeface="Segoe UI"/>
              </a:rPr>
              <a:t>•  Split estratificado 80/20 · seed 42</a:t>
            </a:r>
          </a:p>
          <a:p>
            <a:pPr>
              <a:spcBef>
                <a:spcPts val="600"/>
              </a:spcBef>
            </a:pPr>
            <a:r>
              <a:rPr sz="1100">
                <a:solidFill>
                  <a:srgbClr val="111827"/>
                </a:solidFill>
                <a:latin typeface="Segoe UI"/>
              </a:rPr>
              <a:t>•  Ordinal semántico CAEC / CALC</a:t>
            </a:r>
          </a:p>
        </p:txBody>
      </p:sp>
      <p:sp>
        <p:nvSpPr>
          <p:cNvPr id="20" name="Rounded Rectangle 19"/>
          <p:cNvSpPr/>
          <p:nvPr/>
        </p:nvSpPr>
        <p:spPr>
          <a:xfrm>
            <a:off x="7351775" y="1298448"/>
            <a:ext cx="2176272" cy="5120640"/>
          </a:xfrm>
          <a:prstGeom prst="roundRect">
            <a:avLst>
              <a:gd name="adj" fmla="val 7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498079" y="1508760"/>
            <a:ext cx="502920" cy="4445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498079" y="1627632"/>
            <a:ext cx="1920240" cy="475488"/>
          </a:xfrm>
          <a:prstGeom prst="rect">
            <a:avLst/>
          </a:prstGeom>
          <a:noFill/>
        </p:spPr>
        <p:txBody>
          <a:bodyPr wrap="square">
            <a:spAutoFit/>
          </a:bodyPr>
          <a:lstStyle/>
          <a:p>
            <a:pPr algn="l"/>
            <a:r>
              <a:rPr sz="1300" b="1" i="0">
                <a:solidFill>
                  <a:srgbClr val="111827"/>
                </a:solidFill>
                <a:latin typeface="Segoe UI"/>
              </a:rPr>
              <a:t>FP-Growth
(transaccional)</a:t>
            </a:r>
          </a:p>
        </p:txBody>
      </p:sp>
      <p:sp>
        <p:nvSpPr>
          <p:cNvPr id="23" name="TextBox 22"/>
          <p:cNvSpPr txBox="1"/>
          <p:nvPr/>
        </p:nvSpPr>
        <p:spPr>
          <a:xfrm>
            <a:off x="7498079" y="2176272"/>
            <a:ext cx="1920240" cy="4023360"/>
          </a:xfrm>
          <a:prstGeom prst="rect">
            <a:avLst/>
          </a:prstGeom>
          <a:noFill/>
        </p:spPr>
        <p:txBody>
          <a:bodyPr wrap="square">
            <a:spAutoFit/>
          </a:bodyPr>
          <a:lstStyle/>
          <a:p>
            <a:pPr>
              <a:spcBef>
                <a:spcPts val="600"/>
              </a:spcBef>
            </a:pPr>
            <a:r>
              <a:rPr sz="1100">
                <a:solidFill>
                  <a:srgbClr val="111827"/>
                </a:solidFill>
                <a:latin typeface="Segoe UI"/>
              </a:rPr>
              <a:t>•  Numéricas discretizadas en rangos</a:t>
            </a:r>
          </a:p>
          <a:p>
            <a:pPr>
              <a:spcBef>
                <a:spcPts val="600"/>
              </a:spcBef>
            </a:pPr>
            <a:r>
              <a:rPr sz="1100">
                <a:solidFill>
                  <a:srgbClr val="111827"/>
                </a:solidFill>
                <a:latin typeface="Segoe UI"/>
              </a:rPr>
              <a:t>•  Ítems binarios: Gender=Female…</a:t>
            </a:r>
          </a:p>
          <a:p>
            <a:pPr>
              <a:spcBef>
                <a:spcPts val="600"/>
              </a:spcBef>
            </a:pPr>
            <a:r>
              <a:rPr sz="1100">
                <a:solidFill>
                  <a:srgbClr val="111827"/>
                </a:solidFill>
                <a:latin typeface="Segoe UI"/>
              </a:rPr>
              <a:t>•  Support mínimo 0.15</a:t>
            </a:r>
          </a:p>
        </p:txBody>
      </p:sp>
      <p:sp>
        <p:nvSpPr>
          <p:cNvPr id="24" name="Rounded Rectangle 23"/>
          <p:cNvSpPr/>
          <p:nvPr/>
        </p:nvSpPr>
        <p:spPr>
          <a:xfrm>
            <a:off x="9665207" y="1298448"/>
            <a:ext cx="2176272" cy="5120640"/>
          </a:xfrm>
          <a:prstGeom prst="roundRect">
            <a:avLst>
              <a:gd name="adj" fmla="val 7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9811511" y="1508760"/>
            <a:ext cx="502920" cy="4445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811511" y="1627632"/>
            <a:ext cx="1920240" cy="475488"/>
          </a:xfrm>
          <a:prstGeom prst="rect">
            <a:avLst/>
          </a:prstGeom>
          <a:noFill/>
        </p:spPr>
        <p:txBody>
          <a:bodyPr wrap="square">
            <a:spAutoFit/>
          </a:bodyPr>
          <a:lstStyle/>
          <a:p>
            <a:pPr algn="l"/>
            <a:r>
              <a:rPr sz="1300" b="1" i="0">
                <a:solidFill>
                  <a:srgbClr val="111827"/>
                </a:solidFill>
                <a:latin typeface="Segoe UI"/>
              </a:rPr>
              <a:t>Ingeniería de
Características</a:t>
            </a:r>
          </a:p>
        </p:txBody>
      </p:sp>
      <p:sp>
        <p:nvSpPr>
          <p:cNvPr id="27" name="TextBox 26"/>
          <p:cNvSpPr txBox="1"/>
          <p:nvPr/>
        </p:nvSpPr>
        <p:spPr>
          <a:xfrm>
            <a:off x="9811511" y="2176272"/>
            <a:ext cx="1920240" cy="4023360"/>
          </a:xfrm>
          <a:prstGeom prst="rect">
            <a:avLst/>
          </a:prstGeom>
          <a:noFill/>
        </p:spPr>
        <p:txBody>
          <a:bodyPr wrap="square">
            <a:spAutoFit/>
          </a:bodyPr>
          <a:lstStyle/>
          <a:p>
            <a:pPr>
              <a:spcBef>
                <a:spcPts val="600"/>
              </a:spcBef>
            </a:pPr>
            <a:r>
              <a:rPr sz="1100">
                <a:solidFill>
                  <a:srgbClr val="111827"/>
                </a:solidFill>
                <a:latin typeface="Segoe UI"/>
              </a:rPr>
              <a:t>•  BMI = Peso / Talla²</a:t>
            </a:r>
          </a:p>
          <a:p>
            <a:pPr>
              <a:spcBef>
                <a:spcPts val="600"/>
              </a:spcBef>
            </a:pPr>
            <a:r>
              <a:rPr sz="1100">
                <a:solidFill>
                  <a:srgbClr val="111827"/>
                </a:solidFill>
                <a:latin typeface="Segoe UI"/>
              </a:rPr>
              <a:t>•  BMI_Category (4 categorías)</a:t>
            </a:r>
          </a:p>
          <a:p>
            <a:pPr>
              <a:spcBef>
                <a:spcPts val="600"/>
              </a:spcBef>
            </a:pPr>
            <a:r>
              <a:rPr sz="1100">
                <a:solidFill>
                  <a:srgbClr val="111827"/>
                </a:solidFill>
                <a:latin typeface="Segoe UI"/>
              </a:rPr>
              <a:t>•  Healthy / Risky / Sedentary Scores</a:t>
            </a:r>
          </a:p>
          <a:p>
            <a:pPr>
              <a:spcBef>
                <a:spcPts val="600"/>
              </a:spcBef>
            </a:pPr>
            <a:r>
              <a:rPr sz="1100">
                <a:solidFill>
                  <a:srgbClr val="111827"/>
                </a:solidFill>
                <a:latin typeface="Segoe UI"/>
              </a:rPr>
              <a:t>•  FAF_FAVC_Interaction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11480" y="256032"/>
            <a:ext cx="146304" cy="59436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57784" y="182880"/>
            <a:ext cx="11521440" cy="830997"/>
          </a:xfrm>
          <a:prstGeom prst="rect">
            <a:avLst/>
          </a:prstGeom>
          <a:noFill/>
        </p:spPr>
        <p:txBody>
          <a:bodyPr wrap="square">
            <a:spAutoFit/>
          </a:bodyPr>
          <a:lstStyle/>
          <a:p>
            <a:pPr algn="l"/>
            <a:r>
              <a:rPr sz="2400" b="1" i="0" dirty="0">
                <a:solidFill>
                  <a:srgbClr val="111827"/>
                </a:solidFill>
                <a:latin typeface="Segoe UI"/>
              </a:rPr>
              <a:t>El </a:t>
            </a:r>
            <a:r>
              <a:rPr sz="2400" b="1" i="0" dirty="0" err="1">
                <a:solidFill>
                  <a:srgbClr val="111827"/>
                </a:solidFill>
                <a:latin typeface="Segoe UI"/>
              </a:rPr>
              <a:t>problema</a:t>
            </a:r>
            <a:r>
              <a:rPr sz="2400" b="1" i="0" dirty="0">
                <a:solidFill>
                  <a:srgbClr val="111827"/>
                </a:solidFill>
                <a:latin typeface="Segoe UI"/>
              </a:rPr>
              <a:t> </a:t>
            </a:r>
            <a:r>
              <a:rPr sz="2400" b="1" i="0" dirty="0" err="1">
                <a:solidFill>
                  <a:srgbClr val="111827"/>
                </a:solidFill>
                <a:latin typeface="Segoe UI"/>
              </a:rPr>
              <a:t>multiclase</a:t>
            </a:r>
            <a:r>
              <a:rPr sz="2400" b="1" i="0" dirty="0">
                <a:solidFill>
                  <a:srgbClr val="111827"/>
                </a:solidFill>
                <a:latin typeface="Segoe UI"/>
              </a:rPr>
              <a:t> </a:t>
            </a:r>
            <a:r>
              <a:rPr sz="2400" b="1" i="0" dirty="0" err="1">
                <a:solidFill>
                  <a:srgbClr val="111827"/>
                </a:solidFill>
                <a:latin typeface="Segoe UI"/>
              </a:rPr>
              <a:t>tiene</a:t>
            </a:r>
            <a:r>
              <a:rPr sz="2400" b="1" i="0" dirty="0">
                <a:solidFill>
                  <a:srgbClr val="111827"/>
                </a:solidFill>
                <a:latin typeface="Segoe UI"/>
              </a:rPr>
              <a:t> 7 </a:t>
            </a:r>
            <a:r>
              <a:rPr sz="2400" b="1" i="0" dirty="0" err="1">
                <a:solidFill>
                  <a:srgbClr val="111827"/>
                </a:solidFill>
                <a:latin typeface="Segoe UI"/>
              </a:rPr>
              <a:t>niveles</a:t>
            </a:r>
            <a:r>
              <a:rPr sz="2400" b="1" i="0" dirty="0">
                <a:solidFill>
                  <a:srgbClr val="111827"/>
                </a:solidFill>
                <a:latin typeface="Segoe UI"/>
              </a:rPr>
              <a:t> de </a:t>
            </a:r>
            <a:r>
              <a:rPr sz="2400" b="1" i="0" dirty="0" err="1">
                <a:solidFill>
                  <a:srgbClr val="111827"/>
                </a:solidFill>
                <a:latin typeface="Segoe UI"/>
              </a:rPr>
              <a:t>obesidad</a:t>
            </a:r>
            <a:r>
              <a:rPr sz="2400" b="1" i="0" dirty="0">
                <a:solidFill>
                  <a:srgbClr val="111827"/>
                </a:solidFill>
                <a:latin typeface="Segoe UI"/>
              </a:rPr>
              <a:t> </a:t>
            </a:r>
            <a:r>
              <a:rPr sz="2400" b="1" i="0" dirty="0" err="1">
                <a:solidFill>
                  <a:srgbClr val="111827"/>
                </a:solidFill>
                <a:latin typeface="Segoe UI"/>
              </a:rPr>
              <a:t>aproximadamente</a:t>
            </a:r>
            <a:r>
              <a:rPr sz="2400" b="1" i="0" dirty="0">
                <a:solidFill>
                  <a:srgbClr val="111827"/>
                </a:solidFill>
                <a:latin typeface="Segoe UI"/>
              </a:rPr>
              <a:t> </a:t>
            </a:r>
            <a:r>
              <a:rPr sz="2400" b="1" i="0" dirty="0" err="1">
                <a:solidFill>
                  <a:srgbClr val="111827"/>
                </a:solidFill>
                <a:latin typeface="Segoe UI"/>
              </a:rPr>
              <a:t>balanceados</a:t>
            </a:r>
            <a:endParaRPr sz="2400" b="1" i="0" dirty="0">
              <a:solidFill>
                <a:srgbClr val="111827"/>
              </a:solidFill>
              <a:latin typeface="Segoe UI"/>
            </a:endParaRPr>
          </a:p>
        </p:txBody>
      </p:sp>
      <p:sp>
        <p:nvSpPr>
          <p:cNvPr id="5" name="TextBox 4"/>
          <p:cNvSpPr txBox="1"/>
          <p:nvPr/>
        </p:nvSpPr>
        <p:spPr>
          <a:xfrm>
            <a:off x="2525596" y="649986"/>
            <a:ext cx="10881360" cy="347472"/>
          </a:xfrm>
          <a:prstGeom prst="rect">
            <a:avLst/>
          </a:prstGeom>
          <a:noFill/>
        </p:spPr>
        <p:txBody>
          <a:bodyPr wrap="square">
            <a:spAutoFit/>
          </a:bodyPr>
          <a:lstStyle/>
          <a:p>
            <a:pPr algn="l"/>
            <a:r>
              <a:rPr sz="1400" b="0" i="0" dirty="0" err="1">
                <a:solidFill>
                  <a:srgbClr val="64748B"/>
                </a:solidFill>
                <a:latin typeface="Segoe UI"/>
              </a:rPr>
              <a:t>Distribución</a:t>
            </a:r>
            <a:r>
              <a:rPr sz="1400" b="0" i="0" dirty="0">
                <a:solidFill>
                  <a:srgbClr val="64748B"/>
                </a:solidFill>
                <a:latin typeface="Segoe UI"/>
              </a:rPr>
              <a:t> de la variable </a:t>
            </a:r>
            <a:r>
              <a:rPr sz="1400" b="0" i="0" dirty="0" err="1">
                <a:solidFill>
                  <a:srgbClr val="64748B"/>
                </a:solidFill>
                <a:latin typeface="Segoe UI"/>
              </a:rPr>
              <a:t>objetivo</a:t>
            </a:r>
            <a:r>
              <a:rPr sz="1400" b="0" i="0" dirty="0">
                <a:solidFill>
                  <a:srgbClr val="64748B"/>
                </a:solidFill>
                <a:latin typeface="Segoe UI"/>
              </a:rPr>
              <a:t> — </a:t>
            </a:r>
            <a:r>
              <a:rPr sz="1400" b="0" i="0" dirty="0" err="1">
                <a:solidFill>
                  <a:srgbClr val="64748B"/>
                </a:solidFill>
                <a:latin typeface="Segoe UI"/>
              </a:rPr>
              <a:t>NObeyesdad</a:t>
            </a:r>
            <a:endParaRPr sz="1400" b="0" i="0" dirty="0">
              <a:solidFill>
                <a:srgbClr val="64748B"/>
              </a:solidFill>
              <a:latin typeface="Segoe UI"/>
            </a:endParaRPr>
          </a:p>
        </p:txBody>
      </p:sp>
      <p:sp>
        <p:nvSpPr>
          <p:cNvPr id="6" name="Rectangle 5"/>
          <p:cNvSpPr/>
          <p:nvPr/>
        </p:nvSpPr>
        <p:spPr>
          <a:xfrm>
            <a:off x="411480" y="1133856"/>
            <a:ext cx="11365992"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55680" y="6510528"/>
            <a:ext cx="914400" cy="274320"/>
          </a:xfrm>
          <a:prstGeom prst="rect">
            <a:avLst/>
          </a:prstGeom>
          <a:noFill/>
        </p:spPr>
        <p:txBody>
          <a:bodyPr wrap="square">
            <a:spAutoFit/>
          </a:bodyPr>
          <a:lstStyle/>
          <a:p>
            <a:pPr algn="r"/>
            <a:r>
              <a:rPr sz="900" b="0" i="0">
                <a:solidFill>
                  <a:srgbClr val="64748B"/>
                </a:solidFill>
                <a:latin typeface="Segoe UI"/>
              </a:rPr>
              <a:t>05 / 20</a:t>
            </a:r>
          </a:p>
        </p:txBody>
      </p:sp>
      <p:sp>
        <p:nvSpPr>
          <p:cNvPr id="9" name="Rounded Rectangle 8"/>
          <p:cNvSpPr/>
          <p:nvPr/>
        </p:nvSpPr>
        <p:spPr>
          <a:xfrm>
            <a:off x="411480" y="1298448"/>
            <a:ext cx="6858000" cy="2852928"/>
          </a:xfrm>
          <a:prstGeom prst="roundRect">
            <a:avLst>
              <a:gd name="adj" fmla="val 7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01_distribucion_objetivo.png"/>
          <p:cNvPicPr>
            <a:picLocks noChangeAspect="1"/>
          </p:cNvPicPr>
          <p:nvPr/>
        </p:nvPicPr>
        <p:blipFill>
          <a:blip r:embed="rId2"/>
          <a:stretch>
            <a:fillRect/>
          </a:stretch>
        </p:blipFill>
        <p:spPr>
          <a:xfrm>
            <a:off x="502920" y="1389888"/>
            <a:ext cx="6675120" cy="2670048"/>
          </a:xfrm>
          <a:prstGeom prst="rect">
            <a:avLst/>
          </a:prstGeom>
        </p:spPr>
      </p:pic>
      <p:sp>
        <p:nvSpPr>
          <p:cNvPr id="10" name="Rounded Rectangle 9"/>
          <p:cNvSpPr/>
          <p:nvPr/>
        </p:nvSpPr>
        <p:spPr>
          <a:xfrm>
            <a:off x="7498079" y="1298448"/>
            <a:ext cx="4297680" cy="5120640"/>
          </a:xfrm>
          <a:prstGeom prst="roundRect">
            <a:avLst>
              <a:gd name="adj" fmla="val 7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498079" y="1298448"/>
            <a:ext cx="109728" cy="5120640"/>
          </a:xfrm>
          <a:prstGeom prst="roundRect">
            <a:avLst>
              <a:gd name="adj" fmla="val 7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90688" y="1435608"/>
            <a:ext cx="3840480" cy="365760"/>
          </a:xfrm>
          <a:prstGeom prst="rect">
            <a:avLst/>
          </a:prstGeom>
          <a:noFill/>
        </p:spPr>
        <p:txBody>
          <a:bodyPr wrap="square">
            <a:spAutoFit/>
          </a:bodyPr>
          <a:lstStyle/>
          <a:p>
            <a:pPr algn="l"/>
            <a:r>
              <a:rPr sz="1600" b="1" i="0">
                <a:solidFill>
                  <a:srgbClr val="111827"/>
                </a:solidFill>
                <a:latin typeface="Segoe UI"/>
              </a:rPr>
              <a:t>¿Por qué importa el balance?</a:t>
            </a:r>
          </a:p>
        </p:txBody>
      </p:sp>
      <p:sp>
        <p:nvSpPr>
          <p:cNvPr id="13" name="Rectangle 12"/>
          <p:cNvSpPr/>
          <p:nvPr/>
        </p:nvSpPr>
        <p:spPr>
          <a:xfrm>
            <a:off x="7790688" y="1874519"/>
            <a:ext cx="2176272" cy="402336"/>
          </a:xfrm>
          <a:prstGeom prst="rect">
            <a:avLst/>
          </a:prstGeom>
          <a:solidFill>
            <a:srgbClr val="0F172A"/>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845552" y="1920239"/>
            <a:ext cx="2103120" cy="365760"/>
          </a:xfrm>
          <a:prstGeom prst="rect">
            <a:avLst/>
          </a:prstGeom>
          <a:noFill/>
        </p:spPr>
        <p:txBody>
          <a:bodyPr wrap="square">
            <a:spAutoFit/>
          </a:bodyPr>
          <a:lstStyle/>
          <a:p>
            <a:pPr algn="l"/>
            <a:r>
              <a:rPr sz="1000" b="1" i="0">
                <a:solidFill>
                  <a:srgbClr val="FFFFFF"/>
                </a:solidFill>
                <a:latin typeface="Segoe UI"/>
              </a:rPr>
              <a:t>Clase</a:t>
            </a:r>
          </a:p>
        </p:txBody>
      </p:sp>
      <p:sp>
        <p:nvSpPr>
          <p:cNvPr id="15" name="Rectangle 14"/>
          <p:cNvSpPr/>
          <p:nvPr/>
        </p:nvSpPr>
        <p:spPr>
          <a:xfrm>
            <a:off x="9966960" y="1874519"/>
            <a:ext cx="731520" cy="402336"/>
          </a:xfrm>
          <a:prstGeom prst="rect">
            <a:avLst/>
          </a:prstGeom>
          <a:solidFill>
            <a:srgbClr val="0F172A"/>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021824" y="1920239"/>
            <a:ext cx="658368" cy="365760"/>
          </a:xfrm>
          <a:prstGeom prst="rect">
            <a:avLst/>
          </a:prstGeom>
          <a:noFill/>
        </p:spPr>
        <p:txBody>
          <a:bodyPr wrap="square">
            <a:spAutoFit/>
          </a:bodyPr>
          <a:lstStyle/>
          <a:p>
            <a:pPr algn="ctr"/>
            <a:r>
              <a:rPr sz="1000" b="1" i="0">
                <a:solidFill>
                  <a:srgbClr val="FFFFFF"/>
                </a:solidFill>
                <a:latin typeface="Segoe UI"/>
              </a:rPr>
              <a:t>N</a:t>
            </a:r>
          </a:p>
        </p:txBody>
      </p:sp>
      <p:sp>
        <p:nvSpPr>
          <p:cNvPr id="17" name="Rectangle 16"/>
          <p:cNvSpPr/>
          <p:nvPr/>
        </p:nvSpPr>
        <p:spPr>
          <a:xfrm>
            <a:off x="10698480" y="1874519"/>
            <a:ext cx="621792" cy="402336"/>
          </a:xfrm>
          <a:prstGeom prst="rect">
            <a:avLst/>
          </a:prstGeom>
          <a:solidFill>
            <a:srgbClr val="0F172A"/>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753344" y="1920239"/>
            <a:ext cx="548640" cy="365760"/>
          </a:xfrm>
          <a:prstGeom prst="rect">
            <a:avLst/>
          </a:prstGeom>
          <a:noFill/>
        </p:spPr>
        <p:txBody>
          <a:bodyPr wrap="square">
            <a:spAutoFit/>
          </a:bodyPr>
          <a:lstStyle/>
          <a:p>
            <a:pPr algn="ctr"/>
            <a:r>
              <a:rPr sz="1000" b="1" i="0">
                <a:solidFill>
                  <a:srgbClr val="FFFFFF"/>
                </a:solidFill>
                <a:latin typeface="Segoe UI"/>
              </a:rPr>
              <a:t>%</a:t>
            </a:r>
          </a:p>
        </p:txBody>
      </p:sp>
      <p:sp>
        <p:nvSpPr>
          <p:cNvPr id="19" name="Rectangle 18"/>
          <p:cNvSpPr/>
          <p:nvPr/>
        </p:nvSpPr>
        <p:spPr>
          <a:xfrm>
            <a:off x="7790688" y="2276855"/>
            <a:ext cx="2176272" cy="40233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845552" y="2322575"/>
            <a:ext cx="2103120" cy="365760"/>
          </a:xfrm>
          <a:prstGeom prst="rect">
            <a:avLst/>
          </a:prstGeom>
          <a:noFill/>
        </p:spPr>
        <p:txBody>
          <a:bodyPr wrap="square">
            <a:spAutoFit/>
          </a:bodyPr>
          <a:lstStyle/>
          <a:p>
            <a:pPr algn="l"/>
            <a:r>
              <a:rPr sz="1000" b="0" i="0">
                <a:solidFill>
                  <a:srgbClr val="111827"/>
                </a:solidFill>
                <a:latin typeface="Segoe UI"/>
              </a:rPr>
              <a:t>Obesity_Type_I</a:t>
            </a:r>
          </a:p>
        </p:txBody>
      </p:sp>
      <p:sp>
        <p:nvSpPr>
          <p:cNvPr id="21" name="Rectangle 20"/>
          <p:cNvSpPr/>
          <p:nvPr/>
        </p:nvSpPr>
        <p:spPr>
          <a:xfrm>
            <a:off x="9966960" y="2276855"/>
            <a:ext cx="731520" cy="40233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021824" y="2322575"/>
            <a:ext cx="658368" cy="365760"/>
          </a:xfrm>
          <a:prstGeom prst="rect">
            <a:avLst/>
          </a:prstGeom>
          <a:noFill/>
        </p:spPr>
        <p:txBody>
          <a:bodyPr wrap="square">
            <a:spAutoFit/>
          </a:bodyPr>
          <a:lstStyle/>
          <a:p>
            <a:pPr algn="ctr"/>
            <a:r>
              <a:rPr sz="1000" b="0" i="0">
                <a:solidFill>
                  <a:srgbClr val="111827"/>
                </a:solidFill>
                <a:latin typeface="Segoe UI"/>
              </a:rPr>
              <a:t>351</a:t>
            </a:r>
          </a:p>
        </p:txBody>
      </p:sp>
      <p:sp>
        <p:nvSpPr>
          <p:cNvPr id="23" name="Rectangle 22"/>
          <p:cNvSpPr/>
          <p:nvPr/>
        </p:nvSpPr>
        <p:spPr>
          <a:xfrm>
            <a:off x="10698480" y="2276855"/>
            <a:ext cx="621792" cy="40233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753344" y="2322575"/>
            <a:ext cx="548640" cy="365760"/>
          </a:xfrm>
          <a:prstGeom prst="rect">
            <a:avLst/>
          </a:prstGeom>
          <a:noFill/>
        </p:spPr>
        <p:txBody>
          <a:bodyPr wrap="square">
            <a:spAutoFit/>
          </a:bodyPr>
          <a:lstStyle/>
          <a:p>
            <a:pPr algn="ctr"/>
            <a:r>
              <a:rPr sz="1000" b="0" i="0">
                <a:solidFill>
                  <a:srgbClr val="111827"/>
                </a:solidFill>
                <a:latin typeface="Segoe UI"/>
              </a:rPr>
              <a:t>16.6</a:t>
            </a:r>
          </a:p>
        </p:txBody>
      </p:sp>
      <p:sp>
        <p:nvSpPr>
          <p:cNvPr id="25" name="Rectangle 24"/>
          <p:cNvSpPr/>
          <p:nvPr/>
        </p:nvSpPr>
        <p:spPr>
          <a:xfrm>
            <a:off x="7790688" y="2679191"/>
            <a:ext cx="2176272" cy="402336"/>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845552" y="2724911"/>
            <a:ext cx="2103120" cy="365760"/>
          </a:xfrm>
          <a:prstGeom prst="rect">
            <a:avLst/>
          </a:prstGeom>
          <a:noFill/>
        </p:spPr>
        <p:txBody>
          <a:bodyPr wrap="square">
            <a:spAutoFit/>
          </a:bodyPr>
          <a:lstStyle/>
          <a:p>
            <a:pPr algn="l"/>
            <a:r>
              <a:rPr sz="1000" b="0" i="0">
                <a:solidFill>
                  <a:srgbClr val="111827"/>
                </a:solidFill>
                <a:latin typeface="Segoe UI"/>
              </a:rPr>
              <a:t>Obesity_Type_III</a:t>
            </a:r>
          </a:p>
        </p:txBody>
      </p:sp>
      <p:sp>
        <p:nvSpPr>
          <p:cNvPr id="27" name="Rectangle 26"/>
          <p:cNvSpPr/>
          <p:nvPr/>
        </p:nvSpPr>
        <p:spPr>
          <a:xfrm>
            <a:off x="9966960" y="2679191"/>
            <a:ext cx="731520" cy="402336"/>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021824" y="2724911"/>
            <a:ext cx="658368" cy="365760"/>
          </a:xfrm>
          <a:prstGeom prst="rect">
            <a:avLst/>
          </a:prstGeom>
          <a:noFill/>
        </p:spPr>
        <p:txBody>
          <a:bodyPr wrap="square">
            <a:spAutoFit/>
          </a:bodyPr>
          <a:lstStyle/>
          <a:p>
            <a:pPr algn="ctr"/>
            <a:r>
              <a:rPr sz="1000" b="0" i="0">
                <a:solidFill>
                  <a:srgbClr val="111827"/>
                </a:solidFill>
                <a:latin typeface="Segoe UI"/>
              </a:rPr>
              <a:t>324</a:t>
            </a:r>
          </a:p>
        </p:txBody>
      </p:sp>
      <p:sp>
        <p:nvSpPr>
          <p:cNvPr id="29" name="Rectangle 28"/>
          <p:cNvSpPr/>
          <p:nvPr/>
        </p:nvSpPr>
        <p:spPr>
          <a:xfrm>
            <a:off x="10698480" y="2679191"/>
            <a:ext cx="621792" cy="402336"/>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753344" y="2724911"/>
            <a:ext cx="548640" cy="365760"/>
          </a:xfrm>
          <a:prstGeom prst="rect">
            <a:avLst/>
          </a:prstGeom>
          <a:noFill/>
        </p:spPr>
        <p:txBody>
          <a:bodyPr wrap="square">
            <a:spAutoFit/>
          </a:bodyPr>
          <a:lstStyle/>
          <a:p>
            <a:pPr algn="ctr"/>
            <a:r>
              <a:rPr sz="1000" b="0" i="0">
                <a:solidFill>
                  <a:srgbClr val="111827"/>
                </a:solidFill>
                <a:latin typeface="Segoe UI"/>
              </a:rPr>
              <a:t>15.3</a:t>
            </a:r>
          </a:p>
        </p:txBody>
      </p:sp>
      <p:sp>
        <p:nvSpPr>
          <p:cNvPr id="31" name="Rectangle 30"/>
          <p:cNvSpPr/>
          <p:nvPr/>
        </p:nvSpPr>
        <p:spPr>
          <a:xfrm>
            <a:off x="7790688" y="3081527"/>
            <a:ext cx="2176272" cy="40233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845552" y="3127247"/>
            <a:ext cx="2103120" cy="365760"/>
          </a:xfrm>
          <a:prstGeom prst="rect">
            <a:avLst/>
          </a:prstGeom>
          <a:noFill/>
        </p:spPr>
        <p:txBody>
          <a:bodyPr wrap="square">
            <a:spAutoFit/>
          </a:bodyPr>
          <a:lstStyle/>
          <a:p>
            <a:pPr algn="l"/>
            <a:r>
              <a:rPr sz="1000" b="0" i="0">
                <a:solidFill>
                  <a:srgbClr val="111827"/>
                </a:solidFill>
                <a:latin typeface="Segoe UI"/>
              </a:rPr>
              <a:t>Obesity_Type_II</a:t>
            </a:r>
          </a:p>
        </p:txBody>
      </p:sp>
      <p:sp>
        <p:nvSpPr>
          <p:cNvPr id="33" name="Rectangle 32"/>
          <p:cNvSpPr/>
          <p:nvPr/>
        </p:nvSpPr>
        <p:spPr>
          <a:xfrm>
            <a:off x="9966960" y="3081527"/>
            <a:ext cx="731520" cy="40233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0021824" y="3127247"/>
            <a:ext cx="658368" cy="365760"/>
          </a:xfrm>
          <a:prstGeom prst="rect">
            <a:avLst/>
          </a:prstGeom>
          <a:noFill/>
        </p:spPr>
        <p:txBody>
          <a:bodyPr wrap="square">
            <a:spAutoFit/>
          </a:bodyPr>
          <a:lstStyle/>
          <a:p>
            <a:pPr algn="ctr"/>
            <a:r>
              <a:rPr sz="1000" b="0" i="0">
                <a:solidFill>
                  <a:srgbClr val="111827"/>
                </a:solidFill>
                <a:latin typeface="Segoe UI"/>
              </a:rPr>
              <a:t>297</a:t>
            </a:r>
          </a:p>
        </p:txBody>
      </p:sp>
      <p:sp>
        <p:nvSpPr>
          <p:cNvPr id="35" name="Rectangle 34"/>
          <p:cNvSpPr/>
          <p:nvPr/>
        </p:nvSpPr>
        <p:spPr>
          <a:xfrm>
            <a:off x="10698480" y="3081527"/>
            <a:ext cx="621792" cy="40233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753344" y="3127247"/>
            <a:ext cx="548640" cy="365760"/>
          </a:xfrm>
          <a:prstGeom prst="rect">
            <a:avLst/>
          </a:prstGeom>
          <a:noFill/>
        </p:spPr>
        <p:txBody>
          <a:bodyPr wrap="square">
            <a:spAutoFit/>
          </a:bodyPr>
          <a:lstStyle/>
          <a:p>
            <a:pPr algn="ctr"/>
            <a:r>
              <a:rPr sz="1000" b="0" i="0">
                <a:solidFill>
                  <a:srgbClr val="111827"/>
                </a:solidFill>
                <a:latin typeface="Segoe UI"/>
              </a:rPr>
              <a:t>14.1</a:t>
            </a:r>
          </a:p>
        </p:txBody>
      </p:sp>
      <p:sp>
        <p:nvSpPr>
          <p:cNvPr id="37" name="Rectangle 36"/>
          <p:cNvSpPr/>
          <p:nvPr/>
        </p:nvSpPr>
        <p:spPr>
          <a:xfrm>
            <a:off x="7790688" y="3483863"/>
            <a:ext cx="2176272" cy="402336"/>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845552" y="3529583"/>
            <a:ext cx="2103120" cy="365760"/>
          </a:xfrm>
          <a:prstGeom prst="rect">
            <a:avLst/>
          </a:prstGeom>
          <a:noFill/>
        </p:spPr>
        <p:txBody>
          <a:bodyPr wrap="square">
            <a:spAutoFit/>
          </a:bodyPr>
          <a:lstStyle/>
          <a:p>
            <a:pPr algn="l"/>
            <a:r>
              <a:rPr sz="1000" b="0" i="0">
                <a:solidFill>
                  <a:srgbClr val="111827"/>
                </a:solidFill>
                <a:latin typeface="Segoe UI"/>
              </a:rPr>
              <a:t>Overweight_Level_I</a:t>
            </a:r>
          </a:p>
        </p:txBody>
      </p:sp>
      <p:sp>
        <p:nvSpPr>
          <p:cNvPr id="39" name="Rectangle 38"/>
          <p:cNvSpPr/>
          <p:nvPr/>
        </p:nvSpPr>
        <p:spPr>
          <a:xfrm>
            <a:off x="9966960" y="3483863"/>
            <a:ext cx="731520" cy="402336"/>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0021824" y="3529583"/>
            <a:ext cx="658368" cy="365760"/>
          </a:xfrm>
          <a:prstGeom prst="rect">
            <a:avLst/>
          </a:prstGeom>
          <a:noFill/>
        </p:spPr>
        <p:txBody>
          <a:bodyPr wrap="square">
            <a:spAutoFit/>
          </a:bodyPr>
          <a:lstStyle/>
          <a:p>
            <a:pPr algn="ctr"/>
            <a:r>
              <a:rPr sz="1000" b="0" i="0">
                <a:solidFill>
                  <a:srgbClr val="111827"/>
                </a:solidFill>
                <a:latin typeface="Segoe UI"/>
              </a:rPr>
              <a:t>290</a:t>
            </a:r>
          </a:p>
        </p:txBody>
      </p:sp>
      <p:sp>
        <p:nvSpPr>
          <p:cNvPr id="41" name="Rectangle 40"/>
          <p:cNvSpPr/>
          <p:nvPr/>
        </p:nvSpPr>
        <p:spPr>
          <a:xfrm>
            <a:off x="10698480" y="3483863"/>
            <a:ext cx="621792" cy="402336"/>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0753344" y="3529583"/>
            <a:ext cx="548640" cy="365760"/>
          </a:xfrm>
          <a:prstGeom prst="rect">
            <a:avLst/>
          </a:prstGeom>
          <a:noFill/>
        </p:spPr>
        <p:txBody>
          <a:bodyPr wrap="square">
            <a:spAutoFit/>
          </a:bodyPr>
          <a:lstStyle/>
          <a:p>
            <a:pPr algn="ctr"/>
            <a:r>
              <a:rPr sz="1000" b="0" i="0">
                <a:solidFill>
                  <a:srgbClr val="111827"/>
                </a:solidFill>
                <a:latin typeface="Segoe UI"/>
              </a:rPr>
              <a:t>13.7</a:t>
            </a:r>
          </a:p>
        </p:txBody>
      </p:sp>
      <p:sp>
        <p:nvSpPr>
          <p:cNvPr id="43" name="Rectangle 42"/>
          <p:cNvSpPr/>
          <p:nvPr/>
        </p:nvSpPr>
        <p:spPr>
          <a:xfrm>
            <a:off x="7790688" y="3886199"/>
            <a:ext cx="2176272" cy="40233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845552" y="3931919"/>
            <a:ext cx="2103120" cy="365760"/>
          </a:xfrm>
          <a:prstGeom prst="rect">
            <a:avLst/>
          </a:prstGeom>
          <a:noFill/>
        </p:spPr>
        <p:txBody>
          <a:bodyPr wrap="square">
            <a:spAutoFit/>
          </a:bodyPr>
          <a:lstStyle/>
          <a:p>
            <a:pPr algn="l"/>
            <a:r>
              <a:rPr sz="1000" b="0" i="0">
                <a:solidFill>
                  <a:srgbClr val="111827"/>
                </a:solidFill>
                <a:latin typeface="Segoe UI"/>
              </a:rPr>
              <a:t>Overweight_Level_II</a:t>
            </a:r>
          </a:p>
        </p:txBody>
      </p:sp>
      <p:sp>
        <p:nvSpPr>
          <p:cNvPr id="45" name="Rectangle 44"/>
          <p:cNvSpPr/>
          <p:nvPr/>
        </p:nvSpPr>
        <p:spPr>
          <a:xfrm>
            <a:off x="9966960" y="3886199"/>
            <a:ext cx="731520" cy="40233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0021824" y="3931919"/>
            <a:ext cx="658368" cy="365760"/>
          </a:xfrm>
          <a:prstGeom prst="rect">
            <a:avLst/>
          </a:prstGeom>
          <a:noFill/>
        </p:spPr>
        <p:txBody>
          <a:bodyPr wrap="square">
            <a:spAutoFit/>
          </a:bodyPr>
          <a:lstStyle/>
          <a:p>
            <a:pPr algn="ctr"/>
            <a:r>
              <a:rPr sz="1000" b="0" i="0">
                <a:solidFill>
                  <a:srgbClr val="111827"/>
                </a:solidFill>
                <a:latin typeface="Segoe UI"/>
              </a:rPr>
              <a:t>290</a:t>
            </a:r>
          </a:p>
        </p:txBody>
      </p:sp>
      <p:sp>
        <p:nvSpPr>
          <p:cNvPr id="47" name="Rectangle 46"/>
          <p:cNvSpPr/>
          <p:nvPr/>
        </p:nvSpPr>
        <p:spPr>
          <a:xfrm>
            <a:off x="10698480" y="3886199"/>
            <a:ext cx="621792" cy="40233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0753344" y="3931919"/>
            <a:ext cx="548640" cy="365760"/>
          </a:xfrm>
          <a:prstGeom prst="rect">
            <a:avLst/>
          </a:prstGeom>
          <a:noFill/>
        </p:spPr>
        <p:txBody>
          <a:bodyPr wrap="square">
            <a:spAutoFit/>
          </a:bodyPr>
          <a:lstStyle/>
          <a:p>
            <a:pPr algn="ctr"/>
            <a:r>
              <a:rPr sz="1000" b="0" i="0">
                <a:solidFill>
                  <a:srgbClr val="111827"/>
                </a:solidFill>
                <a:latin typeface="Segoe UI"/>
              </a:rPr>
              <a:t>13.7</a:t>
            </a:r>
          </a:p>
        </p:txBody>
      </p:sp>
      <p:sp>
        <p:nvSpPr>
          <p:cNvPr id="49" name="Rectangle 48"/>
          <p:cNvSpPr/>
          <p:nvPr/>
        </p:nvSpPr>
        <p:spPr>
          <a:xfrm>
            <a:off x="7790688" y="4288535"/>
            <a:ext cx="2176272" cy="402336"/>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845552" y="4334255"/>
            <a:ext cx="2103120" cy="365760"/>
          </a:xfrm>
          <a:prstGeom prst="rect">
            <a:avLst/>
          </a:prstGeom>
          <a:noFill/>
        </p:spPr>
        <p:txBody>
          <a:bodyPr wrap="square">
            <a:spAutoFit/>
          </a:bodyPr>
          <a:lstStyle/>
          <a:p>
            <a:pPr algn="l"/>
            <a:r>
              <a:rPr sz="1000" b="0" i="0">
                <a:solidFill>
                  <a:srgbClr val="111827"/>
                </a:solidFill>
                <a:latin typeface="Segoe UI"/>
              </a:rPr>
              <a:t>Normal_Weight</a:t>
            </a:r>
          </a:p>
        </p:txBody>
      </p:sp>
      <p:sp>
        <p:nvSpPr>
          <p:cNvPr id="51" name="Rectangle 50"/>
          <p:cNvSpPr/>
          <p:nvPr/>
        </p:nvSpPr>
        <p:spPr>
          <a:xfrm>
            <a:off x="9966960" y="4288535"/>
            <a:ext cx="731520" cy="402336"/>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021824" y="4334255"/>
            <a:ext cx="658368" cy="365760"/>
          </a:xfrm>
          <a:prstGeom prst="rect">
            <a:avLst/>
          </a:prstGeom>
          <a:noFill/>
        </p:spPr>
        <p:txBody>
          <a:bodyPr wrap="square">
            <a:spAutoFit/>
          </a:bodyPr>
          <a:lstStyle/>
          <a:p>
            <a:pPr algn="ctr"/>
            <a:r>
              <a:rPr sz="1000" b="0" i="0">
                <a:solidFill>
                  <a:srgbClr val="111827"/>
                </a:solidFill>
                <a:latin typeface="Segoe UI"/>
              </a:rPr>
              <a:t>287</a:t>
            </a:r>
          </a:p>
        </p:txBody>
      </p:sp>
      <p:sp>
        <p:nvSpPr>
          <p:cNvPr id="53" name="Rectangle 52"/>
          <p:cNvSpPr/>
          <p:nvPr/>
        </p:nvSpPr>
        <p:spPr>
          <a:xfrm>
            <a:off x="10698480" y="4288535"/>
            <a:ext cx="621792" cy="402336"/>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10753344" y="4334255"/>
            <a:ext cx="548640" cy="365760"/>
          </a:xfrm>
          <a:prstGeom prst="rect">
            <a:avLst/>
          </a:prstGeom>
          <a:noFill/>
        </p:spPr>
        <p:txBody>
          <a:bodyPr wrap="square">
            <a:spAutoFit/>
          </a:bodyPr>
          <a:lstStyle/>
          <a:p>
            <a:pPr algn="ctr"/>
            <a:r>
              <a:rPr sz="1000" b="0" i="0">
                <a:solidFill>
                  <a:srgbClr val="111827"/>
                </a:solidFill>
                <a:latin typeface="Segoe UI"/>
              </a:rPr>
              <a:t>13.6</a:t>
            </a:r>
          </a:p>
        </p:txBody>
      </p:sp>
      <p:sp>
        <p:nvSpPr>
          <p:cNvPr id="55" name="Rectangle 54"/>
          <p:cNvSpPr/>
          <p:nvPr/>
        </p:nvSpPr>
        <p:spPr>
          <a:xfrm>
            <a:off x="7790688" y="4690871"/>
            <a:ext cx="2176272" cy="40233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7845552" y="4736591"/>
            <a:ext cx="2103120" cy="365760"/>
          </a:xfrm>
          <a:prstGeom prst="rect">
            <a:avLst/>
          </a:prstGeom>
          <a:noFill/>
        </p:spPr>
        <p:txBody>
          <a:bodyPr wrap="square">
            <a:spAutoFit/>
          </a:bodyPr>
          <a:lstStyle/>
          <a:p>
            <a:pPr algn="l"/>
            <a:r>
              <a:rPr sz="1000" b="0" i="0">
                <a:solidFill>
                  <a:srgbClr val="111827"/>
                </a:solidFill>
                <a:latin typeface="Segoe UI"/>
              </a:rPr>
              <a:t>Insufficient_Weight</a:t>
            </a:r>
          </a:p>
        </p:txBody>
      </p:sp>
      <p:sp>
        <p:nvSpPr>
          <p:cNvPr id="57" name="Rectangle 56"/>
          <p:cNvSpPr/>
          <p:nvPr/>
        </p:nvSpPr>
        <p:spPr>
          <a:xfrm>
            <a:off x="9966960" y="4690871"/>
            <a:ext cx="731520" cy="40233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10021824" y="4736591"/>
            <a:ext cx="658368" cy="365760"/>
          </a:xfrm>
          <a:prstGeom prst="rect">
            <a:avLst/>
          </a:prstGeom>
          <a:noFill/>
        </p:spPr>
        <p:txBody>
          <a:bodyPr wrap="square">
            <a:spAutoFit/>
          </a:bodyPr>
          <a:lstStyle/>
          <a:p>
            <a:pPr algn="ctr"/>
            <a:r>
              <a:rPr sz="1000" b="0" i="0">
                <a:solidFill>
                  <a:srgbClr val="111827"/>
                </a:solidFill>
                <a:latin typeface="Segoe UI"/>
              </a:rPr>
              <a:t>272</a:t>
            </a:r>
          </a:p>
        </p:txBody>
      </p:sp>
      <p:sp>
        <p:nvSpPr>
          <p:cNvPr id="59" name="Rectangle 58"/>
          <p:cNvSpPr/>
          <p:nvPr/>
        </p:nvSpPr>
        <p:spPr>
          <a:xfrm>
            <a:off x="10698480" y="4690871"/>
            <a:ext cx="621792" cy="40233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10753344" y="4736591"/>
            <a:ext cx="548640" cy="365760"/>
          </a:xfrm>
          <a:prstGeom prst="rect">
            <a:avLst/>
          </a:prstGeom>
          <a:noFill/>
        </p:spPr>
        <p:txBody>
          <a:bodyPr wrap="square">
            <a:spAutoFit/>
          </a:bodyPr>
          <a:lstStyle/>
          <a:p>
            <a:pPr algn="ctr"/>
            <a:r>
              <a:rPr sz="1000" b="0" i="0">
                <a:solidFill>
                  <a:srgbClr val="111827"/>
                </a:solidFill>
                <a:latin typeface="Segoe UI"/>
              </a:rPr>
              <a:t>12.9</a:t>
            </a:r>
          </a:p>
        </p:txBody>
      </p:sp>
      <p:sp>
        <p:nvSpPr>
          <p:cNvPr id="61" name="TextBox 60"/>
          <p:cNvSpPr txBox="1"/>
          <p:nvPr/>
        </p:nvSpPr>
        <p:spPr>
          <a:xfrm>
            <a:off x="7790688" y="5257800"/>
            <a:ext cx="3840480" cy="1115568"/>
          </a:xfrm>
          <a:prstGeom prst="rect">
            <a:avLst/>
          </a:prstGeom>
          <a:noFill/>
        </p:spPr>
        <p:txBody>
          <a:bodyPr wrap="square">
            <a:spAutoFit/>
          </a:bodyPr>
          <a:lstStyle/>
          <a:p>
            <a:pPr algn="l"/>
            <a:r>
              <a:rPr sz="1200" b="0" i="1">
                <a:solidFill>
                  <a:srgbClr val="64748B"/>
                </a:solidFill>
                <a:latin typeface="Segoe UI"/>
              </a:rPr>
              <a:t>Clases balanceadas → métricas macro
son representativas y confiables.
El equipo eligió F1 macro como métrica
principal por representar el desempeño
promedio equitativo entre las 7 clases.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11480" y="256032"/>
            <a:ext cx="146304" cy="59436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1" y="182880"/>
            <a:ext cx="11173967" cy="461665"/>
          </a:xfrm>
          <a:prstGeom prst="rect">
            <a:avLst/>
          </a:prstGeom>
          <a:noFill/>
        </p:spPr>
        <p:txBody>
          <a:bodyPr wrap="square">
            <a:spAutoFit/>
          </a:bodyPr>
          <a:lstStyle/>
          <a:p>
            <a:pPr algn="l"/>
            <a:r>
              <a:rPr sz="2400" b="1" i="0" dirty="0">
                <a:solidFill>
                  <a:srgbClr val="111827"/>
                </a:solidFill>
                <a:latin typeface="Segoe UI"/>
              </a:rPr>
              <a:t>El </a:t>
            </a:r>
            <a:r>
              <a:rPr sz="2400" b="1" i="0" dirty="0" err="1">
                <a:solidFill>
                  <a:srgbClr val="111827"/>
                </a:solidFill>
                <a:latin typeface="Segoe UI"/>
              </a:rPr>
              <a:t>análisis</a:t>
            </a:r>
            <a:r>
              <a:rPr sz="2400" b="1" i="0" dirty="0">
                <a:solidFill>
                  <a:srgbClr val="111827"/>
                </a:solidFill>
                <a:latin typeface="Segoe UI"/>
              </a:rPr>
              <a:t> </a:t>
            </a:r>
            <a:r>
              <a:rPr sz="2400" b="1" i="0" dirty="0" err="1">
                <a:solidFill>
                  <a:srgbClr val="111827"/>
                </a:solidFill>
                <a:latin typeface="Segoe UI"/>
              </a:rPr>
              <a:t>combinó</a:t>
            </a:r>
            <a:r>
              <a:rPr sz="2400" b="1" i="0" dirty="0">
                <a:solidFill>
                  <a:srgbClr val="111827"/>
                </a:solidFill>
                <a:latin typeface="Segoe UI"/>
              </a:rPr>
              <a:t> </a:t>
            </a:r>
            <a:r>
              <a:rPr sz="2400" b="1" i="0" dirty="0" err="1">
                <a:solidFill>
                  <a:srgbClr val="111827"/>
                </a:solidFill>
                <a:latin typeface="Segoe UI"/>
              </a:rPr>
              <a:t>tres</a:t>
            </a:r>
            <a:r>
              <a:rPr sz="2400" b="1" i="0" dirty="0">
                <a:solidFill>
                  <a:srgbClr val="111827"/>
                </a:solidFill>
                <a:latin typeface="Segoe UI"/>
              </a:rPr>
              <a:t> </a:t>
            </a:r>
            <a:r>
              <a:rPr sz="2400" b="1" i="0" dirty="0" err="1">
                <a:solidFill>
                  <a:srgbClr val="111827"/>
                </a:solidFill>
                <a:latin typeface="Segoe UI"/>
              </a:rPr>
              <a:t>enfoques</a:t>
            </a:r>
            <a:r>
              <a:rPr sz="2400" b="1" i="0" dirty="0">
                <a:solidFill>
                  <a:srgbClr val="111827"/>
                </a:solidFill>
                <a:latin typeface="Segoe UI"/>
              </a:rPr>
              <a:t> </a:t>
            </a:r>
            <a:r>
              <a:rPr sz="2400" b="1" i="0" dirty="0" err="1">
                <a:solidFill>
                  <a:srgbClr val="111827"/>
                </a:solidFill>
                <a:latin typeface="Segoe UI"/>
              </a:rPr>
              <a:t>complementarios</a:t>
            </a:r>
            <a:r>
              <a:rPr sz="2400" b="1" i="0" dirty="0">
                <a:solidFill>
                  <a:srgbClr val="111827"/>
                </a:solidFill>
                <a:latin typeface="Segoe UI"/>
              </a:rPr>
              <a:t> </a:t>
            </a:r>
            <a:r>
              <a:rPr sz="2400" b="1" i="0" dirty="0" err="1">
                <a:solidFill>
                  <a:srgbClr val="111827"/>
                </a:solidFill>
                <a:latin typeface="Segoe UI"/>
              </a:rPr>
              <a:t>sobre</a:t>
            </a:r>
            <a:r>
              <a:rPr sz="2400" b="1" i="0" dirty="0">
                <a:solidFill>
                  <a:srgbClr val="111827"/>
                </a:solidFill>
                <a:latin typeface="Segoe UI"/>
              </a:rPr>
              <a:t> </a:t>
            </a:r>
            <a:r>
              <a:rPr sz="2400" b="1" i="0" dirty="0" err="1">
                <a:solidFill>
                  <a:srgbClr val="111827"/>
                </a:solidFill>
                <a:latin typeface="Segoe UI"/>
              </a:rPr>
              <a:t>los</a:t>
            </a:r>
            <a:r>
              <a:rPr sz="2400" b="1" i="0" dirty="0">
                <a:solidFill>
                  <a:srgbClr val="111827"/>
                </a:solidFill>
                <a:latin typeface="Segoe UI"/>
              </a:rPr>
              <a:t> </a:t>
            </a:r>
            <a:r>
              <a:rPr sz="2400" b="1" i="0" dirty="0" err="1">
                <a:solidFill>
                  <a:srgbClr val="111827"/>
                </a:solidFill>
                <a:latin typeface="Segoe UI"/>
              </a:rPr>
              <a:t>mismos</a:t>
            </a:r>
            <a:r>
              <a:rPr sz="2400" b="1" i="0" dirty="0">
                <a:solidFill>
                  <a:srgbClr val="111827"/>
                </a:solidFill>
                <a:latin typeface="Segoe UI"/>
              </a:rPr>
              <a:t> </a:t>
            </a:r>
            <a:r>
              <a:rPr sz="2400" b="1" i="0" dirty="0" err="1">
                <a:solidFill>
                  <a:srgbClr val="111827"/>
                </a:solidFill>
                <a:latin typeface="Segoe UI"/>
              </a:rPr>
              <a:t>datos</a:t>
            </a:r>
            <a:endParaRPr sz="2400" b="1" i="0" dirty="0">
              <a:solidFill>
                <a:srgbClr val="111827"/>
              </a:solidFill>
              <a:latin typeface="Segoe UI"/>
            </a:endParaRPr>
          </a:p>
        </p:txBody>
      </p:sp>
      <p:sp>
        <p:nvSpPr>
          <p:cNvPr id="5" name="TextBox 4"/>
          <p:cNvSpPr txBox="1"/>
          <p:nvPr/>
        </p:nvSpPr>
        <p:spPr>
          <a:xfrm>
            <a:off x="731520" y="731520"/>
            <a:ext cx="10881360" cy="347472"/>
          </a:xfrm>
          <a:prstGeom prst="rect">
            <a:avLst/>
          </a:prstGeom>
          <a:noFill/>
        </p:spPr>
        <p:txBody>
          <a:bodyPr wrap="square">
            <a:spAutoFit/>
          </a:bodyPr>
          <a:lstStyle/>
          <a:p>
            <a:pPr algn="l"/>
            <a:r>
              <a:rPr sz="1400" b="0" i="0">
                <a:solidFill>
                  <a:srgbClr val="64748B"/>
                </a:solidFill>
                <a:latin typeface="Segoe UI"/>
              </a:rPr>
              <a:t>Estrategia de modelamiento — mapa de técnicas aplicadas</a:t>
            </a:r>
          </a:p>
        </p:txBody>
      </p:sp>
      <p:sp>
        <p:nvSpPr>
          <p:cNvPr id="6" name="Rectangle 5"/>
          <p:cNvSpPr/>
          <p:nvPr/>
        </p:nvSpPr>
        <p:spPr>
          <a:xfrm>
            <a:off x="411480" y="1133856"/>
            <a:ext cx="11365992"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55680" y="6510528"/>
            <a:ext cx="914400" cy="274320"/>
          </a:xfrm>
          <a:prstGeom prst="rect">
            <a:avLst/>
          </a:prstGeom>
          <a:noFill/>
        </p:spPr>
        <p:txBody>
          <a:bodyPr wrap="square">
            <a:spAutoFit/>
          </a:bodyPr>
          <a:lstStyle/>
          <a:p>
            <a:pPr algn="r"/>
            <a:r>
              <a:rPr sz="900" b="0" i="0">
                <a:solidFill>
                  <a:srgbClr val="64748B"/>
                </a:solidFill>
                <a:latin typeface="Segoe UI"/>
              </a:rPr>
              <a:t>06 / 20</a:t>
            </a:r>
          </a:p>
        </p:txBody>
      </p:sp>
      <p:sp>
        <p:nvSpPr>
          <p:cNvPr id="8" name="Rounded Rectangle 7"/>
          <p:cNvSpPr/>
          <p:nvPr/>
        </p:nvSpPr>
        <p:spPr>
          <a:xfrm>
            <a:off x="411480" y="1298448"/>
            <a:ext cx="3703320" cy="3108960"/>
          </a:xfrm>
          <a:prstGeom prst="roundRect">
            <a:avLst>
              <a:gd name="adj" fmla="val 7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11480" y="1298448"/>
            <a:ext cx="109728" cy="3108960"/>
          </a:xfrm>
          <a:prstGeom prst="roundRect">
            <a:avLst>
              <a:gd name="adj" fmla="val 7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4088" y="1435608"/>
            <a:ext cx="3291840" cy="548640"/>
          </a:xfrm>
          <a:prstGeom prst="rect">
            <a:avLst/>
          </a:prstGeom>
          <a:noFill/>
        </p:spPr>
        <p:txBody>
          <a:bodyPr wrap="square">
            <a:spAutoFit/>
          </a:bodyPr>
          <a:lstStyle/>
          <a:p>
            <a:pPr algn="l"/>
            <a:r>
              <a:rPr sz="1600" b="1" i="0">
                <a:solidFill>
                  <a:srgbClr val="7C3AED"/>
                </a:solidFill>
                <a:latin typeface="Segoe UI"/>
              </a:rPr>
              <a:t>CLUSTERING
(no supervisado)</a:t>
            </a:r>
          </a:p>
        </p:txBody>
      </p:sp>
      <p:sp>
        <p:nvSpPr>
          <p:cNvPr id="11" name="TextBox 10"/>
          <p:cNvSpPr txBox="1"/>
          <p:nvPr/>
        </p:nvSpPr>
        <p:spPr>
          <a:xfrm>
            <a:off x="704088" y="2084831"/>
            <a:ext cx="3246120" cy="2194560"/>
          </a:xfrm>
          <a:prstGeom prst="rect">
            <a:avLst/>
          </a:prstGeom>
          <a:noFill/>
        </p:spPr>
        <p:txBody>
          <a:bodyPr wrap="square">
            <a:spAutoFit/>
          </a:bodyPr>
          <a:lstStyle/>
          <a:p>
            <a:pPr>
              <a:spcBef>
                <a:spcPts val="600"/>
              </a:spcBef>
            </a:pPr>
            <a:r>
              <a:rPr sz="1200">
                <a:solidFill>
                  <a:srgbClr val="111827"/>
                </a:solidFill>
                <a:latin typeface="Segoe UI"/>
              </a:rPr>
              <a:t>•  Objetivo: encontrar perfiles de riesgo sin usar el target</a:t>
            </a:r>
          </a:p>
          <a:p>
            <a:pPr>
              <a:spcBef>
                <a:spcPts val="600"/>
              </a:spcBef>
            </a:pPr>
            <a:r>
              <a:rPr sz="1200">
                <a:solidFill>
                  <a:srgbClr val="111827"/>
                </a:solidFill>
                <a:latin typeface="Segoe UI"/>
              </a:rPr>
              <a:t>•  Algoritmos comparados: K-Means, GMM, Agglomerative, DBSCAN</a:t>
            </a:r>
          </a:p>
          <a:p>
            <a:pPr>
              <a:spcBef>
                <a:spcPts val="600"/>
              </a:spcBef>
            </a:pPr>
            <a:r>
              <a:rPr sz="1200">
                <a:solidFill>
                  <a:srgbClr val="111827"/>
                </a:solidFill>
                <a:latin typeface="Segoe UI"/>
              </a:rPr>
              <a:t>•  Resultado: 4 perfiles diferenciados por IMC y actividad física</a:t>
            </a:r>
          </a:p>
        </p:txBody>
      </p:sp>
      <p:sp>
        <p:nvSpPr>
          <p:cNvPr id="12" name="Rounded Rectangle 11"/>
          <p:cNvSpPr/>
          <p:nvPr/>
        </p:nvSpPr>
        <p:spPr>
          <a:xfrm>
            <a:off x="4297680" y="1298448"/>
            <a:ext cx="3703320" cy="3108960"/>
          </a:xfrm>
          <a:prstGeom prst="roundRect">
            <a:avLst>
              <a:gd name="adj" fmla="val 7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297680" y="1298448"/>
            <a:ext cx="109728" cy="3108960"/>
          </a:xfrm>
          <a:prstGeom prst="roundRect">
            <a:avLst>
              <a:gd name="adj" fmla="val 7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90288" y="1435608"/>
            <a:ext cx="3291840" cy="548640"/>
          </a:xfrm>
          <a:prstGeom prst="rect">
            <a:avLst/>
          </a:prstGeom>
          <a:noFill/>
        </p:spPr>
        <p:txBody>
          <a:bodyPr wrap="square">
            <a:spAutoFit/>
          </a:bodyPr>
          <a:lstStyle/>
          <a:p>
            <a:pPr algn="l"/>
            <a:r>
              <a:rPr sz="1600" b="1" i="0">
                <a:solidFill>
                  <a:srgbClr val="2563EB"/>
                </a:solidFill>
                <a:latin typeface="Segoe UI"/>
              </a:rPr>
              <a:t>CLASIFICACIÓN
(supervisado)</a:t>
            </a:r>
          </a:p>
        </p:txBody>
      </p:sp>
      <p:sp>
        <p:nvSpPr>
          <p:cNvPr id="15" name="TextBox 14"/>
          <p:cNvSpPr txBox="1"/>
          <p:nvPr/>
        </p:nvSpPr>
        <p:spPr>
          <a:xfrm>
            <a:off x="4590288" y="2084831"/>
            <a:ext cx="3246120" cy="2194560"/>
          </a:xfrm>
          <a:prstGeom prst="rect">
            <a:avLst/>
          </a:prstGeom>
          <a:noFill/>
        </p:spPr>
        <p:txBody>
          <a:bodyPr wrap="square">
            <a:spAutoFit/>
          </a:bodyPr>
          <a:lstStyle/>
          <a:p>
            <a:pPr>
              <a:spcBef>
                <a:spcPts val="600"/>
              </a:spcBef>
            </a:pPr>
            <a:r>
              <a:rPr sz="1200">
                <a:solidFill>
                  <a:srgbClr val="111827"/>
                </a:solidFill>
                <a:latin typeface="Segoe UI"/>
              </a:rPr>
              <a:t>•  Objetivo: predecir el nivel de obesidad desde los hábitos</a:t>
            </a:r>
          </a:p>
          <a:p>
            <a:pPr>
              <a:spcBef>
                <a:spcPts val="600"/>
              </a:spcBef>
            </a:pPr>
            <a:r>
              <a:rPr sz="1200">
                <a:solidFill>
                  <a:srgbClr val="111827"/>
                </a:solidFill>
                <a:latin typeface="Segoe UI"/>
              </a:rPr>
              <a:t>•  6 algoritmos comparados: RF, SVM, XGBoost, Árbol, LogReg, KNN</a:t>
            </a:r>
          </a:p>
          <a:p>
            <a:pPr>
              <a:spcBef>
                <a:spcPts val="600"/>
              </a:spcBef>
            </a:pPr>
            <a:r>
              <a:rPr sz="1200">
                <a:solidFill>
                  <a:srgbClr val="111827"/>
                </a:solidFill>
                <a:latin typeface="Segoe UI"/>
              </a:rPr>
              <a:t>•  Mejor en test: XGBoost; Random Forest, el más estable en validación cruzada</a:t>
            </a:r>
          </a:p>
        </p:txBody>
      </p:sp>
      <p:sp>
        <p:nvSpPr>
          <p:cNvPr id="16" name="Rounded Rectangle 15"/>
          <p:cNvSpPr/>
          <p:nvPr/>
        </p:nvSpPr>
        <p:spPr>
          <a:xfrm>
            <a:off x="8183879" y="1298448"/>
            <a:ext cx="3703320" cy="3108960"/>
          </a:xfrm>
          <a:prstGeom prst="roundRect">
            <a:avLst>
              <a:gd name="adj" fmla="val 7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183879" y="1298448"/>
            <a:ext cx="109728" cy="3108960"/>
          </a:xfrm>
          <a:prstGeom prst="roundRect">
            <a:avLst>
              <a:gd name="adj" fmla="val 7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76487" y="1435608"/>
            <a:ext cx="3291840" cy="548640"/>
          </a:xfrm>
          <a:prstGeom prst="rect">
            <a:avLst/>
          </a:prstGeom>
          <a:noFill/>
        </p:spPr>
        <p:txBody>
          <a:bodyPr wrap="square">
            <a:spAutoFit/>
          </a:bodyPr>
          <a:lstStyle/>
          <a:p>
            <a:pPr algn="l"/>
            <a:r>
              <a:rPr sz="1600" b="1" i="0">
                <a:solidFill>
                  <a:srgbClr val="16A34A"/>
                </a:solidFill>
                <a:latin typeface="Segoe UI"/>
              </a:rPr>
              <a:t>ASOCIACIÓN
(FP-Growth)</a:t>
            </a:r>
          </a:p>
        </p:txBody>
      </p:sp>
      <p:sp>
        <p:nvSpPr>
          <p:cNvPr id="19" name="TextBox 18"/>
          <p:cNvSpPr txBox="1"/>
          <p:nvPr/>
        </p:nvSpPr>
        <p:spPr>
          <a:xfrm>
            <a:off x="8476487" y="2084831"/>
            <a:ext cx="3246120" cy="2194560"/>
          </a:xfrm>
          <a:prstGeom prst="rect">
            <a:avLst/>
          </a:prstGeom>
          <a:noFill/>
        </p:spPr>
        <p:txBody>
          <a:bodyPr wrap="square">
            <a:spAutoFit/>
          </a:bodyPr>
          <a:lstStyle/>
          <a:p>
            <a:pPr>
              <a:spcBef>
                <a:spcPts val="600"/>
              </a:spcBef>
            </a:pPr>
            <a:r>
              <a:rPr sz="1200">
                <a:solidFill>
                  <a:srgbClr val="111827"/>
                </a:solidFill>
                <a:latin typeface="Segoe UI"/>
              </a:rPr>
              <a:t>•  Objetivo: descubrir patrones de hábitos asociados a cada nivel</a:t>
            </a:r>
          </a:p>
          <a:p>
            <a:pPr>
              <a:spcBef>
                <a:spcPts val="600"/>
              </a:spcBef>
            </a:pPr>
            <a:r>
              <a:rPr sz="1200">
                <a:solidFill>
                  <a:srgbClr val="111827"/>
                </a:solidFill>
                <a:latin typeface="Segoe UI"/>
              </a:rPr>
              <a:t>•  7.312 itemsets frecuentes · 134.739 reglas generadas</a:t>
            </a:r>
          </a:p>
          <a:p>
            <a:pPr>
              <a:spcBef>
                <a:spcPts val="600"/>
              </a:spcBef>
            </a:pPr>
            <a:r>
              <a:rPr sz="1200">
                <a:solidFill>
                  <a:srgbClr val="111827"/>
                </a:solidFill>
                <a:latin typeface="Segoe UI"/>
              </a:rPr>
              <a:t>•  Selección: Lift &gt; 6 + consecuente = nivel de obesidad</a:t>
            </a:r>
          </a:p>
        </p:txBody>
      </p:sp>
      <p:sp>
        <p:nvSpPr>
          <p:cNvPr id="20" name="Rounded Rectangle 19"/>
          <p:cNvSpPr/>
          <p:nvPr/>
        </p:nvSpPr>
        <p:spPr>
          <a:xfrm>
            <a:off x="411480" y="4572000"/>
            <a:ext cx="11384280" cy="1874519"/>
          </a:xfrm>
          <a:prstGeom prst="roundRect">
            <a:avLst>
              <a:gd name="adj" fmla="val 7000"/>
            </a:avLst>
          </a:prstGeom>
          <a:solidFill>
            <a:srgbClr val="F5F3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411480" y="4572000"/>
            <a:ext cx="109728" cy="1874519"/>
          </a:xfrm>
          <a:prstGeom prst="roundRect">
            <a:avLst>
              <a:gd name="adj" fmla="val 7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13232" y="4709160"/>
            <a:ext cx="10881360" cy="347472"/>
          </a:xfrm>
          <a:prstGeom prst="rect">
            <a:avLst/>
          </a:prstGeom>
          <a:noFill/>
        </p:spPr>
        <p:txBody>
          <a:bodyPr wrap="square">
            <a:spAutoFit/>
          </a:bodyPr>
          <a:lstStyle/>
          <a:p>
            <a:pPr algn="l"/>
            <a:r>
              <a:rPr sz="1500" b="1" i="0">
                <a:solidFill>
                  <a:srgbClr val="7C3AED"/>
                </a:solidFill>
                <a:latin typeface="Segoe UI"/>
              </a:rPr>
              <a:t>Experimentos de mejora aplicados sobre la clasificación</a:t>
            </a:r>
          </a:p>
        </p:txBody>
      </p:sp>
      <p:sp>
        <p:nvSpPr>
          <p:cNvPr id="23" name="TextBox 22"/>
          <p:cNvSpPr txBox="1"/>
          <p:nvPr/>
        </p:nvSpPr>
        <p:spPr>
          <a:xfrm>
            <a:off x="713232" y="5102352"/>
            <a:ext cx="10881360" cy="1234440"/>
          </a:xfrm>
          <a:prstGeom prst="rect">
            <a:avLst/>
          </a:prstGeom>
          <a:noFill/>
        </p:spPr>
        <p:txBody>
          <a:bodyPr wrap="square">
            <a:spAutoFit/>
          </a:bodyPr>
          <a:lstStyle/>
          <a:p>
            <a:pPr>
              <a:spcBef>
                <a:spcPts val="400"/>
              </a:spcBef>
            </a:pPr>
            <a:r>
              <a:rPr sz="1200">
                <a:solidFill>
                  <a:srgbClr val="111827"/>
                </a:solidFill>
                <a:latin typeface="Segoe UI"/>
              </a:rPr>
              <a:t>•  Reducción dimensional: PCA (14 comps, 95% varianza) y TruncatedSVD (11 comps, 90% varianza)</a:t>
            </a:r>
          </a:p>
          <a:p>
            <a:pPr>
              <a:spcBef>
                <a:spcPts val="400"/>
              </a:spcBef>
            </a:pPr>
            <a:r>
              <a:rPr sz="1200">
                <a:solidFill>
                  <a:srgbClr val="111827"/>
                </a:solidFill>
                <a:latin typeface="Segoe UI"/>
              </a:rPr>
              <a:t>•  Ingeniería de características: 5→6 variables derivadas (BMI, scores, interacciones)</a:t>
            </a:r>
          </a:p>
          <a:p>
            <a:pPr>
              <a:spcBef>
                <a:spcPts val="400"/>
              </a:spcBef>
            </a:pPr>
            <a:r>
              <a:rPr sz="1200">
                <a:solidFill>
                  <a:srgbClr val="111827"/>
                </a:solidFill>
                <a:latin typeface="Segoe UI"/>
              </a:rPr>
              <a:t>•  Tratamiento ordinal semántico de CAEC y CALC + validación cruzada k=5 + RandomizedSearchCV</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11480" y="256032"/>
            <a:ext cx="146304" cy="59436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182880"/>
            <a:ext cx="10881360" cy="830997"/>
          </a:xfrm>
          <a:prstGeom prst="rect">
            <a:avLst/>
          </a:prstGeom>
          <a:noFill/>
        </p:spPr>
        <p:txBody>
          <a:bodyPr wrap="square">
            <a:spAutoFit/>
          </a:bodyPr>
          <a:lstStyle/>
          <a:p>
            <a:pPr algn="l"/>
            <a:r>
              <a:rPr sz="2400" b="1" i="0" dirty="0">
                <a:solidFill>
                  <a:srgbClr val="111827"/>
                </a:solidFill>
                <a:latin typeface="Segoe UI"/>
              </a:rPr>
              <a:t>GMM </a:t>
            </a:r>
            <a:r>
              <a:rPr sz="2400" b="1" i="0" dirty="0" err="1">
                <a:solidFill>
                  <a:srgbClr val="111827"/>
                </a:solidFill>
                <a:latin typeface="Segoe UI"/>
              </a:rPr>
              <a:t>seleccionado</a:t>
            </a:r>
            <a:r>
              <a:rPr sz="2400" b="1" i="0" dirty="0">
                <a:solidFill>
                  <a:srgbClr val="111827"/>
                </a:solidFill>
                <a:latin typeface="Segoe UI"/>
              </a:rPr>
              <a:t> </a:t>
            </a:r>
            <a:r>
              <a:rPr sz="2400" b="1" i="0" dirty="0" err="1">
                <a:solidFill>
                  <a:srgbClr val="111827"/>
                </a:solidFill>
                <a:latin typeface="Segoe UI"/>
              </a:rPr>
              <a:t>por</a:t>
            </a:r>
            <a:r>
              <a:rPr sz="2400" b="1" i="0" dirty="0">
                <a:solidFill>
                  <a:srgbClr val="111827"/>
                </a:solidFill>
                <a:latin typeface="Segoe UI"/>
              </a:rPr>
              <a:t> </a:t>
            </a:r>
            <a:r>
              <a:rPr sz="2400" b="1" i="0" dirty="0" err="1">
                <a:solidFill>
                  <a:srgbClr val="111827"/>
                </a:solidFill>
                <a:latin typeface="Segoe UI"/>
              </a:rPr>
              <a:t>adecuación</a:t>
            </a:r>
            <a:r>
              <a:rPr sz="2400" b="1" i="0" dirty="0">
                <a:solidFill>
                  <a:srgbClr val="111827"/>
                </a:solidFill>
                <a:latin typeface="Segoe UI"/>
              </a:rPr>
              <a:t> a la </a:t>
            </a:r>
            <a:r>
              <a:rPr sz="2400" b="1" i="0" dirty="0" err="1">
                <a:solidFill>
                  <a:srgbClr val="111827"/>
                </a:solidFill>
                <a:latin typeface="Segoe UI"/>
              </a:rPr>
              <a:t>estructura</a:t>
            </a:r>
            <a:r>
              <a:rPr sz="2400" b="1" i="0" dirty="0">
                <a:solidFill>
                  <a:srgbClr val="111827"/>
                </a:solidFill>
                <a:latin typeface="Segoe UI"/>
              </a:rPr>
              <a:t> no globular — no </a:t>
            </a:r>
            <a:r>
              <a:rPr sz="2400" b="1" i="0" dirty="0" err="1">
                <a:solidFill>
                  <a:srgbClr val="111827"/>
                </a:solidFill>
                <a:latin typeface="Segoe UI"/>
              </a:rPr>
              <a:t>por</a:t>
            </a:r>
            <a:r>
              <a:rPr sz="2400" b="1" i="0" dirty="0">
                <a:solidFill>
                  <a:srgbClr val="111827"/>
                </a:solidFill>
                <a:latin typeface="Segoe UI"/>
              </a:rPr>
              <a:t> </a:t>
            </a:r>
            <a:r>
              <a:rPr sz="2400" b="1" i="0" dirty="0" err="1">
                <a:solidFill>
                  <a:srgbClr val="111827"/>
                </a:solidFill>
                <a:latin typeface="Segoe UI"/>
              </a:rPr>
              <a:t>agregación</a:t>
            </a:r>
            <a:r>
              <a:rPr sz="2400" b="1" i="0" dirty="0">
                <a:solidFill>
                  <a:srgbClr val="111827"/>
                </a:solidFill>
                <a:latin typeface="Segoe UI"/>
              </a:rPr>
              <a:t> de </a:t>
            </a:r>
            <a:r>
              <a:rPr sz="2400" b="1" i="0" dirty="0" err="1">
                <a:solidFill>
                  <a:srgbClr val="111827"/>
                </a:solidFill>
                <a:latin typeface="Segoe UI"/>
              </a:rPr>
              <a:t>métricas</a:t>
            </a:r>
            <a:endParaRPr sz="2400" b="1" i="0" dirty="0">
              <a:solidFill>
                <a:srgbClr val="111827"/>
              </a:solidFill>
              <a:latin typeface="Segoe UI"/>
            </a:endParaRPr>
          </a:p>
        </p:txBody>
      </p:sp>
      <p:sp>
        <p:nvSpPr>
          <p:cNvPr id="5" name="TextBox 4"/>
          <p:cNvSpPr txBox="1"/>
          <p:nvPr/>
        </p:nvSpPr>
        <p:spPr>
          <a:xfrm>
            <a:off x="4562856" y="674110"/>
            <a:ext cx="10881360" cy="347472"/>
          </a:xfrm>
          <a:prstGeom prst="rect">
            <a:avLst/>
          </a:prstGeom>
          <a:noFill/>
        </p:spPr>
        <p:txBody>
          <a:bodyPr wrap="square">
            <a:spAutoFit/>
          </a:bodyPr>
          <a:lstStyle/>
          <a:p>
            <a:pPr algn="l"/>
            <a:r>
              <a:rPr sz="1400" b="0" i="0" dirty="0">
                <a:solidFill>
                  <a:srgbClr val="64748B"/>
                </a:solidFill>
                <a:latin typeface="Segoe UI"/>
              </a:rPr>
              <a:t>Clustering — </a:t>
            </a:r>
            <a:r>
              <a:rPr sz="1400" b="0" i="0" dirty="0" err="1">
                <a:solidFill>
                  <a:srgbClr val="64748B"/>
                </a:solidFill>
                <a:latin typeface="Segoe UI"/>
              </a:rPr>
              <a:t>criterio</a:t>
            </a:r>
            <a:r>
              <a:rPr sz="1400" b="0" i="0" dirty="0">
                <a:solidFill>
                  <a:srgbClr val="64748B"/>
                </a:solidFill>
                <a:latin typeface="Segoe UI"/>
              </a:rPr>
              <a:t> de </a:t>
            </a:r>
            <a:r>
              <a:rPr sz="1400" b="0" i="0" dirty="0" err="1">
                <a:solidFill>
                  <a:srgbClr val="64748B"/>
                </a:solidFill>
                <a:latin typeface="Segoe UI"/>
              </a:rPr>
              <a:t>selección</a:t>
            </a:r>
            <a:r>
              <a:rPr sz="1400" b="0" i="0" dirty="0">
                <a:solidFill>
                  <a:srgbClr val="64748B"/>
                </a:solidFill>
                <a:latin typeface="Segoe UI"/>
              </a:rPr>
              <a:t> </a:t>
            </a:r>
            <a:r>
              <a:rPr sz="1400" b="0" i="0" dirty="0" err="1">
                <a:solidFill>
                  <a:srgbClr val="64748B"/>
                </a:solidFill>
                <a:latin typeface="Segoe UI"/>
              </a:rPr>
              <a:t>riguroso</a:t>
            </a:r>
            <a:endParaRPr sz="1400" b="0" i="0" dirty="0">
              <a:solidFill>
                <a:srgbClr val="64748B"/>
              </a:solidFill>
              <a:latin typeface="Segoe UI"/>
            </a:endParaRPr>
          </a:p>
        </p:txBody>
      </p:sp>
      <p:sp>
        <p:nvSpPr>
          <p:cNvPr id="6" name="Rectangle 5"/>
          <p:cNvSpPr/>
          <p:nvPr/>
        </p:nvSpPr>
        <p:spPr>
          <a:xfrm>
            <a:off x="411480" y="1133856"/>
            <a:ext cx="11365992"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55680" y="6510528"/>
            <a:ext cx="914400" cy="274320"/>
          </a:xfrm>
          <a:prstGeom prst="rect">
            <a:avLst/>
          </a:prstGeom>
          <a:noFill/>
        </p:spPr>
        <p:txBody>
          <a:bodyPr wrap="square">
            <a:spAutoFit/>
          </a:bodyPr>
          <a:lstStyle/>
          <a:p>
            <a:pPr algn="r"/>
            <a:r>
              <a:rPr sz="900" b="0" i="0">
                <a:solidFill>
                  <a:srgbClr val="64748B"/>
                </a:solidFill>
                <a:latin typeface="Segoe UI"/>
              </a:rPr>
              <a:t>07 / 20</a:t>
            </a:r>
          </a:p>
        </p:txBody>
      </p:sp>
      <p:sp>
        <p:nvSpPr>
          <p:cNvPr id="9" name="Rounded Rectangle 8"/>
          <p:cNvSpPr/>
          <p:nvPr/>
        </p:nvSpPr>
        <p:spPr>
          <a:xfrm>
            <a:off x="411480" y="1298448"/>
            <a:ext cx="6400800" cy="2574388"/>
          </a:xfrm>
          <a:prstGeom prst="roundRect">
            <a:avLst>
              <a:gd name="adj" fmla="val 7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06_evaluacion_clusters.png"/>
          <p:cNvPicPr>
            <a:picLocks noChangeAspect="1"/>
          </p:cNvPicPr>
          <p:nvPr/>
        </p:nvPicPr>
        <p:blipFill>
          <a:blip r:embed="rId2"/>
          <a:stretch>
            <a:fillRect/>
          </a:stretch>
        </p:blipFill>
        <p:spPr>
          <a:xfrm>
            <a:off x="502920" y="1389888"/>
            <a:ext cx="6217920" cy="2391508"/>
          </a:xfrm>
          <a:prstGeom prst="rect">
            <a:avLst/>
          </a:prstGeom>
        </p:spPr>
      </p:pic>
      <p:sp>
        <p:nvSpPr>
          <p:cNvPr id="10" name="TextBox 9"/>
          <p:cNvSpPr txBox="1"/>
          <p:nvPr/>
        </p:nvSpPr>
        <p:spPr>
          <a:xfrm>
            <a:off x="6629400" y="1298448"/>
            <a:ext cx="5212080" cy="347472"/>
          </a:xfrm>
          <a:prstGeom prst="rect">
            <a:avLst/>
          </a:prstGeom>
          <a:noFill/>
        </p:spPr>
        <p:txBody>
          <a:bodyPr wrap="square">
            <a:spAutoFit/>
          </a:bodyPr>
          <a:lstStyle/>
          <a:p>
            <a:pPr algn="l"/>
            <a:r>
              <a:rPr sz="1300" b="1" i="0">
                <a:solidFill>
                  <a:srgbClr val="111827"/>
                </a:solidFill>
                <a:latin typeface="Segoe UI"/>
              </a:rPr>
              <a:t>Comparación de algoritmos de clustering — solo candidatos válidos (≥5% mínimo)</a:t>
            </a:r>
          </a:p>
        </p:txBody>
      </p:sp>
      <p:sp>
        <p:nvSpPr>
          <p:cNvPr id="11" name="Rectangle 10"/>
          <p:cNvSpPr/>
          <p:nvPr/>
        </p:nvSpPr>
        <p:spPr>
          <a:xfrm>
            <a:off x="6629400" y="1719072"/>
            <a:ext cx="1828800" cy="420624"/>
          </a:xfrm>
          <a:prstGeom prst="rect">
            <a:avLst/>
          </a:prstGeom>
          <a:solidFill>
            <a:srgbClr val="0F172A"/>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84264" y="1764792"/>
            <a:ext cx="1755648" cy="384048"/>
          </a:xfrm>
          <a:prstGeom prst="rect">
            <a:avLst/>
          </a:prstGeom>
          <a:noFill/>
        </p:spPr>
        <p:txBody>
          <a:bodyPr wrap="square">
            <a:spAutoFit/>
          </a:bodyPr>
          <a:lstStyle/>
          <a:p>
            <a:pPr algn="l"/>
            <a:r>
              <a:rPr sz="900" b="1" i="0">
                <a:solidFill>
                  <a:srgbClr val="FFFFFF"/>
                </a:solidFill>
                <a:latin typeface="Segoe UI"/>
              </a:rPr>
              <a:t>Algoritmo</a:t>
            </a:r>
          </a:p>
        </p:txBody>
      </p:sp>
      <p:sp>
        <p:nvSpPr>
          <p:cNvPr id="13" name="Rectangle 12"/>
          <p:cNvSpPr/>
          <p:nvPr/>
        </p:nvSpPr>
        <p:spPr>
          <a:xfrm>
            <a:off x="8458200" y="1719072"/>
            <a:ext cx="777240" cy="420624"/>
          </a:xfrm>
          <a:prstGeom prst="rect">
            <a:avLst/>
          </a:prstGeom>
          <a:solidFill>
            <a:srgbClr val="0F172A"/>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13064" y="1764792"/>
            <a:ext cx="704088" cy="384048"/>
          </a:xfrm>
          <a:prstGeom prst="rect">
            <a:avLst/>
          </a:prstGeom>
          <a:noFill/>
        </p:spPr>
        <p:txBody>
          <a:bodyPr wrap="square">
            <a:spAutoFit/>
          </a:bodyPr>
          <a:lstStyle/>
          <a:p>
            <a:pPr algn="ctr"/>
            <a:r>
              <a:rPr sz="900" b="1" i="0">
                <a:solidFill>
                  <a:srgbClr val="FFFFFF"/>
                </a:solidFill>
                <a:latin typeface="Segoe UI"/>
              </a:rPr>
              <a:t>Silhouette</a:t>
            </a:r>
          </a:p>
        </p:txBody>
      </p:sp>
      <p:sp>
        <p:nvSpPr>
          <p:cNvPr id="15" name="Rectangle 14"/>
          <p:cNvSpPr/>
          <p:nvPr/>
        </p:nvSpPr>
        <p:spPr>
          <a:xfrm>
            <a:off x="9235440" y="1719072"/>
            <a:ext cx="713232" cy="420624"/>
          </a:xfrm>
          <a:prstGeom prst="rect">
            <a:avLst/>
          </a:prstGeom>
          <a:solidFill>
            <a:srgbClr val="0F172A"/>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290304" y="1764792"/>
            <a:ext cx="640080" cy="384048"/>
          </a:xfrm>
          <a:prstGeom prst="rect">
            <a:avLst/>
          </a:prstGeom>
          <a:noFill/>
        </p:spPr>
        <p:txBody>
          <a:bodyPr wrap="square">
            <a:spAutoFit/>
          </a:bodyPr>
          <a:lstStyle/>
          <a:p>
            <a:pPr algn="ctr"/>
            <a:r>
              <a:rPr sz="900" b="1" i="0">
                <a:solidFill>
                  <a:srgbClr val="FFFFFF"/>
                </a:solidFill>
                <a:latin typeface="Segoe UI"/>
              </a:rPr>
              <a:t>Davies-B.</a:t>
            </a:r>
          </a:p>
        </p:txBody>
      </p:sp>
      <p:sp>
        <p:nvSpPr>
          <p:cNvPr id="17" name="Rectangle 16"/>
          <p:cNvSpPr/>
          <p:nvPr/>
        </p:nvSpPr>
        <p:spPr>
          <a:xfrm>
            <a:off x="9948672" y="1719072"/>
            <a:ext cx="612648" cy="420624"/>
          </a:xfrm>
          <a:prstGeom prst="rect">
            <a:avLst/>
          </a:prstGeom>
          <a:solidFill>
            <a:srgbClr val="0F172A"/>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003536" y="1764792"/>
            <a:ext cx="539496" cy="384048"/>
          </a:xfrm>
          <a:prstGeom prst="rect">
            <a:avLst/>
          </a:prstGeom>
          <a:noFill/>
        </p:spPr>
        <p:txBody>
          <a:bodyPr wrap="square">
            <a:spAutoFit/>
          </a:bodyPr>
          <a:lstStyle/>
          <a:p>
            <a:pPr algn="ctr"/>
            <a:r>
              <a:rPr sz="900" b="1" i="0">
                <a:solidFill>
                  <a:srgbClr val="FFFFFF"/>
                </a:solidFill>
                <a:latin typeface="Segoe UI"/>
              </a:rPr>
              <a:t>Cal-Harab.</a:t>
            </a:r>
          </a:p>
        </p:txBody>
      </p:sp>
      <p:sp>
        <p:nvSpPr>
          <p:cNvPr id="19" name="Rectangle 18"/>
          <p:cNvSpPr/>
          <p:nvPr/>
        </p:nvSpPr>
        <p:spPr>
          <a:xfrm>
            <a:off x="10561320" y="1719072"/>
            <a:ext cx="594360" cy="420624"/>
          </a:xfrm>
          <a:prstGeom prst="rect">
            <a:avLst/>
          </a:prstGeom>
          <a:solidFill>
            <a:srgbClr val="0F172A"/>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616184" y="1764792"/>
            <a:ext cx="521208" cy="384048"/>
          </a:xfrm>
          <a:prstGeom prst="rect">
            <a:avLst/>
          </a:prstGeom>
          <a:noFill/>
        </p:spPr>
        <p:txBody>
          <a:bodyPr wrap="square">
            <a:spAutoFit/>
          </a:bodyPr>
          <a:lstStyle/>
          <a:p>
            <a:pPr algn="ctr"/>
            <a:r>
              <a:rPr sz="900" b="1" i="0">
                <a:solidFill>
                  <a:srgbClr val="FFFFFF"/>
                </a:solidFill>
                <a:latin typeface="Segoe UI"/>
              </a:rPr>
              <a:t>Tam.Min%</a:t>
            </a:r>
          </a:p>
        </p:txBody>
      </p:sp>
      <p:sp>
        <p:nvSpPr>
          <p:cNvPr id="21" name="Rectangle 20"/>
          <p:cNvSpPr/>
          <p:nvPr/>
        </p:nvSpPr>
        <p:spPr>
          <a:xfrm>
            <a:off x="11155680" y="1719072"/>
            <a:ext cx="621792" cy="420624"/>
          </a:xfrm>
          <a:prstGeom prst="rect">
            <a:avLst/>
          </a:prstGeom>
          <a:solidFill>
            <a:srgbClr val="0F172A"/>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1210544" y="1764792"/>
            <a:ext cx="548640" cy="384048"/>
          </a:xfrm>
          <a:prstGeom prst="rect">
            <a:avLst/>
          </a:prstGeom>
          <a:noFill/>
        </p:spPr>
        <p:txBody>
          <a:bodyPr wrap="square">
            <a:spAutoFit/>
          </a:bodyPr>
          <a:lstStyle/>
          <a:p>
            <a:pPr algn="ctr"/>
            <a:r>
              <a:rPr sz="900" b="1" i="0">
                <a:solidFill>
                  <a:srgbClr val="FFFFFF"/>
                </a:solidFill>
                <a:latin typeface="Segoe UI"/>
              </a:rPr>
              <a:t>Válido</a:t>
            </a:r>
          </a:p>
        </p:txBody>
      </p:sp>
      <p:sp>
        <p:nvSpPr>
          <p:cNvPr id="23" name="Rectangle 22"/>
          <p:cNvSpPr/>
          <p:nvPr/>
        </p:nvSpPr>
        <p:spPr>
          <a:xfrm>
            <a:off x="6629400" y="2139696"/>
            <a:ext cx="1828800" cy="420624"/>
          </a:xfrm>
          <a:prstGeom prst="rect">
            <a:avLst/>
          </a:prstGeom>
          <a:solidFill>
            <a:srgbClr val="DCFCE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684264" y="2185416"/>
            <a:ext cx="1755648" cy="384048"/>
          </a:xfrm>
          <a:prstGeom prst="rect">
            <a:avLst/>
          </a:prstGeom>
          <a:noFill/>
        </p:spPr>
        <p:txBody>
          <a:bodyPr wrap="square">
            <a:spAutoFit/>
          </a:bodyPr>
          <a:lstStyle/>
          <a:p>
            <a:pPr algn="l"/>
            <a:r>
              <a:rPr sz="900" b="1" i="0">
                <a:solidFill>
                  <a:srgbClr val="2563EB"/>
                </a:solidFill>
                <a:latin typeface="Segoe UI"/>
              </a:rPr>
              <a:t>K-Means</a:t>
            </a:r>
          </a:p>
        </p:txBody>
      </p:sp>
      <p:sp>
        <p:nvSpPr>
          <p:cNvPr id="25" name="Rectangle 24"/>
          <p:cNvSpPr/>
          <p:nvPr/>
        </p:nvSpPr>
        <p:spPr>
          <a:xfrm>
            <a:off x="8458200" y="2139696"/>
            <a:ext cx="777240" cy="420624"/>
          </a:xfrm>
          <a:prstGeom prst="rect">
            <a:avLst/>
          </a:prstGeom>
          <a:solidFill>
            <a:srgbClr val="DCFCE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513064" y="2185416"/>
            <a:ext cx="704088" cy="384048"/>
          </a:xfrm>
          <a:prstGeom prst="rect">
            <a:avLst/>
          </a:prstGeom>
          <a:noFill/>
        </p:spPr>
        <p:txBody>
          <a:bodyPr wrap="square">
            <a:spAutoFit/>
          </a:bodyPr>
          <a:lstStyle/>
          <a:p>
            <a:pPr algn="ctr"/>
            <a:r>
              <a:rPr sz="900" b="1" i="0">
                <a:solidFill>
                  <a:srgbClr val="2563EB"/>
                </a:solidFill>
                <a:latin typeface="Segoe UI"/>
              </a:rPr>
              <a:t>0.1057</a:t>
            </a:r>
          </a:p>
        </p:txBody>
      </p:sp>
      <p:sp>
        <p:nvSpPr>
          <p:cNvPr id="27" name="Rectangle 26"/>
          <p:cNvSpPr/>
          <p:nvPr/>
        </p:nvSpPr>
        <p:spPr>
          <a:xfrm>
            <a:off x="9235440" y="2139696"/>
            <a:ext cx="713232" cy="420624"/>
          </a:xfrm>
          <a:prstGeom prst="rect">
            <a:avLst/>
          </a:prstGeom>
          <a:solidFill>
            <a:srgbClr val="DCFCE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290304" y="2185416"/>
            <a:ext cx="640080" cy="384048"/>
          </a:xfrm>
          <a:prstGeom prst="rect">
            <a:avLst/>
          </a:prstGeom>
          <a:noFill/>
        </p:spPr>
        <p:txBody>
          <a:bodyPr wrap="square">
            <a:spAutoFit/>
          </a:bodyPr>
          <a:lstStyle/>
          <a:p>
            <a:pPr algn="ctr"/>
            <a:r>
              <a:rPr sz="900" b="1" i="0">
                <a:solidFill>
                  <a:srgbClr val="2563EB"/>
                </a:solidFill>
                <a:latin typeface="Segoe UI"/>
              </a:rPr>
              <a:t>2.130</a:t>
            </a:r>
          </a:p>
        </p:txBody>
      </p:sp>
      <p:sp>
        <p:nvSpPr>
          <p:cNvPr id="29" name="Rectangle 28"/>
          <p:cNvSpPr/>
          <p:nvPr/>
        </p:nvSpPr>
        <p:spPr>
          <a:xfrm>
            <a:off x="9948672" y="2139696"/>
            <a:ext cx="612648" cy="420624"/>
          </a:xfrm>
          <a:prstGeom prst="rect">
            <a:avLst/>
          </a:prstGeom>
          <a:solidFill>
            <a:srgbClr val="DCFCE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003536" y="2185416"/>
            <a:ext cx="539496" cy="384048"/>
          </a:xfrm>
          <a:prstGeom prst="rect">
            <a:avLst/>
          </a:prstGeom>
          <a:noFill/>
        </p:spPr>
        <p:txBody>
          <a:bodyPr wrap="square">
            <a:spAutoFit/>
          </a:bodyPr>
          <a:lstStyle/>
          <a:p>
            <a:pPr algn="ctr"/>
            <a:r>
              <a:rPr sz="900" b="1" i="0">
                <a:solidFill>
                  <a:srgbClr val="2563EB"/>
                </a:solidFill>
                <a:latin typeface="Segoe UI"/>
              </a:rPr>
              <a:t>228</a:t>
            </a:r>
          </a:p>
        </p:txBody>
      </p:sp>
      <p:sp>
        <p:nvSpPr>
          <p:cNvPr id="31" name="Rectangle 30"/>
          <p:cNvSpPr/>
          <p:nvPr/>
        </p:nvSpPr>
        <p:spPr>
          <a:xfrm>
            <a:off x="10561320" y="2139696"/>
            <a:ext cx="594360" cy="420624"/>
          </a:xfrm>
          <a:prstGeom prst="rect">
            <a:avLst/>
          </a:prstGeom>
          <a:solidFill>
            <a:srgbClr val="DCFCE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616184" y="2185416"/>
            <a:ext cx="521208" cy="384048"/>
          </a:xfrm>
          <a:prstGeom prst="rect">
            <a:avLst/>
          </a:prstGeom>
          <a:noFill/>
        </p:spPr>
        <p:txBody>
          <a:bodyPr wrap="square">
            <a:spAutoFit/>
          </a:bodyPr>
          <a:lstStyle/>
          <a:p>
            <a:pPr algn="ctr"/>
            <a:r>
              <a:rPr sz="900" b="1" i="0">
                <a:solidFill>
                  <a:srgbClr val="2563EB"/>
                </a:solidFill>
                <a:latin typeface="Segoe UI"/>
              </a:rPr>
              <a:t>18.1%</a:t>
            </a:r>
          </a:p>
        </p:txBody>
      </p:sp>
      <p:sp>
        <p:nvSpPr>
          <p:cNvPr id="33" name="Rectangle 32"/>
          <p:cNvSpPr/>
          <p:nvPr/>
        </p:nvSpPr>
        <p:spPr>
          <a:xfrm>
            <a:off x="11155680" y="2139696"/>
            <a:ext cx="621792" cy="420624"/>
          </a:xfrm>
          <a:prstGeom prst="rect">
            <a:avLst/>
          </a:prstGeom>
          <a:solidFill>
            <a:srgbClr val="DCFCE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1210544" y="2185416"/>
            <a:ext cx="548640" cy="384048"/>
          </a:xfrm>
          <a:prstGeom prst="rect">
            <a:avLst/>
          </a:prstGeom>
          <a:noFill/>
        </p:spPr>
        <p:txBody>
          <a:bodyPr wrap="square">
            <a:spAutoFit/>
          </a:bodyPr>
          <a:lstStyle/>
          <a:p>
            <a:pPr algn="ctr"/>
            <a:r>
              <a:rPr sz="900" b="1" i="0">
                <a:solidFill>
                  <a:srgbClr val="2563EB"/>
                </a:solidFill>
                <a:latin typeface="Segoe UI"/>
              </a:rPr>
              <a:t>Sí</a:t>
            </a:r>
          </a:p>
        </p:txBody>
      </p:sp>
      <p:sp>
        <p:nvSpPr>
          <p:cNvPr id="35" name="Rectangle 34"/>
          <p:cNvSpPr/>
          <p:nvPr/>
        </p:nvSpPr>
        <p:spPr>
          <a:xfrm>
            <a:off x="6629400" y="2560320"/>
            <a:ext cx="1828800" cy="420624"/>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684264" y="2606040"/>
            <a:ext cx="1755648" cy="384048"/>
          </a:xfrm>
          <a:prstGeom prst="rect">
            <a:avLst/>
          </a:prstGeom>
          <a:noFill/>
        </p:spPr>
        <p:txBody>
          <a:bodyPr wrap="square">
            <a:spAutoFit/>
          </a:bodyPr>
          <a:lstStyle/>
          <a:p>
            <a:pPr algn="l"/>
            <a:r>
              <a:rPr sz="900" b="0" i="0">
                <a:solidFill>
                  <a:srgbClr val="111827"/>
                </a:solidFill>
                <a:latin typeface="Segoe UI"/>
              </a:rPr>
              <a:t>Gaussian Mixture</a:t>
            </a:r>
          </a:p>
        </p:txBody>
      </p:sp>
      <p:sp>
        <p:nvSpPr>
          <p:cNvPr id="37" name="Rectangle 36"/>
          <p:cNvSpPr/>
          <p:nvPr/>
        </p:nvSpPr>
        <p:spPr>
          <a:xfrm>
            <a:off x="8458200" y="2560320"/>
            <a:ext cx="777240" cy="420624"/>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513064" y="2606040"/>
            <a:ext cx="704088" cy="384048"/>
          </a:xfrm>
          <a:prstGeom prst="rect">
            <a:avLst/>
          </a:prstGeom>
          <a:noFill/>
        </p:spPr>
        <p:txBody>
          <a:bodyPr wrap="square">
            <a:spAutoFit/>
          </a:bodyPr>
          <a:lstStyle/>
          <a:p>
            <a:pPr algn="ctr"/>
            <a:r>
              <a:rPr sz="900" b="0" i="0">
                <a:solidFill>
                  <a:srgbClr val="111827"/>
                </a:solidFill>
                <a:latin typeface="Segoe UI"/>
              </a:rPr>
              <a:t>0.1473</a:t>
            </a:r>
          </a:p>
        </p:txBody>
      </p:sp>
      <p:sp>
        <p:nvSpPr>
          <p:cNvPr id="39" name="Rectangle 38"/>
          <p:cNvSpPr/>
          <p:nvPr/>
        </p:nvSpPr>
        <p:spPr>
          <a:xfrm>
            <a:off x="9235440" y="2560320"/>
            <a:ext cx="713232" cy="420624"/>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290304" y="2606040"/>
            <a:ext cx="640080" cy="384048"/>
          </a:xfrm>
          <a:prstGeom prst="rect">
            <a:avLst/>
          </a:prstGeom>
          <a:noFill/>
        </p:spPr>
        <p:txBody>
          <a:bodyPr wrap="square">
            <a:spAutoFit/>
          </a:bodyPr>
          <a:lstStyle/>
          <a:p>
            <a:pPr algn="ctr"/>
            <a:r>
              <a:rPr sz="900" b="0" i="0">
                <a:solidFill>
                  <a:srgbClr val="111827"/>
                </a:solidFill>
                <a:latin typeface="Segoe UI"/>
              </a:rPr>
              <a:t>3.395</a:t>
            </a:r>
          </a:p>
        </p:txBody>
      </p:sp>
      <p:sp>
        <p:nvSpPr>
          <p:cNvPr id="41" name="Rectangle 40"/>
          <p:cNvSpPr/>
          <p:nvPr/>
        </p:nvSpPr>
        <p:spPr>
          <a:xfrm>
            <a:off x="9948672" y="2560320"/>
            <a:ext cx="612648" cy="420624"/>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0003536" y="2606040"/>
            <a:ext cx="539496" cy="384048"/>
          </a:xfrm>
          <a:prstGeom prst="rect">
            <a:avLst/>
          </a:prstGeom>
          <a:noFill/>
        </p:spPr>
        <p:txBody>
          <a:bodyPr wrap="square">
            <a:spAutoFit/>
          </a:bodyPr>
          <a:lstStyle/>
          <a:p>
            <a:pPr algn="ctr"/>
            <a:r>
              <a:rPr sz="900" b="0" i="0">
                <a:solidFill>
                  <a:srgbClr val="111827"/>
                </a:solidFill>
                <a:latin typeface="Segoe UI"/>
              </a:rPr>
              <a:t>123</a:t>
            </a:r>
          </a:p>
        </p:txBody>
      </p:sp>
      <p:sp>
        <p:nvSpPr>
          <p:cNvPr id="43" name="Rectangle 42"/>
          <p:cNvSpPr/>
          <p:nvPr/>
        </p:nvSpPr>
        <p:spPr>
          <a:xfrm>
            <a:off x="10561320" y="2560320"/>
            <a:ext cx="594360" cy="420624"/>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616184" y="2606040"/>
            <a:ext cx="521208" cy="384048"/>
          </a:xfrm>
          <a:prstGeom prst="rect">
            <a:avLst/>
          </a:prstGeom>
          <a:noFill/>
        </p:spPr>
        <p:txBody>
          <a:bodyPr wrap="square">
            <a:spAutoFit/>
          </a:bodyPr>
          <a:lstStyle/>
          <a:p>
            <a:pPr algn="ctr"/>
            <a:r>
              <a:rPr sz="900" b="0" i="0">
                <a:solidFill>
                  <a:srgbClr val="111827"/>
                </a:solidFill>
                <a:latin typeface="Segoe UI"/>
              </a:rPr>
              <a:t>5.4%</a:t>
            </a:r>
          </a:p>
        </p:txBody>
      </p:sp>
      <p:sp>
        <p:nvSpPr>
          <p:cNvPr id="45" name="Rectangle 44"/>
          <p:cNvSpPr/>
          <p:nvPr/>
        </p:nvSpPr>
        <p:spPr>
          <a:xfrm>
            <a:off x="11155680" y="2560320"/>
            <a:ext cx="621792" cy="420624"/>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1210544" y="2606040"/>
            <a:ext cx="548640" cy="384048"/>
          </a:xfrm>
          <a:prstGeom prst="rect">
            <a:avLst/>
          </a:prstGeom>
          <a:noFill/>
        </p:spPr>
        <p:txBody>
          <a:bodyPr wrap="square">
            <a:spAutoFit/>
          </a:bodyPr>
          <a:lstStyle/>
          <a:p>
            <a:pPr algn="ctr"/>
            <a:r>
              <a:rPr sz="900" b="0" i="0">
                <a:solidFill>
                  <a:srgbClr val="111827"/>
                </a:solidFill>
                <a:latin typeface="Segoe UI"/>
              </a:rPr>
              <a:t>Sí</a:t>
            </a:r>
          </a:p>
        </p:txBody>
      </p:sp>
      <p:sp>
        <p:nvSpPr>
          <p:cNvPr id="47" name="Rectangle 46"/>
          <p:cNvSpPr/>
          <p:nvPr/>
        </p:nvSpPr>
        <p:spPr>
          <a:xfrm>
            <a:off x="6629400" y="2980944"/>
            <a:ext cx="1828800" cy="42062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684264" y="3026664"/>
            <a:ext cx="1755648" cy="384048"/>
          </a:xfrm>
          <a:prstGeom prst="rect">
            <a:avLst/>
          </a:prstGeom>
          <a:noFill/>
        </p:spPr>
        <p:txBody>
          <a:bodyPr wrap="square">
            <a:spAutoFit/>
          </a:bodyPr>
          <a:lstStyle/>
          <a:p>
            <a:pPr algn="l"/>
            <a:r>
              <a:rPr sz="900" b="0" i="0">
                <a:solidFill>
                  <a:srgbClr val="111827"/>
                </a:solidFill>
                <a:latin typeface="Segoe UI"/>
              </a:rPr>
              <a:t>Agglomerative (Ward)</a:t>
            </a:r>
          </a:p>
        </p:txBody>
      </p:sp>
      <p:sp>
        <p:nvSpPr>
          <p:cNvPr id="49" name="Rectangle 48"/>
          <p:cNvSpPr/>
          <p:nvPr/>
        </p:nvSpPr>
        <p:spPr>
          <a:xfrm>
            <a:off x="8458200" y="2980944"/>
            <a:ext cx="777240" cy="42062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513064" y="3026664"/>
            <a:ext cx="704088" cy="384048"/>
          </a:xfrm>
          <a:prstGeom prst="rect">
            <a:avLst/>
          </a:prstGeom>
          <a:noFill/>
        </p:spPr>
        <p:txBody>
          <a:bodyPr wrap="square">
            <a:spAutoFit/>
          </a:bodyPr>
          <a:lstStyle/>
          <a:p>
            <a:pPr algn="ctr"/>
            <a:r>
              <a:rPr sz="900" b="0" i="0">
                <a:solidFill>
                  <a:srgbClr val="111827"/>
                </a:solidFill>
                <a:latin typeface="Segoe UI"/>
              </a:rPr>
              <a:t>0.1214</a:t>
            </a:r>
          </a:p>
        </p:txBody>
      </p:sp>
      <p:sp>
        <p:nvSpPr>
          <p:cNvPr id="51" name="Rectangle 50"/>
          <p:cNvSpPr/>
          <p:nvPr/>
        </p:nvSpPr>
        <p:spPr>
          <a:xfrm>
            <a:off x="9235440" y="2980944"/>
            <a:ext cx="713232" cy="42062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290304" y="3026664"/>
            <a:ext cx="640080" cy="384048"/>
          </a:xfrm>
          <a:prstGeom prst="rect">
            <a:avLst/>
          </a:prstGeom>
          <a:noFill/>
        </p:spPr>
        <p:txBody>
          <a:bodyPr wrap="square">
            <a:spAutoFit/>
          </a:bodyPr>
          <a:lstStyle/>
          <a:p>
            <a:pPr algn="ctr"/>
            <a:r>
              <a:rPr sz="900" b="0" i="0">
                <a:solidFill>
                  <a:srgbClr val="111827"/>
                </a:solidFill>
                <a:latin typeface="Segoe UI"/>
              </a:rPr>
              <a:t>2.085</a:t>
            </a:r>
          </a:p>
        </p:txBody>
      </p:sp>
      <p:sp>
        <p:nvSpPr>
          <p:cNvPr id="53" name="Rectangle 52"/>
          <p:cNvSpPr/>
          <p:nvPr/>
        </p:nvSpPr>
        <p:spPr>
          <a:xfrm>
            <a:off x="9948672" y="2980944"/>
            <a:ext cx="612648" cy="42062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10003536" y="3026664"/>
            <a:ext cx="539496" cy="384048"/>
          </a:xfrm>
          <a:prstGeom prst="rect">
            <a:avLst/>
          </a:prstGeom>
          <a:noFill/>
        </p:spPr>
        <p:txBody>
          <a:bodyPr wrap="square">
            <a:spAutoFit/>
          </a:bodyPr>
          <a:lstStyle/>
          <a:p>
            <a:pPr algn="ctr"/>
            <a:r>
              <a:rPr sz="900" b="0" i="0">
                <a:solidFill>
                  <a:srgbClr val="111827"/>
                </a:solidFill>
                <a:latin typeface="Segoe UI"/>
              </a:rPr>
              <a:t>214</a:t>
            </a:r>
          </a:p>
        </p:txBody>
      </p:sp>
      <p:sp>
        <p:nvSpPr>
          <p:cNvPr id="55" name="Rectangle 54"/>
          <p:cNvSpPr/>
          <p:nvPr/>
        </p:nvSpPr>
        <p:spPr>
          <a:xfrm>
            <a:off x="10561320" y="2980944"/>
            <a:ext cx="594360" cy="42062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10616184" y="3026664"/>
            <a:ext cx="521208" cy="384048"/>
          </a:xfrm>
          <a:prstGeom prst="rect">
            <a:avLst/>
          </a:prstGeom>
          <a:noFill/>
        </p:spPr>
        <p:txBody>
          <a:bodyPr wrap="square">
            <a:spAutoFit/>
          </a:bodyPr>
          <a:lstStyle/>
          <a:p>
            <a:pPr algn="ctr"/>
            <a:r>
              <a:rPr sz="900" b="0" i="0">
                <a:solidFill>
                  <a:srgbClr val="111827"/>
                </a:solidFill>
                <a:latin typeface="Segoe UI"/>
              </a:rPr>
              <a:t>2.1%</a:t>
            </a:r>
          </a:p>
        </p:txBody>
      </p:sp>
      <p:sp>
        <p:nvSpPr>
          <p:cNvPr id="57" name="Rectangle 56"/>
          <p:cNvSpPr/>
          <p:nvPr/>
        </p:nvSpPr>
        <p:spPr>
          <a:xfrm>
            <a:off x="11155680" y="2980944"/>
            <a:ext cx="621792" cy="42062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11210544" y="3026664"/>
            <a:ext cx="548640" cy="384048"/>
          </a:xfrm>
          <a:prstGeom prst="rect">
            <a:avLst/>
          </a:prstGeom>
          <a:noFill/>
        </p:spPr>
        <p:txBody>
          <a:bodyPr wrap="square">
            <a:spAutoFit/>
          </a:bodyPr>
          <a:lstStyle/>
          <a:p>
            <a:pPr algn="ctr"/>
            <a:r>
              <a:rPr sz="900" b="0" i="0">
                <a:solidFill>
                  <a:srgbClr val="111827"/>
                </a:solidFill>
                <a:latin typeface="Segoe UI"/>
              </a:rPr>
              <a:t>No</a:t>
            </a:r>
          </a:p>
        </p:txBody>
      </p:sp>
      <p:sp>
        <p:nvSpPr>
          <p:cNvPr id="59" name="Rectangle 58"/>
          <p:cNvSpPr/>
          <p:nvPr/>
        </p:nvSpPr>
        <p:spPr>
          <a:xfrm>
            <a:off x="6629400" y="3401568"/>
            <a:ext cx="1828800" cy="420624"/>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684264" y="3447288"/>
            <a:ext cx="1755648" cy="384048"/>
          </a:xfrm>
          <a:prstGeom prst="rect">
            <a:avLst/>
          </a:prstGeom>
          <a:noFill/>
        </p:spPr>
        <p:txBody>
          <a:bodyPr wrap="square">
            <a:spAutoFit/>
          </a:bodyPr>
          <a:lstStyle/>
          <a:p>
            <a:pPr algn="l"/>
            <a:r>
              <a:rPr sz="900" b="0" i="0">
                <a:solidFill>
                  <a:srgbClr val="111827"/>
                </a:solidFill>
                <a:latin typeface="Segoe UI"/>
              </a:rPr>
              <a:t>DBSCAN</a:t>
            </a:r>
          </a:p>
        </p:txBody>
      </p:sp>
      <p:sp>
        <p:nvSpPr>
          <p:cNvPr id="61" name="Rectangle 60"/>
          <p:cNvSpPr/>
          <p:nvPr/>
        </p:nvSpPr>
        <p:spPr>
          <a:xfrm>
            <a:off x="8458200" y="3401568"/>
            <a:ext cx="777240" cy="420624"/>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8513064" y="3447288"/>
            <a:ext cx="704088" cy="384048"/>
          </a:xfrm>
          <a:prstGeom prst="rect">
            <a:avLst/>
          </a:prstGeom>
          <a:noFill/>
        </p:spPr>
        <p:txBody>
          <a:bodyPr wrap="square">
            <a:spAutoFit/>
          </a:bodyPr>
          <a:lstStyle/>
          <a:p>
            <a:pPr algn="ctr"/>
            <a:r>
              <a:rPr sz="900" b="0" i="0">
                <a:solidFill>
                  <a:srgbClr val="111827"/>
                </a:solidFill>
                <a:latin typeface="Segoe UI"/>
              </a:rPr>
              <a:t>0.3246</a:t>
            </a:r>
          </a:p>
        </p:txBody>
      </p:sp>
      <p:sp>
        <p:nvSpPr>
          <p:cNvPr id="63" name="Rectangle 62"/>
          <p:cNvSpPr/>
          <p:nvPr/>
        </p:nvSpPr>
        <p:spPr>
          <a:xfrm>
            <a:off x="9235440" y="3401568"/>
            <a:ext cx="713232" cy="420624"/>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9290304" y="3447288"/>
            <a:ext cx="640080" cy="384048"/>
          </a:xfrm>
          <a:prstGeom prst="rect">
            <a:avLst/>
          </a:prstGeom>
          <a:noFill/>
        </p:spPr>
        <p:txBody>
          <a:bodyPr wrap="square">
            <a:spAutoFit/>
          </a:bodyPr>
          <a:lstStyle/>
          <a:p>
            <a:pPr algn="ctr"/>
            <a:r>
              <a:rPr sz="900" b="0" i="0">
                <a:solidFill>
                  <a:srgbClr val="111827"/>
                </a:solidFill>
                <a:latin typeface="Segoe UI"/>
              </a:rPr>
              <a:t>1.046</a:t>
            </a:r>
          </a:p>
        </p:txBody>
      </p:sp>
      <p:sp>
        <p:nvSpPr>
          <p:cNvPr id="65" name="Rectangle 64"/>
          <p:cNvSpPr/>
          <p:nvPr/>
        </p:nvSpPr>
        <p:spPr>
          <a:xfrm>
            <a:off x="9948672" y="3401568"/>
            <a:ext cx="612648" cy="420624"/>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10003536" y="3447288"/>
            <a:ext cx="539496" cy="384048"/>
          </a:xfrm>
          <a:prstGeom prst="rect">
            <a:avLst/>
          </a:prstGeom>
          <a:noFill/>
        </p:spPr>
        <p:txBody>
          <a:bodyPr wrap="square">
            <a:spAutoFit/>
          </a:bodyPr>
          <a:lstStyle/>
          <a:p>
            <a:pPr algn="ctr"/>
            <a:r>
              <a:rPr sz="900" b="0" i="0">
                <a:solidFill>
                  <a:srgbClr val="111827"/>
                </a:solidFill>
                <a:latin typeface="Segoe UI"/>
              </a:rPr>
              <a:t>93</a:t>
            </a:r>
          </a:p>
        </p:txBody>
      </p:sp>
      <p:sp>
        <p:nvSpPr>
          <p:cNvPr id="67" name="Rectangle 66"/>
          <p:cNvSpPr/>
          <p:nvPr/>
        </p:nvSpPr>
        <p:spPr>
          <a:xfrm>
            <a:off x="10561320" y="3401568"/>
            <a:ext cx="594360" cy="420624"/>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10616184" y="3447288"/>
            <a:ext cx="521208" cy="384048"/>
          </a:xfrm>
          <a:prstGeom prst="rect">
            <a:avLst/>
          </a:prstGeom>
          <a:noFill/>
        </p:spPr>
        <p:txBody>
          <a:bodyPr wrap="square">
            <a:spAutoFit/>
          </a:bodyPr>
          <a:lstStyle/>
          <a:p>
            <a:pPr algn="ctr"/>
            <a:r>
              <a:rPr sz="900" b="0" i="0">
                <a:solidFill>
                  <a:srgbClr val="111827"/>
                </a:solidFill>
                <a:latin typeface="Segoe UI"/>
              </a:rPr>
              <a:t>0.8%</a:t>
            </a:r>
          </a:p>
        </p:txBody>
      </p:sp>
      <p:sp>
        <p:nvSpPr>
          <p:cNvPr id="69" name="Rectangle 68"/>
          <p:cNvSpPr/>
          <p:nvPr/>
        </p:nvSpPr>
        <p:spPr>
          <a:xfrm>
            <a:off x="11155680" y="3401568"/>
            <a:ext cx="621792" cy="420624"/>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11210544" y="3447288"/>
            <a:ext cx="548640" cy="384048"/>
          </a:xfrm>
          <a:prstGeom prst="rect">
            <a:avLst/>
          </a:prstGeom>
          <a:noFill/>
        </p:spPr>
        <p:txBody>
          <a:bodyPr wrap="square">
            <a:spAutoFit/>
          </a:bodyPr>
          <a:lstStyle/>
          <a:p>
            <a:pPr algn="ctr"/>
            <a:r>
              <a:rPr sz="900" b="0" i="0">
                <a:solidFill>
                  <a:srgbClr val="111827"/>
                </a:solidFill>
                <a:latin typeface="Segoe UI"/>
              </a:rPr>
              <a:t>No</a:t>
            </a:r>
          </a:p>
        </p:txBody>
      </p:sp>
      <p:sp>
        <p:nvSpPr>
          <p:cNvPr id="71" name="Rounded Rectangle 70"/>
          <p:cNvSpPr/>
          <p:nvPr/>
        </p:nvSpPr>
        <p:spPr>
          <a:xfrm>
            <a:off x="6629400" y="4069080"/>
            <a:ext cx="5212080" cy="2331720"/>
          </a:xfrm>
          <a:prstGeom prst="roundRect">
            <a:avLst>
              <a:gd name="adj" fmla="val 7000"/>
            </a:avLst>
          </a:prstGeom>
          <a:solidFill>
            <a:srgbClr val="EFF6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ounded Rectangle 71"/>
          <p:cNvSpPr/>
          <p:nvPr/>
        </p:nvSpPr>
        <p:spPr>
          <a:xfrm>
            <a:off x="6629400" y="4069080"/>
            <a:ext cx="109728" cy="2331720"/>
          </a:xfrm>
          <a:prstGeom prst="roundRect">
            <a:avLst>
              <a:gd name="adj" fmla="val 7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6922008" y="4206240"/>
            <a:ext cx="4754880" cy="347472"/>
          </a:xfrm>
          <a:prstGeom prst="rect">
            <a:avLst/>
          </a:prstGeom>
          <a:noFill/>
        </p:spPr>
        <p:txBody>
          <a:bodyPr wrap="square">
            <a:spAutoFit/>
          </a:bodyPr>
          <a:lstStyle/>
          <a:p>
            <a:pPr algn="l"/>
            <a:r>
              <a:rPr sz="1400" b="1" i="0">
                <a:solidFill>
                  <a:srgbClr val="2563EB"/>
                </a:solidFill>
                <a:latin typeface="Segoe UI"/>
              </a:rPr>
              <a:t>Por qué Gaussian Mixture — adecuación al supuesto</a:t>
            </a:r>
          </a:p>
        </p:txBody>
      </p:sp>
      <p:sp>
        <p:nvSpPr>
          <p:cNvPr id="74" name="TextBox 73"/>
          <p:cNvSpPr txBox="1"/>
          <p:nvPr/>
        </p:nvSpPr>
        <p:spPr>
          <a:xfrm>
            <a:off x="6922008" y="4608576"/>
            <a:ext cx="4800600" cy="1691640"/>
          </a:xfrm>
          <a:prstGeom prst="rect">
            <a:avLst/>
          </a:prstGeom>
          <a:noFill/>
        </p:spPr>
        <p:txBody>
          <a:bodyPr wrap="square">
            <a:spAutoFit/>
          </a:bodyPr>
          <a:lstStyle/>
          <a:p>
            <a:pPr>
              <a:spcBef>
                <a:spcPts val="300"/>
              </a:spcBef>
            </a:pPr>
            <a:r>
              <a:rPr sz="1000">
                <a:solidFill>
                  <a:srgbClr val="111827"/>
                </a:solidFill>
                <a:latin typeface="Segoe UI"/>
              </a:rPr>
              <a:t>•  Estructura no globular (gradiente continuo de IMC): GMM modela componentes elípticas + asignación probabilística (soft)</a:t>
            </a:r>
          </a:p>
          <a:p>
            <a:pPr>
              <a:spcBef>
                <a:spcPts val="300"/>
              </a:spcBef>
            </a:pPr>
            <a:r>
              <a:rPr sz="1000">
                <a:solidFill>
                  <a:srgbClr val="111827"/>
                </a:solidFill>
                <a:latin typeface="Segoe UI"/>
              </a:rPr>
              <a:t>•  Gaussian Mixture supera en Silhouette (0.147 vs 0.106), la métrica menos sesgada hacia formas esféricas</a:t>
            </a:r>
          </a:p>
          <a:p>
            <a:pPr>
              <a:spcBef>
                <a:spcPts val="300"/>
              </a:spcBef>
            </a:pPr>
            <a:r>
              <a:rPr sz="1000">
                <a:solidFill>
                  <a:srgbClr val="111827"/>
                </a:solidFill>
                <a:latin typeface="Segoe UI"/>
              </a:rPr>
              <a:t>•  Davies-Bouldin y Calinski-Harabasz se miden sobre centroides → favorecen a K-Means por construcción, no son árbitro neutral</a:t>
            </a:r>
          </a:p>
          <a:p>
            <a:pPr>
              <a:spcBef>
                <a:spcPts val="300"/>
              </a:spcBef>
            </a:pPr>
            <a:r>
              <a:rPr sz="1000">
                <a:solidFill>
                  <a:srgbClr val="111827"/>
                </a:solidFill>
                <a:latin typeface="Segoe UI"/>
              </a:rPr>
              <a:t>•  Trade-off reconocido: K-Means gana en esas dos métricas; se prioriza la geometría real sobre el supuesto que ellas premian</a:t>
            </a:r>
          </a:p>
          <a:p>
            <a:pPr>
              <a:spcBef>
                <a:spcPts val="300"/>
              </a:spcBef>
            </a:pPr>
            <a:r>
              <a:rPr sz="1000">
                <a:solidFill>
                  <a:srgbClr val="111827"/>
                </a:solidFill>
                <a:latin typeface="Segoe UI"/>
              </a:rPr>
              <a:t>•  DBSCAN y Agglomerative invalidados por ruido &gt;4.9% y cluster mínimo &lt;2.1%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11480" y="256032"/>
            <a:ext cx="146304" cy="59436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182880"/>
            <a:ext cx="10881360" cy="830997"/>
          </a:xfrm>
          <a:prstGeom prst="rect">
            <a:avLst/>
          </a:prstGeom>
          <a:noFill/>
        </p:spPr>
        <p:txBody>
          <a:bodyPr wrap="square">
            <a:spAutoFit/>
          </a:bodyPr>
          <a:lstStyle/>
          <a:p>
            <a:pPr algn="l"/>
            <a:r>
              <a:rPr sz="2400" b="1" i="0" dirty="0">
                <a:solidFill>
                  <a:srgbClr val="111827"/>
                </a:solidFill>
                <a:latin typeface="Segoe UI"/>
              </a:rPr>
              <a:t>Gaussian Mixture k=4: un </a:t>
            </a:r>
            <a:r>
              <a:rPr sz="2400" b="1" i="0" dirty="0" err="1">
                <a:solidFill>
                  <a:srgbClr val="111827"/>
                </a:solidFill>
                <a:latin typeface="Segoe UI"/>
              </a:rPr>
              <a:t>grupo</a:t>
            </a:r>
            <a:r>
              <a:rPr sz="2400" b="1" i="0" dirty="0">
                <a:solidFill>
                  <a:srgbClr val="111827"/>
                </a:solidFill>
                <a:latin typeface="Segoe UI"/>
              </a:rPr>
              <a:t> </a:t>
            </a:r>
            <a:r>
              <a:rPr sz="2400" b="1" i="0" dirty="0" err="1">
                <a:solidFill>
                  <a:srgbClr val="111827"/>
                </a:solidFill>
                <a:latin typeface="Segoe UI"/>
              </a:rPr>
              <a:t>mayoritario</a:t>
            </a:r>
            <a:r>
              <a:rPr sz="2400" b="1" i="0" dirty="0">
                <a:solidFill>
                  <a:srgbClr val="111827"/>
                </a:solidFill>
                <a:latin typeface="Segoe UI"/>
              </a:rPr>
              <a:t> de </a:t>
            </a:r>
            <a:r>
              <a:rPr sz="2400" b="1" i="0" dirty="0" err="1">
                <a:solidFill>
                  <a:srgbClr val="111827"/>
                </a:solidFill>
                <a:latin typeface="Segoe UI"/>
              </a:rPr>
              <a:t>obesidad</a:t>
            </a:r>
            <a:r>
              <a:rPr sz="2400" b="1" i="0" dirty="0">
                <a:solidFill>
                  <a:srgbClr val="111827"/>
                </a:solidFill>
                <a:latin typeface="Segoe UI"/>
              </a:rPr>
              <a:t> (66%) y </a:t>
            </a:r>
            <a:r>
              <a:rPr sz="2400" b="1" i="0" dirty="0" err="1">
                <a:solidFill>
                  <a:srgbClr val="111827"/>
                </a:solidFill>
                <a:latin typeface="Segoe UI"/>
              </a:rPr>
              <a:t>tres</a:t>
            </a:r>
            <a:r>
              <a:rPr sz="2400" b="1" i="0" dirty="0">
                <a:solidFill>
                  <a:srgbClr val="111827"/>
                </a:solidFill>
                <a:latin typeface="Segoe UI"/>
              </a:rPr>
              <a:t> </a:t>
            </a:r>
            <a:r>
              <a:rPr sz="2400" b="1" i="0" dirty="0" err="1">
                <a:solidFill>
                  <a:srgbClr val="111827"/>
                </a:solidFill>
                <a:latin typeface="Segoe UI"/>
              </a:rPr>
              <a:t>perfiles</a:t>
            </a:r>
            <a:r>
              <a:rPr sz="2400" b="1" i="0" dirty="0">
                <a:solidFill>
                  <a:srgbClr val="111827"/>
                </a:solidFill>
                <a:latin typeface="Segoe UI"/>
              </a:rPr>
              <a:t> de </a:t>
            </a:r>
            <a:r>
              <a:rPr sz="2400" b="1" i="0" dirty="0" err="1">
                <a:solidFill>
                  <a:srgbClr val="111827"/>
                </a:solidFill>
                <a:latin typeface="Segoe UI"/>
              </a:rPr>
              <a:t>menor</a:t>
            </a:r>
            <a:r>
              <a:rPr sz="2400" b="1" i="0" dirty="0">
                <a:solidFill>
                  <a:srgbClr val="111827"/>
                </a:solidFill>
                <a:latin typeface="Segoe UI"/>
              </a:rPr>
              <a:t> </a:t>
            </a:r>
            <a:r>
              <a:rPr sz="2400" b="1" i="0" dirty="0" err="1">
                <a:solidFill>
                  <a:srgbClr val="111827"/>
                </a:solidFill>
                <a:latin typeface="Segoe UI"/>
              </a:rPr>
              <a:t>riesgo</a:t>
            </a:r>
            <a:endParaRPr sz="2400" b="1" i="0" dirty="0">
              <a:solidFill>
                <a:srgbClr val="111827"/>
              </a:solidFill>
              <a:latin typeface="Segoe UI"/>
            </a:endParaRPr>
          </a:p>
        </p:txBody>
      </p:sp>
      <p:sp>
        <p:nvSpPr>
          <p:cNvPr id="5" name="TextBox 4"/>
          <p:cNvSpPr txBox="1"/>
          <p:nvPr/>
        </p:nvSpPr>
        <p:spPr>
          <a:xfrm>
            <a:off x="4530204" y="740432"/>
            <a:ext cx="10881360" cy="347472"/>
          </a:xfrm>
          <a:prstGeom prst="rect">
            <a:avLst/>
          </a:prstGeom>
          <a:noFill/>
        </p:spPr>
        <p:txBody>
          <a:bodyPr wrap="square">
            <a:spAutoFit/>
          </a:bodyPr>
          <a:lstStyle/>
          <a:p>
            <a:pPr algn="l"/>
            <a:r>
              <a:rPr sz="1400" b="0" i="0" dirty="0">
                <a:solidFill>
                  <a:srgbClr val="64748B"/>
                </a:solidFill>
                <a:latin typeface="Segoe UI"/>
              </a:rPr>
              <a:t>Clustering — </a:t>
            </a:r>
            <a:r>
              <a:rPr sz="1400" b="0" i="0" dirty="0" err="1">
                <a:solidFill>
                  <a:srgbClr val="64748B"/>
                </a:solidFill>
                <a:latin typeface="Segoe UI"/>
              </a:rPr>
              <a:t>perfiles</a:t>
            </a:r>
            <a:r>
              <a:rPr sz="1400" b="0" i="0" dirty="0">
                <a:solidFill>
                  <a:srgbClr val="64748B"/>
                </a:solidFill>
                <a:latin typeface="Segoe UI"/>
              </a:rPr>
              <a:t> reales (</a:t>
            </a:r>
            <a:r>
              <a:rPr sz="1400" b="0" i="0" dirty="0" err="1">
                <a:solidFill>
                  <a:srgbClr val="64748B"/>
                </a:solidFill>
                <a:latin typeface="Segoe UI"/>
              </a:rPr>
              <a:t>leídos</a:t>
            </a:r>
            <a:r>
              <a:rPr sz="1400" b="0" i="0" dirty="0">
                <a:solidFill>
                  <a:srgbClr val="64748B"/>
                </a:solidFill>
                <a:latin typeface="Segoe UI"/>
              </a:rPr>
              <a:t> de tabla_perfiles_clusters.csv)</a:t>
            </a:r>
          </a:p>
        </p:txBody>
      </p:sp>
      <p:sp>
        <p:nvSpPr>
          <p:cNvPr id="6" name="Rectangle 5"/>
          <p:cNvSpPr/>
          <p:nvPr/>
        </p:nvSpPr>
        <p:spPr>
          <a:xfrm>
            <a:off x="411480" y="1133856"/>
            <a:ext cx="11365992"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55680" y="6510528"/>
            <a:ext cx="914400" cy="274320"/>
          </a:xfrm>
          <a:prstGeom prst="rect">
            <a:avLst/>
          </a:prstGeom>
          <a:noFill/>
        </p:spPr>
        <p:txBody>
          <a:bodyPr wrap="square">
            <a:spAutoFit/>
          </a:bodyPr>
          <a:lstStyle/>
          <a:p>
            <a:pPr algn="r"/>
            <a:r>
              <a:rPr sz="900" b="0" i="0">
                <a:solidFill>
                  <a:srgbClr val="64748B"/>
                </a:solidFill>
                <a:latin typeface="Segoe UI"/>
              </a:rPr>
              <a:t>08 / 20</a:t>
            </a:r>
          </a:p>
        </p:txBody>
      </p:sp>
      <p:sp>
        <p:nvSpPr>
          <p:cNvPr id="9" name="Rounded Rectangle 8"/>
          <p:cNvSpPr/>
          <p:nvPr/>
        </p:nvSpPr>
        <p:spPr>
          <a:xfrm>
            <a:off x="411480" y="1298448"/>
            <a:ext cx="6858000" cy="2566851"/>
          </a:xfrm>
          <a:prstGeom prst="roundRect">
            <a:avLst>
              <a:gd name="adj" fmla="val 7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07_clusters_visualizacion.png"/>
          <p:cNvPicPr>
            <a:picLocks noChangeAspect="1"/>
          </p:cNvPicPr>
          <p:nvPr/>
        </p:nvPicPr>
        <p:blipFill>
          <a:blip r:embed="rId2"/>
          <a:stretch>
            <a:fillRect/>
          </a:stretch>
        </p:blipFill>
        <p:spPr>
          <a:xfrm>
            <a:off x="502920" y="1389888"/>
            <a:ext cx="6675120" cy="2383971"/>
          </a:xfrm>
          <a:prstGeom prst="rect">
            <a:avLst/>
          </a:prstGeom>
        </p:spPr>
      </p:pic>
      <p:sp>
        <p:nvSpPr>
          <p:cNvPr id="10" name="Rounded Rectangle 9"/>
          <p:cNvSpPr/>
          <p:nvPr/>
        </p:nvSpPr>
        <p:spPr>
          <a:xfrm>
            <a:off x="7498079" y="1298448"/>
            <a:ext cx="4297680" cy="1207008"/>
          </a:xfrm>
          <a:prstGeom prst="roundRect">
            <a:avLst>
              <a:gd name="adj" fmla="val 7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498079" y="1298448"/>
            <a:ext cx="109728" cy="1207008"/>
          </a:xfrm>
          <a:prstGeom prst="roundRect">
            <a:avLst>
              <a:gd name="adj" fmla="val 7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90688" y="1371600"/>
            <a:ext cx="3749039" cy="292608"/>
          </a:xfrm>
          <a:prstGeom prst="rect">
            <a:avLst/>
          </a:prstGeom>
          <a:noFill/>
        </p:spPr>
        <p:txBody>
          <a:bodyPr wrap="square">
            <a:spAutoFit/>
          </a:bodyPr>
          <a:lstStyle/>
          <a:p>
            <a:pPr algn="l"/>
            <a:r>
              <a:rPr sz="1300" b="1" i="0">
                <a:solidFill>
                  <a:srgbClr val="111827"/>
                </a:solidFill>
                <a:latin typeface="Segoe UI"/>
              </a:rPr>
              <a:t>Cluster 0 · 14.9%</a:t>
            </a:r>
          </a:p>
        </p:txBody>
      </p:sp>
      <p:sp>
        <p:nvSpPr>
          <p:cNvPr id="13" name="TextBox 12"/>
          <p:cNvSpPr txBox="1"/>
          <p:nvPr/>
        </p:nvSpPr>
        <p:spPr>
          <a:xfrm>
            <a:off x="7790688" y="1682496"/>
            <a:ext cx="3749039" cy="292608"/>
          </a:xfrm>
          <a:prstGeom prst="rect">
            <a:avLst/>
          </a:prstGeom>
          <a:noFill/>
        </p:spPr>
        <p:txBody>
          <a:bodyPr wrap="square">
            <a:spAutoFit/>
          </a:bodyPr>
          <a:lstStyle/>
          <a:p>
            <a:pPr algn="l"/>
            <a:r>
              <a:rPr sz="1300" b="1" i="0">
                <a:solidFill>
                  <a:srgbClr val="16A34A"/>
                </a:solidFill>
                <a:latin typeface="Segoe UI"/>
              </a:rPr>
              <a:t>Bajo peso / Normal</a:t>
            </a:r>
          </a:p>
        </p:txBody>
      </p:sp>
      <p:sp>
        <p:nvSpPr>
          <p:cNvPr id="14" name="TextBox 13"/>
          <p:cNvSpPr txBox="1"/>
          <p:nvPr/>
        </p:nvSpPr>
        <p:spPr>
          <a:xfrm>
            <a:off x="7790688" y="1993392"/>
            <a:ext cx="3840480" cy="438912"/>
          </a:xfrm>
          <a:prstGeom prst="rect">
            <a:avLst/>
          </a:prstGeom>
          <a:noFill/>
        </p:spPr>
        <p:txBody>
          <a:bodyPr wrap="square">
            <a:spAutoFit/>
          </a:bodyPr>
          <a:lstStyle/>
          <a:p>
            <a:pPr algn="l"/>
            <a:r>
              <a:rPr sz="1100" b="0" i="0">
                <a:solidFill>
                  <a:srgbClr val="64748B"/>
                </a:solidFill>
                <a:latin typeface="Segoe UI"/>
              </a:rPr>
              <a:t>IMC 21.8 · 59.7 kg · FAF 1.01 · Hist. familiar 48%</a:t>
            </a:r>
          </a:p>
        </p:txBody>
      </p:sp>
      <p:sp>
        <p:nvSpPr>
          <p:cNvPr id="15" name="Rounded Rectangle 14"/>
          <p:cNvSpPr/>
          <p:nvPr/>
        </p:nvSpPr>
        <p:spPr>
          <a:xfrm>
            <a:off x="7498079" y="2624328"/>
            <a:ext cx="4297680" cy="1207008"/>
          </a:xfrm>
          <a:prstGeom prst="roundRect">
            <a:avLst>
              <a:gd name="adj" fmla="val 7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498079" y="2624328"/>
            <a:ext cx="109728" cy="1207008"/>
          </a:xfrm>
          <a:prstGeom prst="roundRect">
            <a:avLst>
              <a:gd name="adj" fmla="val 7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90688" y="2697480"/>
            <a:ext cx="3749039" cy="292608"/>
          </a:xfrm>
          <a:prstGeom prst="rect">
            <a:avLst/>
          </a:prstGeom>
          <a:noFill/>
        </p:spPr>
        <p:txBody>
          <a:bodyPr wrap="square">
            <a:spAutoFit/>
          </a:bodyPr>
          <a:lstStyle/>
          <a:p>
            <a:pPr algn="l"/>
            <a:r>
              <a:rPr sz="1300" b="1" i="0">
                <a:solidFill>
                  <a:srgbClr val="111827"/>
                </a:solidFill>
                <a:latin typeface="Segoe UI"/>
              </a:rPr>
              <a:t>Cluster 1 · 65.9%</a:t>
            </a:r>
          </a:p>
        </p:txBody>
      </p:sp>
      <p:sp>
        <p:nvSpPr>
          <p:cNvPr id="18" name="TextBox 17"/>
          <p:cNvSpPr txBox="1"/>
          <p:nvPr/>
        </p:nvSpPr>
        <p:spPr>
          <a:xfrm>
            <a:off x="7790688" y="3008376"/>
            <a:ext cx="3749039" cy="292608"/>
          </a:xfrm>
          <a:prstGeom prst="rect">
            <a:avLst/>
          </a:prstGeom>
          <a:noFill/>
        </p:spPr>
        <p:txBody>
          <a:bodyPr wrap="square">
            <a:spAutoFit/>
          </a:bodyPr>
          <a:lstStyle/>
          <a:p>
            <a:pPr algn="l"/>
            <a:r>
              <a:rPr sz="1300" b="1" i="0">
                <a:solidFill>
                  <a:srgbClr val="DC2626"/>
                </a:solidFill>
                <a:latin typeface="Segoe UI"/>
              </a:rPr>
              <a:t>Obesidad severa</a:t>
            </a:r>
          </a:p>
        </p:txBody>
      </p:sp>
      <p:sp>
        <p:nvSpPr>
          <p:cNvPr id="19" name="TextBox 18"/>
          <p:cNvSpPr txBox="1"/>
          <p:nvPr/>
        </p:nvSpPr>
        <p:spPr>
          <a:xfrm>
            <a:off x="7790688" y="3319272"/>
            <a:ext cx="3840480" cy="438912"/>
          </a:xfrm>
          <a:prstGeom prst="rect">
            <a:avLst/>
          </a:prstGeom>
          <a:noFill/>
        </p:spPr>
        <p:txBody>
          <a:bodyPr wrap="square">
            <a:spAutoFit/>
          </a:bodyPr>
          <a:lstStyle/>
          <a:p>
            <a:pPr algn="l"/>
            <a:r>
              <a:rPr sz="1100" b="0" i="0">
                <a:solidFill>
                  <a:srgbClr val="64748B"/>
                </a:solidFill>
                <a:latin typeface="Segoe UI"/>
              </a:rPr>
              <a:t>IMC 33.0 · 97.7 kg · FAF 0.96 · Hist. familiar 100%</a:t>
            </a:r>
          </a:p>
        </p:txBody>
      </p:sp>
      <p:sp>
        <p:nvSpPr>
          <p:cNvPr id="20" name="Rounded Rectangle 19"/>
          <p:cNvSpPr/>
          <p:nvPr/>
        </p:nvSpPr>
        <p:spPr>
          <a:xfrm>
            <a:off x="7498079" y="3950208"/>
            <a:ext cx="4297680" cy="1207008"/>
          </a:xfrm>
          <a:prstGeom prst="roundRect">
            <a:avLst>
              <a:gd name="adj" fmla="val 7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7498079" y="3950208"/>
            <a:ext cx="109728" cy="1207008"/>
          </a:xfrm>
          <a:prstGeom prst="roundRect">
            <a:avLst>
              <a:gd name="adj" fmla="val 7000"/>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90688" y="4023360"/>
            <a:ext cx="3749039" cy="292608"/>
          </a:xfrm>
          <a:prstGeom prst="rect">
            <a:avLst/>
          </a:prstGeom>
          <a:noFill/>
        </p:spPr>
        <p:txBody>
          <a:bodyPr wrap="square">
            <a:spAutoFit/>
          </a:bodyPr>
          <a:lstStyle/>
          <a:p>
            <a:pPr algn="l"/>
            <a:r>
              <a:rPr sz="1300" b="1" i="0">
                <a:solidFill>
                  <a:srgbClr val="111827"/>
                </a:solidFill>
                <a:latin typeface="Segoe UI"/>
              </a:rPr>
              <a:t>Cluster 2 · 5.4%</a:t>
            </a:r>
          </a:p>
        </p:txBody>
      </p:sp>
      <p:sp>
        <p:nvSpPr>
          <p:cNvPr id="23" name="TextBox 22"/>
          <p:cNvSpPr txBox="1"/>
          <p:nvPr/>
        </p:nvSpPr>
        <p:spPr>
          <a:xfrm>
            <a:off x="7790688" y="4334256"/>
            <a:ext cx="3749039" cy="292608"/>
          </a:xfrm>
          <a:prstGeom prst="rect">
            <a:avLst/>
          </a:prstGeom>
          <a:noFill/>
        </p:spPr>
        <p:txBody>
          <a:bodyPr wrap="square">
            <a:spAutoFit/>
          </a:bodyPr>
          <a:lstStyle/>
          <a:p>
            <a:pPr algn="l"/>
            <a:r>
              <a:rPr sz="1300" b="1" i="0">
                <a:solidFill>
                  <a:srgbClr val="F97316"/>
                </a:solidFill>
                <a:latin typeface="Segoe UI"/>
              </a:rPr>
              <a:t>Sobrepeso leve</a:t>
            </a:r>
          </a:p>
        </p:txBody>
      </p:sp>
      <p:sp>
        <p:nvSpPr>
          <p:cNvPr id="24" name="TextBox 23"/>
          <p:cNvSpPr txBox="1"/>
          <p:nvPr/>
        </p:nvSpPr>
        <p:spPr>
          <a:xfrm>
            <a:off x="7790688" y="4645152"/>
            <a:ext cx="3840480" cy="438912"/>
          </a:xfrm>
          <a:prstGeom prst="rect">
            <a:avLst/>
          </a:prstGeom>
          <a:noFill/>
        </p:spPr>
        <p:txBody>
          <a:bodyPr wrap="square">
            <a:spAutoFit/>
          </a:bodyPr>
          <a:lstStyle/>
          <a:p>
            <a:pPr algn="l"/>
            <a:r>
              <a:rPr sz="1100" b="0" i="0">
                <a:solidFill>
                  <a:srgbClr val="64748B"/>
                </a:solidFill>
                <a:latin typeface="Segoe UI"/>
              </a:rPr>
              <a:t>IMC 26.4 · 79.3 kg · FAF 1.29 · Hist. familiar 70%</a:t>
            </a:r>
          </a:p>
        </p:txBody>
      </p:sp>
      <p:sp>
        <p:nvSpPr>
          <p:cNvPr id="25" name="Rounded Rectangle 24"/>
          <p:cNvSpPr/>
          <p:nvPr/>
        </p:nvSpPr>
        <p:spPr>
          <a:xfrm>
            <a:off x="7498079" y="5276088"/>
            <a:ext cx="4297680" cy="1207008"/>
          </a:xfrm>
          <a:prstGeom prst="roundRect">
            <a:avLst>
              <a:gd name="adj" fmla="val 7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7498079" y="5276088"/>
            <a:ext cx="109728" cy="1207008"/>
          </a:xfrm>
          <a:prstGeom prst="roundRect">
            <a:avLst>
              <a:gd name="adj" fmla="val 7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790688" y="5349240"/>
            <a:ext cx="3749039" cy="292608"/>
          </a:xfrm>
          <a:prstGeom prst="rect">
            <a:avLst/>
          </a:prstGeom>
          <a:noFill/>
        </p:spPr>
        <p:txBody>
          <a:bodyPr wrap="square">
            <a:spAutoFit/>
          </a:bodyPr>
          <a:lstStyle/>
          <a:p>
            <a:pPr algn="l"/>
            <a:r>
              <a:rPr sz="1300" b="1" i="0">
                <a:solidFill>
                  <a:srgbClr val="111827"/>
                </a:solidFill>
                <a:latin typeface="Segoe UI"/>
              </a:rPr>
              <a:t>Cluster 3 · 13.8%</a:t>
            </a:r>
          </a:p>
        </p:txBody>
      </p:sp>
      <p:sp>
        <p:nvSpPr>
          <p:cNvPr id="28" name="TextBox 27"/>
          <p:cNvSpPr txBox="1"/>
          <p:nvPr/>
        </p:nvSpPr>
        <p:spPr>
          <a:xfrm>
            <a:off x="7790688" y="5660136"/>
            <a:ext cx="3749039" cy="292608"/>
          </a:xfrm>
          <a:prstGeom prst="rect">
            <a:avLst/>
          </a:prstGeom>
          <a:noFill/>
        </p:spPr>
        <p:txBody>
          <a:bodyPr wrap="square">
            <a:spAutoFit/>
          </a:bodyPr>
          <a:lstStyle/>
          <a:p>
            <a:pPr algn="l"/>
            <a:r>
              <a:rPr sz="1300" b="1" i="0">
                <a:solidFill>
                  <a:srgbClr val="2563EB"/>
                </a:solidFill>
                <a:latin typeface="Segoe UI"/>
              </a:rPr>
              <a:t>Sobrepeso leve</a:t>
            </a:r>
          </a:p>
        </p:txBody>
      </p:sp>
      <p:sp>
        <p:nvSpPr>
          <p:cNvPr id="29" name="TextBox 28"/>
          <p:cNvSpPr txBox="1"/>
          <p:nvPr/>
        </p:nvSpPr>
        <p:spPr>
          <a:xfrm>
            <a:off x="7790688" y="5971032"/>
            <a:ext cx="3840480" cy="438912"/>
          </a:xfrm>
          <a:prstGeom prst="rect">
            <a:avLst/>
          </a:prstGeom>
          <a:noFill/>
        </p:spPr>
        <p:txBody>
          <a:bodyPr wrap="square">
            <a:spAutoFit/>
          </a:bodyPr>
          <a:lstStyle/>
          <a:p>
            <a:pPr algn="l"/>
            <a:r>
              <a:rPr sz="1100" b="0" i="0">
                <a:solidFill>
                  <a:srgbClr val="64748B"/>
                </a:solidFill>
                <a:latin typeface="Segoe UI"/>
              </a:rPr>
              <a:t>IMC 23.7 · 65.6 kg · FAF 1.16 · Hist. familiar 36%</a:t>
            </a:r>
          </a:p>
        </p:txBody>
      </p:sp>
      <p:sp>
        <p:nvSpPr>
          <p:cNvPr id="30" name="TextBox 29"/>
          <p:cNvSpPr txBox="1"/>
          <p:nvPr/>
        </p:nvSpPr>
        <p:spPr>
          <a:xfrm>
            <a:off x="7498079" y="6446520"/>
            <a:ext cx="4297680" cy="347472"/>
          </a:xfrm>
          <a:prstGeom prst="rect">
            <a:avLst/>
          </a:prstGeom>
          <a:noFill/>
        </p:spPr>
        <p:txBody>
          <a:bodyPr wrap="square">
            <a:spAutoFit/>
          </a:bodyPr>
          <a:lstStyle/>
          <a:p>
            <a:pPr algn="l"/>
            <a:r>
              <a:rPr sz="1000" b="0" i="1">
                <a:solidFill>
                  <a:srgbClr val="64748B"/>
                </a:solidFill>
                <a:latin typeface="Segoe UI"/>
              </a:rPr>
              <a:t>Decisión: Gaussian Mixture (k=4) por adecuación a la estructura no globular
(componentes elípticas + Silhouette superior; k por BIC/parsimonia/accionabilidad).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11480" y="256032"/>
            <a:ext cx="146304" cy="59436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182880"/>
            <a:ext cx="10881360" cy="830997"/>
          </a:xfrm>
          <a:prstGeom prst="rect">
            <a:avLst/>
          </a:prstGeom>
          <a:noFill/>
        </p:spPr>
        <p:txBody>
          <a:bodyPr wrap="square">
            <a:spAutoFit/>
          </a:bodyPr>
          <a:lstStyle/>
          <a:p>
            <a:pPr algn="l"/>
            <a:r>
              <a:rPr sz="2400" b="1" i="0" dirty="0" err="1">
                <a:solidFill>
                  <a:srgbClr val="111827"/>
                </a:solidFill>
                <a:latin typeface="Segoe UI"/>
              </a:rPr>
              <a:t>XGBoost</a:t>
            </a:r>
            <a:r>
              <a:rPr sz="2400" b="1" i="0" dirty="0">
                <a:solidFill>
                  <a:srgbClr val="111827"/>
                </a:solidFill>
                <a:latin typeface="Segoe UI"/>
              </a:rPr>
              <a:t> </a:t>
            </a:r>
            <a:r>
              <a:rPr sz="2400" b="1" i="0" dirty="0" err="1">
                <a:solidFill>
                  <a:srgbClr val="111827"/>
                </a:solidFill>
                <a:latin typeface="Segoe UI"/>
              </a:rPr>
              <a:t>obtuvo</a:t>
            </a:r>
            <a:r>
              <a:rPr sz="2400" b="1" i="0" dirty="0">
                <a:solidFill>
                  <a:srgbClr val="111827"/>
                </a:solidFill>
                <a:latin typeface="Segoe UI"/>
              </a:rPr>
              <a:t> </a:t>
            </a:r>
            <a:r>
              <a:rPr sz="2400" b="1" i="0" dirty="0" err="1">
                <a:solidFill>
                  <a:srgbClr val="111827"/>
                </a:solidFill>
                <a:latin typeface="Segoe UI"/>
              </a:rPr>
              <a:t>el</a:t>
            </a:r>
            <a:r>
              <a:rPr sz="2400" b="1" i="0" dirty="0">
                <a:solidFill>
                  <a:srgbClr val="111827"/>
                </a:solidFill>
                <a:latin typeface="Segoe UI"/>
              </a:rPr>
              <a:t> </a:t>
            </a:r>
            <a:r>
              <a:rPr sz="2400" b="1" i="0" dirty="0" err="1">
                <a:solidFill>
                  <a:srgbClr val="111827"/>
                </a:solidFill>
                <a:latin typeface="Segoe UI"/>
              </a:rPr>
              <a:t>mejor</a:t>
            </a:r>
            <a:r>
              <a:rPr sz="2400" b="1" i="0" dirty="0">
                <a:solidFill>
                  <a:srgbClr val="111827"/>
                </a:solidFill>
                <a:latin typeface="Segoe UI"/>
              </a:rPr>
              <a:t> F1 macro </a:t>
            </a:r>
            <a:r>
              <a:rPr sz="2400" b="1" i="0" dirty="0" err="1">
                <a:solidFill>
                  <a:srgbClr val="111827"/>
                </a:solidFill>
                <a:latin typeface="Segoe UI"/>
              </a:rPr>
              <a:t>en</a:t>
            </a:r>
            <a:r>
              <a:rPr sz="2400" b="1" i="0" dirty="0">
                <a:solidFill>
                  <a:srgbClr val="111827"/>
                </a:solidFill>
                <a:latin typeface="Segoe UI"/>
              </a:rPr>
              <a:t> test entre </a:t>
            </a:r>
            <a:r>
              <a:rPr sz="2400" b="1" i="0" dirty="0" err="1">
                <a:solidFill>
                  <a:srgbClr val="111827"/>
                </a:solidFill>
                <a:latin typeface="Segoe UI"/>
              </a:rPr>
              <a:t>los</a:t>
            </a:r>
            <a:r>
              <a:rPr sz="2400" b="1" i="0" dirty="0">
                <a:solidFill>
                  <a:srgbClr val="111827"/>
                </a:solidFill>
                <a:latin typeface="Segoe UI"/>
              </a:rPr>
              <a:t> 6 </a:t>
            </a:r>
            <a:r>
              <a:rPr sz="2400" b="1" i="0" dirty="0" err="1">
                <a:solidFill>
                  <a:srgbClr val="111827"/>
                </a:solidFill>
                <a:latin typeface="Segoe UI"/>
              </a:rPr>
              <a:t>modelos</a:t>
            </a:r>
            <a:r>
              <a:rPr sz="2400" b="1" i="0" dirty="0">
                <a:solidFill>
                  <a:srgbClr val="111827"/>
                </a:solidFill>
                <a:latin typeface="Segoe UI"/>
              </a:rPr>
              <a:t> </a:t>
            </a:r>
            <a:r>
              <a:rPr sz="2400" b="1" i="0" dirty="0" err="1">
                <a:solidFill>
                  <a:srgbClr val="111827"/>
                </a:solidFill>
                <a:latin typeface="Segoe UI"/>
              </a:rPr>
              <a:t>comparados</a:t>
            </a:r>
            <a:endParaRPr sz="2400" b="1" i="0" dirty="0">
              <a:solidFill>
                <a:srgbClr val="111827"/>
              </a:solidFill>
              <a:latin typeface="Segoe UI"/>
            </a:endParaRPr>
          </a:p>
        </p:txBody>
      </p:sp>
      <p:sp>
        <p:nvSpPr>
          <p:cNvPr id="5" name="TextBox 4"/>
          <p:cNvSpPr txBox="1"/>
          <p:nvPr/>
        </p:nvSpPr>
        <p:spPr>
          <a:xfrm>
            <a:off x="2676067" y="670977"/>
            <a:ext cx="10881360" cy="347472"/>
          </a:xfrm>
          <a:prstGeom prst="rect">
            <a:avLst/>
          </a:prstGeom>
          <a:noFill/>
        </p:spPr>
        <p:txBody>
          <a:bodyPr wrap="square">
            <a:spAutoFit/>
          </a:bodyPr>
          <a:lstStyle/>
          <a:p>
            <a:pPr algn="l"/>
            <a:r>
              <a:rPr sz="1400" b="0" i="0" dirty="0" err="1">
                <a:solidFill>
                  <a:srgbClr val="64748B"/>
                </a:solidFill>
                <a:latin typeface="Segoe UI"/>
              </a:rPr>
              <a:t>Clasificación</a:t>
            </a:r>
            <a:r>
              <a:rPr sz="1400" b="0" i="0" dirty="0">
                <a:solidFill>
                  <a:srgbClr val="64748B"/>
                </a:solidFill>
                <a:latin typeface="Segoe UI"/>
              </a:rPr>
              <a:t> — </a:t>
            </a:r>
            <a:r>
              <a:rPr sz="1400" b="0" i="0" dirty="0" err="1">
                <a:solidFill>
                  <a:srgbClr val="64748B"/>
                </a:solidFill>
                <a:latin typeface="Segoe UI"/>
              </a:rPr>
              <a:t>comparación</a:t>
            </a:r>
            <a:r>
              <a:rPr sz="1400" b="0" i="0" dirty="0">
                <a:solidFill>
                  <a:srgbClr val="64748B"/>
                </a:solidFill>
                <a:latin typeface="Segoe UI"/>
              </a:rPr>
              <a:t> </a:t>
            </a:r>
            <a:r>
              <a:rPr sz="1400" b="0" i="0" dirty="0" err="1">
                <a:solidFill>
                  <a:srgbClr val="64748B"/>
                </a:solidFill>
                <a:latin typeface="Segoe UI"/>
              </a:rPr>
              <a:t>en</a:t>
            </a:r>
            <a:r>
              <a:rPr sz="1400" b="0" i="0" dirty="0">
                <a:solidFill>
                  <a:srgbClr val="64748B"/>
                </a:solidFill>
                <a:latin typeface="Segoe UI"/>
              </a:rPr>
              <a:t> conjunto de test</a:t>
            </a:r>
          </a:p>
        </p:txBody>
      </p:sp>
      <p:sp>
        <p:nvSpPr>
          <p:cNvPr id="6" name="Rectangle 5"/>
          <p:cNvSpPr/>
          <p:nvPr/>
        </p:nvSpPr>
        <p:spPr>
          <a:xfrm>
            <a:off x="411480" y="1133856"/>
            <a:ext cx="11365992"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55680" y="6510528"/>
            <a:ext cx="914400" cy="274320"/>
          </a:xfrm>
          <a:prstGeom prst="rect">
            <a:avLst/>
          </a:prstGeom>
          <a:noFill/>
        </p:spPr>
        <p:txBody>
          <a:bodyPr wrap="square">
            <a:spAutoFit/>
          </a:bodyPr>
          <a:lstStyle/>
          <a:p>
            <a:pPr algn="r"/>
            <a:r>
              <a:rPr sz="900" b="0" i="0">
                <a:solidFill>
                  <a:srgbClr val="64748B"/>
                </a:solidFill>
                <a:latin typeface="Segoe UI"/>
              </a:rPr>
              <a:t>09 / 20</a:t>
            </a:r>
          </a:p>
        </p:txBody>
      </p:sp>
      <p:sp>
        <p:nvSpPr>
          <p:cNvPr id="9" name="Rounded Rectangle 8"/>
          <p:cNvSpPr/>
          <p:nvPr/>
        </p:nvSpPr>
        <p:spPr>
          <a:xfrm>
            <a:off x="411480" y="1298448"/>
            <a:ext cx="6675120" cy="3133898"/>
          </a:xfrm>
          <a:prstGeom prst="roundRect">
            <a:avLst>
              <a:gd name="adj" fmla="val 7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08_comparacion_modelos.png"/>
          <p:cNvPicPr>
            <a:picLocks noChangeAspect="1"/>
          </p:cNvPicPr>
          <p:nvPr/>
        </p:nvPicPr>
        <p:blipFill>
          <a:blip r:embed="rId2"/>
          <a:stretch>
            <a:fillRect/>
          </a:stretch>
        </p:blipFill>
        <p:spPr>
          <a:xfrm>
            <a:off x="502920" y="1389888"/>
            <a:ext cx="6492240" cy="2951018"/>
          </a:xfrm>
          <a:prstGeom prst="rect">
            <a:avLst/>
          </a:prstGeom>
        </p:spPr>
      </p:pic>
      <p:sp>
        <p:nvSpPr>
          <p:cNvPr id="10" name="TextBox 9"/>
          <p:cNvSpPr txBox="1"/>
          <p:nvPr/>
        </p:nvSpPr>
        <p:spPr>
          <a:xfrm>
            <a:off x="6903720" y="1298448"/>
            <a:ext cx="4937760" cy="347472"/>
          </a:xfrm>
          <a:prstGeom prst="rect">
            <a:avLst/>
          </a:prstGeom>
          <a:noFill/>
        </p:spPr>
        <p:txBody>
          <a:bodyPr wrap="square">
            <a:spAutoFit/>
          </a:bodyPr>
          <a:lstStyle/>
          <a:p>
            <a:pPr algn="l"/>
            <a:r>
              <a:rPr sz="1400" b="1" i="0">
                <a:solidFill>
                  <a:srgbClr val="111827"/>
                </a:solidFill>
                <a:latin typeface="Segoe UI"/>
              </a:rPr>
              <a:t>Métricas en test (20% estratificado)</a:t>
            </a:r>
          </a:p>
        </p:txBody>
      </p:sp>
      <p:sp>
        <p:nvSpPr>
          <p:cNvPr id="11" name="Rectangle 10"/>
          <p:cNvSpPr/>
          <p:nvPr/>
        </p:nvSpPr>
        <p:spPr>
          <a:xfrm>
            <a:off x="6903720" y="1719072"/>
            <a:ext cx="1645920" cy="438912"/>
          </a:xfrm>
          <a:prstGeom prst="rect">
            <a:avLst/>
          </a:prstGeom>
          <a:solidFill>
            <a:srgbClr val="0F172A"/>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958584" y="1764792"/>
            <a:ext cx="1572768" cy="402336"/>
          </a:xfrm>
          <a:prstGeom prst="rect">
            <a:avLst/>
          </a:prstGeom>
          <a:noFill/>
        </p:spPr>
        <p:txBody>
          <a:bodyPr wrap="square">
            <a:spAutoFit/>
          </a:bodyPr>
          <a:lstStyle/>
          <a:p>
            <a:pPr algn="l"/>
            <a:r>
              <a:rPr sz="1000" b="1" i="0">
                <a:solidFill>
                  <a:srgbClr val="FFFFFF"/>
                </a:solidFill>
                <a:latin typeface="Segoe UI"/>
              </a:rPr>
              <a:t>Modelo</a:t>
            </a:r>
          </a:p>
        </p:txBody>
      </p:sp>
      <p:sp>
        <p:nvSpPr>
          <p:cNvPr id="13" name="Rectangle 12"/>
          <p:cNvSpPr/>
          <p:nvPr/>
        </p:nvSpPr>
        <p:spPr>
          <a:xfrm>
            <a:off x="8549640" y="1719072"/>
            <a:ext cx="841248" cy="438912"/>
          </a:xfrm>
          <a:prstGeom prst="rect">
            <a:avLst/>
          </a:prstGeom>
          <a:solidFill>
            <a:srgbClr val="0F172A"/>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04504" y="1764792"/>
            <a:ext cx="768096" cy="402336"/>
          </a:xfrm>
          <a:prstGeom prst="rect">
            <a:avLst/>
          </a:prstGeom>
          <a:noFill/>
        </p:spPr>
        <p:txBody>
          <a:bodyPr wrap="square">
            <a:spAutoFit/>
          </a:bodyPr>
          <a:lstStyle/>
          <a:p>
            <a:pPr algn="ctr"/>
            <a:r>
              <a:rPr sz="1000" b="1" i="0">
                <a:solidFill>
                  <a:srgbClr val="FFFFFF"/>
                </a:solidFill>
                <a:latin typeface="Segoe UI"/>
              </a:rPr>
              <a:t>Accuracy</a:t>
            </a:r>
          </a:p>
        </p:txBody>
      </p:sp>
      <p:sp>
        <p:nvSpPr>
          <p:cNvPr id="15" name="Rectangle 14"/>
          <p:cNvSpPr/>
          <p:nvPr/>
        </p:nvSpPr>
        <p:spPr>
          <a:xfrm>
            <a:off x="9390888" y="1719072"/>
            <a:ext cx="786384" cy="438912"/>
          </a:xfrm>
          <a:prstGeom prst="rect">
            <a:avLst/>
          </a:prstGeom>
          <a:solidFill>
            <a:srgbClr val="0F172A"/>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445752" y="1764792"/>
            <a:ext cx="713232" cy="402336"/>
          </a:xfrm>
          <a:prstGeom prst="rect">
            <a:avLst/>
          </a:prstGeom>
          <a:noFill/>
        </p:spPr>
        <p:txBody>
          <a:bodyPr wrap="square">
            <a:spAutoFit/>
          </a:bodyPr>
          <a:lstStyle/>
          <a:p>
            <a:pPr algn="ctr"/>
            <a:r>
              <a:rPr sz="1000" b="1" i="0">
                <a:solidFill>
                  <a:srgbClr val="FFFFFF"/>
                </a:solidFill>
                <a:latin typeface="Segoe UI"/>
              </a:rPr>
              <a:t>Prec. M</a:t>
            </a:r>
          </a:p>
        </p:txBody>
      </p:sp>
      <p:sp>
        <p:nvSpPr>
          <p:cNvPr id="17" name="Rectangle 16"/>
          <p:cNvSpPr/>
          <p:nvPr/>
        </p:nvSpPr>
        <p:spPr>
          <a:xfrm>
            <a:off x="10177272" y="1719072"/>
            <a:ext cx="795528" cy="438912"/>
          </a:xfrm>
          <a:prstGeom prst="rect">
            <a:avLst/>
          </a:prstGeom>
          <a:solidFill>
            <a:srgbClr val="0F172A"/>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232136" y="1764792"/>
            <a:ext cx="722376" cy="402336"/>
          </a:xfrm>
          <a:prstGeom prst="rect">
            <a:avLst/>
          </a:prstGeom>
          <a:noFill/>
        </p:spPr>
        <p:txBody>
          <a:bodyPr wrap="square">
            <a:spAutoFit/>
          </a:bodyPr>
          <a:lstStyle/>
          <a:p>
            <a:pPr algn="ctr"/>
            <a:r>
              <a:rPr sz="1000" b="1" i="0">
                <a:solidFill>
                  <a:srgbClr val="FFFFFF"/>
                </a:solidFill>
                <a:latin typeface="Segoe UI"/>
              </a:rPr>
              <a:t>Recall M</a:t>
            </a:r>
          </a:p>
        </p:txBody>
      </p:sp>
      <p:sp>
        <p:nvSpPr>
          <p:cNvPr id="19" name="Rectangle 18"/>
          <p:cNvSpPr/>
          <p:nvPr/>
        </p:nvSpPr>
        <p:spPr>
          <a:xfrm>
            <a:off x="10972800" y="1719072"/>
            <a:ext cx="777240" cy="438912"/>
          </a:xfrm>
          <a:prstGeom prst="rect">
            <a:avLst/>
          </a:prstGeom>
          <a:solidFill>
            <a:srgbClr val="0F172A"/>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027664" y="1764792"/>
            <a:ext cx="704088" cy="402336"/>
          </a:xfrm>
          <a:prstGeom prst="rect">
            <a:avLst/>
          </a:prstGeom>
          <a:noFill/>
        </p:spPr>
        <p:txBody>
          <a:bodyPr wrap="square">
            <a:spAutoFit/>
          </a:bodyPr>
          <a:lstStyle/>
          <a:p>
            <a:pPr algn="ctr"/>
            <a:r>
              <a:rPr sz="1000" b="1" i="0">
                <a:solidFill>
                  <a:srgbClr val="FFFFFF"/>
                </a:solidFill>
                <a:latin typeface="Segoe UI"/>
              </a:rPr>
              <a:t>F1 Macro</a:t>
            </a:r>
          </a:p>
        </p:txBody>
      </p:sp>
      <p:sp>
        <p:nvSpPr>
          <p:cNvPr id="21" name="Rectangle 20"/>
          <p:cNvSpPr/>
          <p:nvPr/>
        </p:nvSpPr>
        <p:spPr>
          <a:xfrm>
            <a:off x="6903720" y="2157984"/>
            <a:ext cx="1645920" cy="438912"/>
          </a:xfrm>
          <a:prstGeom prst="rect">
            <a:avLst/>
          </a:prstGeom>
          <a:solidFill>
            <a:srgbClr val="DCFCE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958584" y="2203704"/>
            <a:ext cx="1572768" cy="402336"/>
          </a:xfrm>
          <a:prstGeom prst="rect">
            <a:avLst/>
          </a:prstGeom>
          <a:noFill/>
        </p:spPr>
        <p:txBody>
          <a:bodyPr wrap="square">
            <a:spAutoFit/>
          </a:bodyPr>
          <a:lstStyle/>
          <a:p>
            <a:pPr algn="l"/>
            <a:r>
              <a:rPr sz="1000" b="1" i="0">
                <a:solidFill>
                  <a:srgbClr val="16A34A"/>
                </a:solidFill>
                <a:latin typeface="Segoe UI"/>
              </a:rPr>
              <a:t>XGBoost ★</a:t>
            </a:r>
          </a:p>
        </p:txBody>
      </p:sp>
      <p:sp>
        <p:nvSpPr>
          <p:cNvPr id="23" name="Rectangle 22"/>
          <p:cNvSpPr/>
          <p:nvPr/>
        </p:nvSpPr>
        <p:spPr>
          <a:xfrm>
            <a:off x="8549640" y="2157984"/>
            <a:ext cx="841248" cy="438912"/>
          </a:xfrm>
          <a:prstGeom prst="rect">
            <a:avLst/>
          </a:prstGeom>
          <a:solidFill>
            <a:srgbClr val="DCFCE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604504" y="2203704"/>
            <a:ext cx="768096" cy="402336"/>
          </a:xfrm>
          <a:prstGeom prst="rect">
            <a:avLst/>
          </a:prstGeom>
          <a:noFill/>
        </p:spPr>
        <p:txBody>
          <a:bodyPr wrap="square">
            <a:spAutoFit/>
          </a:bodyPr>
          <a:lstStyle/>
          <a:p>
            <a:pPr algn="ctr"/>
            <a:r>
              <a:rPr sz="1000" b="1" i="0">
                <a:solidFill>
                  <a:srgbClr val="16A34A"/>
                </a:solidFill>
                <a:latin typeface="Segoe UI"/>
              </a:rPr>
              <a:t>0.9645</a:t>
            </a:r>
          </a:p>
        </p:txBody>
      </p:sp>
      <p:sp>
        <p:nvSpPr>
          <p:cNvPr id="25" name="Rectangle 24"/>
          <p:cNvSpPr/>
          <p:nvPr/>
        </p:nvSpPr>
        <p:spPr>
          <a:xfrm>
            <a:off x="9390888" y="2157984"/>
            <a:ext cx="786384" cy="438912"/>
          </a:xfrm>
          <a:prstGeom prst="rect">
            <a:avLst/>
          </a:prstGeom>
          <a:solidFill>
            <a:srgbClr val="DCFCE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445752" y="2203704"/>
            <a:ext cx="713232" cy="402336"/>
          </a:xfrm>
          <a:prstGeom prst="rect">
            <a:avLst/>
          </a:prstGeom>
          <a:noFill/>
        </p:spPr>
        <p:txBody>
          <a:bodyPr wrap="square">
            <a:spAutoFit/>
          </a:bodyPr>
          <a:lstStyle/>
          <a:p>
            <a:pPr algn="ctr"/>
            <a:r>
              <a:rPr sz="1000" b="1" i="0">
                <a:solidFill>
                  <a:srgbClr val="16A34A"/>
                </a:solidFill>
                <a:latin typeface="Segoe UI"/>
              </a:rPr>
              <a:t>0.9673</a:t>
            </a:r>
          </a:p>
        </p:txBody>
      </p:sp>
      <p:sp>
        <p:nvSpPr>
          <p:cNvPr id="27" name="Rectangle 26"/>
          <p:cNvSpPr/>
          <p:nvPr/>
        </p:nvSpPr>
        <p:spPr>
          <a:xfrm>
            <a:off x="10177272" y="2157984"/>
            <a:ext cx="795528" cy="438912"/>
          </a:xfrm>
          <a:prstGeom prst="rect">
            <a:avLst/>
          </a:prstGeom>
          <a:solidFill>
            <a:srgbClr val="DCFCE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32136" y="2203704"/>
            <a:ext cx="722376" cy="402336"/>
          </a:xfrm>
          <a:prstGeom prst="rect">
            <a:avLst/>
          </a:prstGeom>
          <a:noFill/>
        </p:spPr>
        <p:txBody>
          <a:bodyPr wrap="square">
            <a:spAutoFit/>
          </a:bodyPr>
          <a:lstStyle/>
          <a:p>
            <a:pPr algn="ctr"/>
            <a:r>
              <a:rPr sz="1000" b="1" i="0">
                <a:solidFill>
                  <a:srgbClr val="16A34A"/>
                </a:solidFill>
                <a:latin typeface="Segoe UI"/>
              </a:rPr>
              <a:t>0.9627</a:t>
            </a:r>
          </a:p>
        </p:txBody>
      </p:sp>
      <p:sp>
        <p:nvSpPr>
          <p:cNvPr id="29" name="Rectangle 28"/>
          <p:cNvSpPr/>
          <p:nvPr/>
        </p:nvSpPr>
        <p:spPr>
          <a:xfrm>
            <a:off x="10972800" y="2157984"/>
            <a:ext cx="777240" cy="438912"/>
          </a:xfrm>
          <a:prstGeom prst="rect">
            <a:avLst/>
          </a:prstGeom>
          <a:solidFill>
            <a:srgbClr val="DCFCE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1027664" y="2203704"/>
            <a:ext cx="704088" cy="402336"/>
          </a:xfrm>
          <a:prstGeom prst="rect">
            <a:avLst/>
          </a:prstGeom>
          <a:noFill/>
        </p:spPr>
        <p:txBody>
          <a:bodyPr wrap="square">
            <a:spAutoFit/>
          </a:bodyPr>
          <a:lstStyle/>
          <a:p>
            <a:pPr algn="ctr"/>
            <a:r>
              <a:rPr sz="1000" b="1" i="0">
                <a:solidFill>
                  <a:srgbClr val="16A34A"/>
                </a:solidFill>
                <a:latin typeface="Segoe UI"/>
              </a:rPr>
              <a:t>0.9637</a:t>
            </a:r>
          </a:p>
        </p:txBody>
      </p:sp>
      <p:sp>
        <p:nvSpPr>
          <p:cNvPr id="31" name="Rectangle 30"/>
          <p:cNvSpPr/>
          <p:nvPr/>
        </p:nvSpPr>
        <p:spPr>
          <a:xfrm>
            <a:off x="6903720" y="2596896"/>
            <a:ext cx="1645920" cy="438912"/>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958584" y="2642616"/>
            <a:ext cx="1572768" cy="402336"/>
          </a:xfrm>
          <a:prstGeom prst="rect">
            <a:avLst/>
          </a:prstGeom>
          <a:noFill/>
        </p:spPr>
        <p:txBody>
          <a:bodyPr wrap="square">
            <a:spAutoFit/>
          </a:bodyPr>
          <a:lstStyle/>
          <a:p>
            <a:pPr algn="l"/>
            <a:r>
              <a:rPr sz="1000" b="0" i="0">
                <a:solidFill>
                  <a:srgbClr val="111827"/>
                </a:solidFill>
                <a:latin typeface="Segoe UI"/>
              </a:rPr>
              <a:t>SVM</a:t>
            </a:r>
          </a:p>
        </p:txBody>
      </p:sp>
      <p:sp>
        <p:nvSpPr>
          <p:cNvPr id="33" name="Rectangle 32"/>
          <p:cNvSpPr/>
          <p:nvPr/>
        </p:nvSpPr>
        <p:spPr>
          <a:xfrm>
            <a:off x="8549640" y="2596896"/>
            <a:ext cx="841248" cy="438912"/>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604504" y="2642616"/>
            <a:ext cx="768096" cy="402336"/>
          </a:xfrm>
          <a:prstGeom prst="rect">
            <a:avLst/>
          </a:prstGeom>
          <a:noFill/>
        </p:spPr>
        <p:txBody>
          <a:bodyPr wrap="square">
            <a:spAutoFit/>
          </a:bodyPr>
          <a:lstStyle/>
          <a:p>
            <a:pPr algn="ctr"/>
            <a:r>
              <a:rPr sz="1000" b="0" i="0">
                <a:solidFill>
                  <a:srgbClr val="111827"/>
                </a:solidFill>
                <a:latin typeface="Segoe UI"/>
              </a:rPr>
              <a:t>0.9574</a:t>
            </a:r>
          </a:p>
        </p:txBody>
      </p:sp>
      <p:sp>
        <p:nvSpPr>
          <p:cNvPr id="35" name="Rectangle 34"/>
          <p:cNvSpPr/>
          <p:nvPr/>
        </p:nvSpPr>
        <p:spPr>
          <a:xfrm>
            <a:off x="9390888" y="2596896"/>
            <a:ext cx="786384" cy="438912"/>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445752" y="2642616"/>
            <a:ext cx="713232" cy="402336"/>
          </a:xfrm>
          <a:prstGeom prst="rect">
            <a:avLst/>
          </a:prstGeom>
          <a:noFill/>
        </p:spPr>
        <p:txBody>
          <a:bodyPr wrap="square">
            <a:spAutoFit/>
          </a:bodyPr>
          <a:lstStyle/>
          <a:p>
            <a:pPr algn="ctr"/>
            <a:r>
              <a:rPr sz="1000" b="0" i="0">
                <a:solidFill>
                  <a:srgbClr val="111827"/>
                </a:solidFill>
                <a:latin typeface="Segoe UI"/>
              </a:rPr>
              <a:t>0.9563</a:t>
            </a:r>
          </a:p>
        </p:txBody>
      </p:sp>
      <p:sp>
        <p:nvSpPr>
          <p:cNvPr id="37" name="Rectangle 36"/>
          <p:cNvSpPr/>
          <p:nvPr/>
        </p:nvSpPr>
        <p:spPr>
          <a:xfrm>
            <a:off x="10177272" y="2596896"/>
            <a:ext cx="795528" cy="438912"/>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232136" y="2642616"/>
            <a:ext cx="722376" cy="402336"/>
          </a:xfrm>
          <a:prstGeom prst="rect">
            <a:avLst/>
          </a:prstGeom>
          <a:noFill/>
        </p:spPr>
        <p:txBody>
          <a:bodyPr wrap="square">
            <a:spAutoFit/>
          </a:bodyPr>
          <a:lstStyle/>
          <a:p>
            <a:pPr algn="ctr"/>
            <a:r>
              <a:rPr sz="1000" b="0" i="0">
                <a:solidFill>
                  <a:srgbClr val="111827"/>
                </a:solidFill>
                <a:latin typeface="Segoe UI"/>
              </a:rPr>
              <a:t>0.9565</a:t>
            </a:r>
          </a:p>
        </p:txBody>
      </p:sp>
      <p:sp>
        <p:nvSpPr>
          <p:cNvPr id="39" name="Rectangle 38"/>
          <p:cNvSpPr/>
          <p:nvPr/>
        </p:nvSpPr>
        <p:spPr>
          <a:xfrm>
            <a:off x="10972800" y="2596896"/>
            <a:ext cx="777240" cy="438912"/>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1027664" y="2642616"/>
            <a:ext cx="704088" cy="402336"/>
          </a:xfrm>
          <a:prstGeom prst="rect">
            <a:avLst/>
          </a:prstGeom>
          <a:noFill/>
        </p:spPr>
        <p:txBody>
          <a:bodyPr wrap="square">
            <a:spAutoFit/>
          </a:bodyPr>
          <a:lstStyle/>
          <a:p>
            <a:pPr algn="ctr"/>
            <a:r>
              <a:rPr sz="1000" b="0" i="0">
                <a:solidFill>
                  <a:srgbClr val="111827"/>
                </a:solidFill>
                <a:latin typeface="Segoe UI"/>
              </a:rPr>
              <a:t>0.9563</a:t>
            </a:r>
          </a:p>
        </p:txBody>
      </p:sp>
      <p:sp>
        <p:nvSpPr>
          <p:cNvPr id="41" name="Rectangle 40"/>
          <p:cNvSpPr/>
          <p:nvPr/>
        </p:nvSpPr>
        <p:spPr>
          <a:xfrm>
            <a:off x="6903720" y="3035808"/>
            <a:ext cx="1645920" cy="438912"/>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958584" y="3081528"/>
            <a:ext cx="1572768" cy="402336"/>
          </a:xfrm>
          <a:prstGeom prst="rect">
            <a:avLst/>
          </a:prstGeom>
          <a:noFill/>
        </p:spPr>
        <p:txBody>
          <a:bodyPr wrap="square">
            <a:spAutoFit/>
          </a:bodyPr>
          <a:lstStyle/>
          <a:p>
            <a:pPr algn="l"/>
            <a:r>
              <a:rPr sz="1000" b="0" i="0">
                <a:solidFill>
                  <a:srgbClr val="111827"/>
                </a:solidFill>
                <a:latin typeface="Segoe UI"/>
              </a:rPr>
              <a:t>Random Forest</a:t>
            </a:r>
          </a:p>
        </p:txBody>
      </p:sp>
      <p:sp>
        <p:nvSpPr>
          <p:cNvPr id="43" name="Rectangle 42"/>
          <p:cNvSpPr/>
          <p:nvPr/>
        </p:nvSpPr>
        <p:spPr>
          <a:xfrm>
            <a:off x="8549640" y="3035808"/>
            <a:ext cx="841248" cy="438912"/>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604504" y="3081528"/>
            <a:ext cx="768096" cy="402336"/>
          </a:xfrm>
          <a:prstGeom prst="rect">
            <a:avLst/>
          </a:prstGeom>
          <a:noFill/>
        </p:spPr>
        <p:txBody>
          <a:bodyPr wrap="square">
            <a:spAutoFit/>
          </a:bodyPr>
          <a:lstStyle/>
          <a:p>
            <a:pPr algn="ctr"/>
            <a:r>
              <a:rPr sz="1000" b="0" i="0">
                <a:solidFill>
                  <a:srgbClr val="111827"/>
                </a:solidFill>
                <a:latin typeface="Segoe UI"/>
              </a:rPr>
              <a:t>0.9456</a:t>
            </a:r>
          </a:p>
        </p:txBody>
      </p:sp>
      <p:sp>
        <p:nvSpPr>
          <p:cNvPr id="45" name="Rectangle 44"/>
          <p:cNvSpPr/>
          <p:nvPr/>
        </p:nvSpPr>
        <p:spPr>
          <a:xfrm>
            <a:off x="9390888" y="3035808"/>
            <a:ext cx="786384" cy="438912"/>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445752" y="3081528"/>
            <a:ext cx="713232" cy="402336"/>
          </a:xfrm>
          <a:prstGeom prst="rect">
            <a:avLst/>
          </a:prstGeom>
          <a:noFill/>
        </p:spPr>
        <p:txBody>
          <a:bodyPr wrap="square">
            <a:spAutoFit/>
          </a:bodyPr>
          <a:lstStyle/>
          <a:p>
            <a:pPr algn="ctr"/>
            <a:r>
              <a:rPr sz="1000" b="0" i="0">
                <a:solidFill>
                  <a:srgbClr val="111827"/>
                </a:solidFill>
                <a:latin typeface="Segoe UI"/>
              </a:rPr>
              <a:t>0.9508</a:t>
            </a:r>
          </a:p>
        </p:txBody>
      </p:sp>
      <p:sp>
        <p:nvSpPr>
          <p:cNvPr id="47" name="Rectangle 46"/>
          <p:cNvSpPr/>
          <p:nvPr/>
        </p:nvSpPr>
        <p:spPr>
          <a:xfrm>
            <a:off x="10177272" y="3035808"/>
            <a:ext cx="795528" cy="438912"/>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0232136" y="3081528"/>
            <a:ext cx="722376" cy="402336"/>
          </a:xfrm>
          <a:prstGeom prst="rect">
            <a:avLst/>
          </a:prstGeom>
          <a:noFill/>
        </p:spPr>
        <p:txBody>
          <a:bodyPr wrap="square">
            <a:spAutoFit/>
          </a:bodyPr>
          <a:lstStyle/>
          <a:p>
            <a:pPr algn="ctr"/>
            <a:r>
              <a:rPr sz="1000" b="0" i="0">
                <a:solidFill>
                  <a:srgbClr val="111827"/>
                </a:solidFill>
                <a:latin typeface="Segoe UI"/>
              </a:rPr>
              <a:t>0.9435</a:t>
            </a:r>
          </a:p>
        </p:txBody>
      </p:sp>
      <p:sp>
        <p:nvSpPr>
          <p:cNvPr id="49" name="Rectangle 48"/>
          <p:cNvSpPr/>
          <p:nvPr/>
        </p:nvSpPr>
        <p:spPr>
          <a:xfrm>
            <a:off x="10972800" y="3035808"/>
            <a:ext cx="777240" cy="438912"/>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1027664" y="3081528"/>
            <a:ext cx="704088" cy="402336"/>
          </a:xfrm>
          <a:prstGeom prst="rect">
            <a:avLst/>
          </a:prstGeom>
          <a:noFill/>
        </p:spPr>
        <p:txBody>
          <a:bodyPr wrap="square">
            <a:spAutoFit/>
          </a:bodyPr>
          <a:lstStyle/>
          <a:p>
            <a:pPr algn="ctr"/>
            <a:r>
              <a:rPr sz="1000" b="0" i="0">
                <a:solidFill>
                  <a:srgbClr val="111827"/>
                </a:solidFill>
                <a:latin typeface="Segoe UI"/>
              </a:rPr>
              <a:t>0.9445</a:t>
            </a:r>
          </a:p>
        </p:txBody>
      </p:sp>
      <p:sp>
        <p:nvSpPr>
          <p:cNvPr id="51" name="Rectangle 50"/>
          <p:cNvSpPr/>
          <p:nvPr/>
        </p:nvSpPr>
        <p:spPr>
          <a:xfrm>
            <a:off x="6903720" y="3474720"/>
            <a:ext cx="1645920" cy="438912"/>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958584" y="3520440"/>
            <a:ext cx="1572768" cy="402336"/>
          </a:xfrm>
          <a:prstGeom prst="rect">
            <a:avLst/>
          </a:prstGeom>
          <a:noFill/>
        </p:spPr>
        <p:txBody>
          <a:bodyPr wrap="square">
            <a:spAutoFit/>
          </a:bodyPr>
          <a:lstStyle/>
          <a:p>
            <a:pPr algn="l"/>
            <a:r>
              <a:rPr sz="1000" b="0" i="0">
                <a:solidFill>
                  <a:srgbClr val="111827"/>
                </a:solidFill>
                <a:latin typeface="Segoe UI"/>
              </a:rPr>
              <a:t>Árbol de Decisión</a:t>
            </a:r>
          </a:p>
        </p:txBody>
      </p:sp>
      <p:sp>
        <p:nvSpPr>
          <p:cNvPr id="53" name="Rectangle 52"/>
          <p:cNvSpPr/>
          <p:nvPr/>
        </p:nvSpPr>
        <p:spPr>
          <a:xfrm>
            <a:off x="8549640" y="3474720"/>
            <a:ext cx="841248" cy="438912"/>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604504" y="3520440"/>
            <a:ext cx="768096" cy="402336"/>
          </a:xfrm>
          <a:prstGeom prst="rect">
            <a:avLst/>
          </a:prstGeom>
          <a:noFill/>
        </p:spPr>
        <p:txBody>
          <a:bodyPr wrap="square">
            <a:spAutoFit/>
          </a:bodyPr>
          <a:lstStyle/>
          <a:p>
            <a:pPr algn="ctr"/>
            <a:r>
              <a:rPr sz="1000" b="0" i="0">
                <a:solidFill>
                  <a:srgbClr val="111827"/>
                </a:solidFill>
                <a:latin typeface="Segoe UI"/>
              </a:rPr>
              <a:t>0.9220</a:t>
            </a:r>
          </a:p>
        </p:txBody>
      </p:sp>
      <p:sp>
        <p:nvSpPr>
          <p:cNvPr id="55" name="Rectangle 54"/>
          <p:cNvSpPr/>
          <p:nvPr/>
        </p:nvSpPr>
        <p:spPr>
          <a:xfrm>
            <a:off x="9390888" y="3474720"/>
            <a:ext cx="786384" cy="438912"/>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445752" y="3520440"/>
            <a:ext cx="713232" cy="402336"/>
          </a:xfrm>
          <a:prstGeom prst="rect">
            <a:avLst/>
          </a:prstGeom>
          <a:noFill/>
        </p:spPr>
        <p:txBody>
          <a:bodyPr wrap="square">
            <a:spAutoFit/>
          </a:bodyPr>
          <a:lstStyle/>
          <a:p>
            <a:pPr algn="ctr"/>
            <a:r>
              <a:rPr sz="1000" b="0" i="0">
                <a:solidFill>
                  <a:srgbClr val="111827"/>
                </a:solidFill>
                <a:latin typeface="Segoe UI"/>
              </a:rPr>
              <a:t>0.9238</a:t>
            </a:r>
          </a:p>
        </p:txBody>
      </p:sp>
      <p:sp>
        <p:nvSpPr>
          <p:cNvPr id="57" name="Rectangle 56"/>
          <p:cNvSpPr/>
          <p:nvPr/>
        </p:nvSpPr>
        <p:spPr>
          <a:xfrm>
            <a:off x="10177272" y="3474720"/>
            <a:ext cx="795528" cy="438912"/>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10232136" y="3520440"/>
            <a:ext cx="722376" cy="402336"/>
          </a:xfrm>
          <a:prstGeom prst="rect">
            <a:avLst/>
          </a:prstGeom>
          <a:noFill/>
        </p:spPr>
        <p:txBody>
          <a:bodyPr wrap="square">
            <a:spAutoFit/>
          </a:bodyPr>
          <a:lstStyle/>
          <a:p>
            <a:pPr algn="ctr"/>
            <a:r>
              <a:rPr sz="1000" b="0" i="0">
                <a:solidFill>
                  <a:srgbClr val="111827"/>
                </a:solidFill>
                <a:latin typeface="Segoe UI"/>
              </a:rPr>
              <a:t>0.9180</a:t>
            </a:r>
          </a:p>
        </p:txBody>
      </p:sp>
      <p:sp>
        <p:nvSpPr>
          <p:cNvPr id="59" name="Rectangle 58"/>
          <p:cNvSpPr/>
          <p:nvPr/>
        </p:nvSpPr>
        <p:spPr>
          <a:xfrm>
            <a:off x="10972800" y="3474720"/>
            <a:ext cx="777240" cy="438912"/>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11027664" y="3520440"/>
            <a:ext cx="704088" cy="402336"/>
          </a:xfrm>
          <a:prstGeom prst="rect">
            <a:avLst/>
          </a:prstGeom>
          <a:noFill/>
        </p:spPr>
        <p:txBody>
          <a:bodyPr wrap="square">
            <a:spAutoFit/>
          </a:bodyPr>
          <a:lstStyle/>
          <a:p>
            <a:pPr algn="ctr"/>
            <a:r>
              <a:rPr sz="1000" b="0" i="0">
                <a:solidFill>
                  <a:srgbClr val="111827"/>
                </a:solidFill>
                <a:latin typeface="Segoe UI"/>
              </a:rPr>
              <a:t>0.9198</a:t>
            </a:r>
          </a:p>
        </p:txBody>
      </p:sp>
      <p:sp>
        <p:nvSpPr>
          <p:cNvPr id="61" name="Rectangle 60"/>
          <p:cNvSpPr/>
          <p:nvPr/>
        </p:nvSpPr>
        <p:spPr>
          <a:xfrm>
            <a:off x="6903720" y="3913632"/>
            <a:ext cx="1645920" cy="438912"/>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958584" y="3959352"/>
            <a:ext cx="1572768" cy="402336"/>
          </a:xfrm>
          <a:prstGeom prst="rect">
            <a:avLst/>
          </a:prstGeom>
          <a:noFill/>
        </p:spPr>
        <p:txBody>
          <a:bodyPr wrap="square">
            <a:spAutoFit/>
          </a:bodyPr>
          <a:lstStyle/>
          <a:p>
            <a:pPr algn="l"/>
            <a:r>
              <a:rPr sz="1000" b="0" i="0">
                <a:solidFill>
                  <a:srgbClr val="111827"/>
                </a:solidFill>
                <a:latin typeface="Segoe UI"/>
              </a:rPr>
              <a:t>Regresión Logística</a:t>
            </a:r>
          </a:p>
        </p:txBody>
      </p:sp>
      <p:sp>
        <p:nvSpPr>
          <p:cNvPr id="63" name="Rectangle 62"/>
          <p:cNvSpPr/>
          <p:nvPr/>
        </p:nvSpPr>
        <p:spPr>
          <a:xfrm>
            <a:off x="8549640" y="3913632"/>
            <a:ext cx="841248" cy="438912"/>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8604504" y="3959352"/>
            <a:ext cx="768096" cy="402336"/>
          </a:xfrm>
          <a:prstGeom prst="rect">
            <a:avLst/>
          </a:prstGeom>
          <a:noFill/>
        </p:spPr>
        <p:txBody>
          <a:bodyPr wrap="square">
            <a:spAutoFit/>
          </a:bodyPr>
          <a:lstStyle/>
          <a:p>
            <a:pPr algn="ctr"/>
            <a:r>
              <a:rPr sz="1000" b="0" i="0">
                <a:solidFill>
                  <a:srgbClr val="111827"/>
                </a:solidFill>
                <a:latin typeface="Segoe UI"/>
              </a:rPr>
              <a:t>0.8794</a:t>
            </a:r>
          </a:p>
        </p:txBody>
      </p:sp>
      <p:sp>
        <p:nvSpPr>
          <p:cNvPr id="65" name="Rectangle 64"/>
          <p:cNvSpPr/>
          <p:nvPr/>
        </p:nvSpPr>
        <p:spPr>
          <a:xfrm>
            <a:off x="9390888" y="3913632"/>
            <a:ext cx="786384" cy="438912"/>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9445752" y="3959352"/>
            <a:ext cx="713232" cy="402336"/>
          </a:xfrm>
          <a:prstGeom prst="rect">
            <a:avLst/>
          </a:prstGeom>
          <a:noFill/>
        </p:spPr>
        <p:txBody>
          <a:bodyPr wrap="square">
            <a:spAutoFit/>
          </a:bodyPr>
          <a:lstStyle/>
          <a:p>
            <a:pPr algn="ctr"/>
            <a:r>
              <a:rPr sz="1000" b="0" i="0">
                <a:solidFill>
                  <a:srgbClr val="111827"/>
                </a:solidFill>
                <a:latin typeface="Segoe UI"/>
              </a:rPr>
              <a:t>0.8785</a:t>
            </a:r>
          </a:p>
        </p:txBody>
      </p:sp>
      <p:sp>
        <p:nvSpPr>
          <p:cNvPr id="67" name="Rectangle 66"/>
          <p:cNvSpPr/>
          <p:nvPr/>
        </p:nvSpPr>
        <p:spPr>
          <a:xfrm>
            <a:off x="10177272" y="3913632"/>
            <a:ext cx="795528" cy="438912"/>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10232136" y="3959352"/>
            <a:ext cx="722376" cy="402336"/>
          </a:xfrm>
          <a:prstGeom prst="rect">
            <a:avLst/>
          </a:prstGeom>
          <a:noFill/>
        </p:spPr>
        <p:txBody>
          <a:bodyPr wrap="square">
            <a:spAutoFit/>
          </a:bodyPr>
          <a:lstStyle/>
          <a:p>
            <a:pPr algn="ctr"/>
            <a:r>
              <a:rPr sz="1000" b="0" i="0">
                <a:solidFill>
                  <a:srgbClr val="111827"/>
                </a:solidFill>
                <a:latin typeface="Segoe UI"/>
              </a:rPr>
              <a:t>0.8786</a:t>
            </a:r>
          </a:p>
        </p:txBody>
      </p:sp>
      <p:sp>
        <p:nvSpPr>
          <p:cNvPr id="69" name="Rectangle 68"/>
          <p:cNvSpPr/>
          <p:nvPr/>
        </p:nvSpPr>
        <p:spPr>
          <a:xfrm>
            <a:off x="10972800" y="3913632"/>
            <a:ext cx="777240" cy="438912"/>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11027664" y="3959352"/>
            <a:ext cx="704088" cy="402336"/>
          </a:xfrm>
          <a:prstGeom prst="rect">
            <a:avLst/>
          </a:prstGeom>
          <a:noFill/>
        </p:spPr>
        <p:txBody>
          <a:bodyPr wrap="square">
            <a:spAutoFit/>
          </a:bodyPr>
          <a:lstStyle/>
          <a:p>
            <a:pPr algn="ctr"/>
            <a:r>
              <a:rPr sz="1000" b="0" i="0">
                <a:solidFill>
                  <a:srgbClr val="111827"/>
                </a:solidFill>
                <a:latin typeface="Segoe UI"/>
              </a:rPr>
              <a:t>0.8762</a:t>
            </a:r>
          </a:p>
        </p:txBody>
      </p:sp>
      <p:sp>
        <p:nvSpPr>
          <p:cNvPr id="71" name="Rectangle 70"/>
          <p:cNvSpPr/>
          <p:nvPr/>
        </p:nvSpPr>
        <p:spPr>
          <a:xfrm>
            <a:off x="6903720" y="4352544"/>
            <a:ext cx="1645920" cy="438912"/>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6958584" y="4398264"/>
            <a:ext cx="1572768" cy="402336"/>
          </a:xfrm>
          <a:prstGeom prst="rect">
            <a:avLst/>
          </a:prstGeom>
          <a:noFill/>
        </p:spPr>
        <p:txBody>
          <a:bodyPr wrap="square">
            <a:spAutoFit/>
          </a:bodyPr>
          <a:lstStyle/>
          <a:p>
            <a:pPr algn="l"/>
            <a:r>
              <a:rPr sz="1000" b="0" i="0">
                <a:solidFill>
                  <a:srgbClr val="111827"/>
                </a:solidFill>
                <a:latin typeface="Segoe UI"/>
              </a:rPr>
              <a:t>KNN</a:t>
            </a:r>
          </a:p>
        </p:txBody>
      </p:sp>
      <p:sp>
        <p:nvSpPr>
          <p:cNvPr id="73" name="Rectangle 72"/>
          <p:cNvSpPr/>
          <p:nvPr/>
        </p:nvSpPr>
        <p:spPr>
          <a:xfrm>
            <a:off x="8549640" y="4352544"/>
            <a:ext cx="841248" cy="438912"/>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8604504" y="4398264"/>
            <a:ext cx="768096" cy="402336"/>
          </a:xfrm>
          <a:prstGeom prst="rect">
            <a:avLst/>
          </a:prstGeom>
          <a:noFill/>
        </p:spPr>
        <p:txBody>
          <a:bodyPr wrap="square">
            <a:spAutoFit/>
          </a:bodyPr>
          <a:lstStyle/>
          <a:p>
            <a:pPr algn="ctr"/>
            <a:r>
              <a:rPr sz="1000" b="0" i="0">
                <a:solidFill>
                  <a:srgbClr val="111827"/>
                </a:solidFill>
                <a:latin typeface="Segoe UI"/>
              </a:rPr>
              <a:t>0.8274</a:t>
            </a:r>
          </a:p>
        </p:txBody>
      </p:sp>
      <p:sp>
        <p:nvSpPr>
          <p:cNvPr id="75" name="Rectangle 74"/>
          <p:cNvSpPr/>
          <p:nvPr/>
        </p:nvSpPr>
        <p:spPr>
          <a:xfrm>
            <a:off x="9390888" y="4352544"/>
            <a:ext cx="786384" cy="438912"/>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9445752" y="4398264"/>
            <a:ext cx="713232" cy="402336"/>
          </a:xfrm>
          <a:prstGeom prst="rect">
            <a:avLst/>
          </a:prstGeom>
          <a:noFill/>
        </p:spPr>
        <p:txBody>
          <a:bodyPr wrap="square">
            <a:spAutoFit/>
          </a:bodyPr>
          <a:lstStyle/>
          <a:p>
            <a:pPr algn="ctr"/>
            <a:r>
              <a:rPr sz="1000" b="0" i="0">
                <a:solidFill>
                  <a:srgbClr val="111827"/>
                </a:solidFill>
                <a:latin typeface="Segoe UI"/>
              </a:rPr>
              <a:t>0.8218</a:t>
            </a:r>
          </a:p>
        </p:txBody>
      </p:sp>
      <p:sp>
        <p:nvSpPr>
          <p:cNvPr id="77" name="Rectangle 76"/>
          <p:cNvSpPr/>
          <p:nvPr/>
        </p:nvSpPr>
        <p:spPr>
          <a:xfrm>
            <a:off x="10177272" y="4352544"/>
            <a:ext cx="795528" cy="438912"/>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10232136" y="4398264"/>
            <a:ext cx="722376" cy="402336"/>
          </a:xfrm>
          <a:prstGeom prst="rect">
            <a:avLst/>
          </a:prstGeom>
          <a:noFill/>
        </p:spPr>
        <p:txBody>
          <a:bodyPr wrap="square">
            <a:spAutoFit/>
          </a:bodyPr>
          <a:lstStyle/>
          <a:p>
            <a:pPr algn="ctr"/>
            <a:r>
              <a:rPr sz="1000" b="0" i="0">
                <a:solidFill>
                  <a:srgbClr val="111827"/>
                </a:solidFill>
                <a:latin typeface="Segoe UI"/>
              </a:rPr>
              <a:t>0.8231</a:t>
            </a:r>
          </a:p>
        </p:txBody>
      </p:sp>
      <p:sp>
        <p:nvSpPr>
          <p:cNvPr id="79" name="Rectangle 78"/>
          <p:cNvSpPr/>
          <p:nvPr/>
        </p:nvSpPr>
        <p:spPr>
          <a:xfrm>
            <a:off x="10972800" y="4352544"/>
            <a:ext cx="777240" cy="438912"/>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11027664" y="4398264"/>
            <a:ext cx="704088" cy="402336"/>
          </a:xfrm>
          <a:prstGeom prst="rect">
            <a:avLst/>
          </a:prstGeom>
          <a:noFill/>
        </p:spPr>
        <p:txBody>
          <a:bodyPr wrap="square">
            <a:spAutoFit/>
          </a:bodyPr>
          <a:lstStyle/>
          <a:p>
            <a:pPr algn="ctr"/>
            <a:r>
              <a:rPr sz="1000" b="0" i="0">
                <a:solidFill>
                  <a:srgbClr val="111827"/>
                </a:solidFill>
                <a:latin typeface="Segoe UI"/>
              </a:rPr>
              <a:t>0.8086</a:t>
            </a:r>
          </a:p>
        </p:txBody>
      </p:sp>
      <p:sp>
        <p:nvSpPr>
          <p:cNvPr id="81" name="Rounded Rectangle 80"/>
          <p:cNvSpPr/>
          <p:nvPr/>
        </p:nvSpPr>
        <p:spPr>
          <a:xfrm>
            <a:off x="6903720" y="4572000"/>
            <a:ext cx="2423160" cy="960120"/>
          </a:xfrm>
          <a:prstGeom prst="roundRect">
            <a:avLst>
              <a:gd name="adj" fmla="val 7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6903720" y="4645152"/>
            <a:ext cx="2423160" cy="475488"/>
          </a:xfrm>
          <a:prstGeom prst="rect">
            <a:avLst/>
          </a:prstGeom>
          <a:noFill/>
        </p:spPr>
        <p:txBody>
          <a:bodyPr wrap="square">
            <a:spAutoFit/>
          </a:bodyPr>
          <a:lstStyle/>
          <a:p>
            <a:pPr algn="ctr"/>
            <a:r>
              <a:rPr sz="2600" b="1" i="0">
                <a:solidFill>
                  <a:srgbClr val="16A34A"/>
                </a:solidFill>
                <a:latin typeface="Segoe UI"/>
              </a:rPr>
              <a:t>0.9637</a:t>
            </a:r>
          </a:p>
        </p:txBody>
      </p:sp>
      <p:sp>
        <p:nvSpPr>
          <p:cNvPr id="83" name="TextBox 82"/>
          <p:cNvSpPr txBox="1"/>
          <p:nvPr/>
        </p:nvSpPr>
        <p:spPr>
          <a:xfrm>
            <a:off x="6949440" y="5138928"/>
            <a:ext cx="2331720" cy="347472"/>
          </a:xfrm>
          <a:prstGeom prst="rect">
            <a:avLst/>
          </a:prstGeom>
          <a:noFill/>
        </p:spPr>
        <p:txBody>
          <a:bodyPr wrap="square">
            <a:spAutoFit/>
          </a:bodyPr>
          <a:lstStyle/>
          <a:p>
            <a:pPr algn="ctr"/>
            <a:r>
              <a:rPr sz="1100" b="0" i="0">
                <a:solidFill>
                  <a:srgbClr val="64748B"/>
                </a:solidFill>
                <a:latin typeface="Segoe UI"/>
              </a:rPr>
              <a:t>F1 macro — XGBoost</a:t>
            </a:r>
          </a:p>
        </p:txBody>
      </p:sp>
      <p:sp>
        <p:nvSpPr>
          <p:cNvPr id="84" name="Rounded Rectangle 83"/>
          <p:cNvSpPr/>
          <p:nvPr/>
        </p:nvSpPr>
        <p:spPr>
          <a:xfrm>
            <a:off x="9464040" y="4572000"/>
            <a:ext cx="2423160" cy="960120"/>
          </a:xfrm>
          <a:prstGeom prst="roundRect">
            <a:avLst>
              <a:gd name="adj" fmla="val 7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9464040" y="4645152"/>
            <a:ext cx="2423160" cy="475488"/>
          </a:xfrm>
          <a:prstGeom prst="rect">
            <a:avLst/>
          </a:prstGeom>
          <a:noFill/>
        </p:spPr>
        <p:txBody>
          <a:bodyPr wrap="square">
            <a:spAutoFit/>
          </a:bodyPr>
          <a:lstStyle/>
          <a:p>
            <a:pPr algn="ctr"/>
            <a:r>
              <a:rPr sz="2600" b="1" i="0">
                <a:solidFill>
                  <a:srgbClr val="2563EB"/>
                </a:solidFill>
                <a:latin typeface="Segoe UI"/>
              </a:rPr>
              <a:t>96.5%</a:t>
            </a:r>
          </a:p>
        </p:txBody>
      </p:sp>
      <p:sp>
        <p:nvSpPr>
          <p:cNvPr id="86" name="TextBox 85"/>
          <p:cNvSpPr txBox="1"/>
          <p:nvPr/>
        </p:nvSpPr>
        <p:spPr>
          <a:xfrm>
            <a:off x="9509760" y="5138928"/>
            <a:ext cx="2331720" cy="347472"/>
          </a:xfrm>
          <a:prstGeom prst="rect">
            <a:avLst/>
          </a:prstGeom>
          <a:noFill/>
        </p:spPr>
        <p:txBody>
          <a:bodyPr wrap="square">
            <a:spAutoFit/>
          </a:bodyPr>
          <a:lstStyle/>
          <a:p>
            <a:pPr algn="ctr"/>
            <a:r>
              <a:rPr sz="1100" b="0" i="0">
                <a:solidFill>
                  <a:srgbClr val="64748B"/>
                </a:solidFill>
                <a:latin typeface="Segoe UI"/>
              </a:rPr>
              <a:t>Accuracy en test</a:t>
            </a:r>
          </a:p>
        </p:txBody>
      </p:sp>
      <p:sp>
        <p:nvSpPr>
          <p:cNvPr id="87" name="TextBox 86"/>
          <p:cNvSpPr txBox="1"/>
          <p:nvPr/>
        </p:nvSpPr>
        <p:spPr>
          <a:xfrm>
            <a:off x="6903720" y="5669280"/>
            <a:ext cx="4937760" cy="640080"/>
          </a:xfrm>
          <a:prstGeom prst="rect">
            <a:avLst/>
          </a:prstGeom>
          <a:noFill/>
        </p:spPr>
        <p:txBody>
          <a:bodyPr wrap="square">
            <a:spAutoFit/>
          </a:bodyPr>
          <a:lstStyle/>
          <a:p>
            <a:pPr algn="l"/>
            <a:r>
              <a:rPr sz="1100" b="0" i="1">
                <a:solidFill>
                  <a:srgbClr val="64748B"/>
                </a:solidFill>
                <a:latin typeface="Segoe UI"/>
              </a:rPr>
              <a:t>Errores se concentran en clases limítrofes (Normal ↔ Overweight):
fronteras de IMC continuas hacen difícil la separación perfecta.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11480" y="256032"/>
            <a:ext cx="146304" cy="59436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182880"/>
            <a:ext cx="10881360" cy="594360"/>
          </a:xfrm>
          <a:prstGeom prst="rect">
            <a:avLst/>
          </a:prstGeom>
          <a:noFill/>
        </p:spPr>
        <p:txBody>
          <a:bodyPr wrap="square">
            <a:spAutoFit/>
          </a:bodyPr>
          <a:lstStyle/>
          <a:p>
            <a:pPr algn="l"/>
            <a:r>
              <a:rPr sz="2800" b="1" i="0">
                <a:solidFill>
                  <a:srgbClr val="111827"/>
                </a:solidFill>
                <a:latin typeface="Segoe UI"/>
              </a:rPr>
              <a:t>Los errores del mejor modelo se concentran en clases limítrofes</a:t>
            </a:r>
          </a:p>
        </p:txBody>
      </p:sp>
      <p:sp>
        <p:nvSpPr>
          <p:cNvPr id="5" name="TextBox 4"/>
          <p:cNvSpPr txBox="1"/>
          <p:nvPr/>
        </p:nvSpPr>
        <p:spPr>
          <a:xfrm>
            <a:off x="731520" y="731520"/>
            <a:ext cx="10881360" cy="347472"/>
          </a:xfrm>
          <a:prstGeom prst="rect">
            <a:avLst/>
          </a:prstGeom>
          <a:noFill/>
        </p:spPr>
        <p:txBody>
          <a:bodyPr wrap="square">
            <a:spAutoFit/>
          </a:bodyPr>
          <a:lstStyle/>
          <a:p>
            <a:pPr algn="l"/>
            <a:r>
              <a:rPr sz="1400" b="0" i="0">
                <a:solidFill>
                  <a:srgbClr val="64748B"/>
                </a:solidFill>
                <a:latin typeface="Segoe UI"/>
              </a:rPr>
              <a:t>Matriz de confusión — XGBoost en conjunto de test</a:t>
            </a:r>
          </a:p>
        </p:txBody>
      </p:sp>
      <p:sp>
        <p:nvSpPr>
          <p:cNvPr id="6" name="Rectangle 5"/>
          <p:cNvSpPr/>
          <p:nvPr/>
        </p:nvSpPr>
        <p:spPr>
          <a:xfrm>
            <a:off x="411480" y="1133856"/>
            <a:ext cx="11365992"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55680" y="6510528"/>
            <a:ext cx="914400" cy="274320"/>
          </a:xfrm>
          <a:prstGeom prst="rect">
            <a:avLst/>
          </a:prstGeom>
          <a:noFill/>
        </p:spPr>
        <p:txBody>
          <a:bodyPr wrap="square">
            <a:spAutoFit/>
          </a:bodyPr>
          <a:lstStyle/>
          <a:p>
            <a:pPr algn="r"/>
            <a:r>
              <a:rPr sz="900" b="0" i="0">
                <a:solidFill>
                  <a:srgbClr val="64748B"/>
                </a:solidFill>
                <a:latin typeface="Segoe UI"/>
              </a:rPr>
              <a:t>10 / 20</a:t>
            </a:r>
          </a:p>
        </p:txBody>
      </p:sp>
      <p:sp>
        <p:nvSpPr>
          <p:cNvPr id="9" name="Rounded Rectangle 8"/>
          <p:cNvSpPr/>
          <p:nvPr/>
        </p:nvSpPr>
        <p:spPr>
          <a:xfrm>
            <a:off x="411480" y="1298448"/>
            <a:ext cx="7132320" cy="5588000"/>
          </a:xfrm>
          <a:prstGeom prst="roundRect">
            <a:avLst>
              <a:gd name="adj" fmla="val 7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09_confusion_matrix.png"/>
          <p:cNvPicPr>
            <a:picLocks noChangeAspect="1"/>
          </p:cNvPicPr>
          <p:nvPr/>
        </p:nvPicPr>
        <p:blipFill>
          <a:blip r:embed="rId2"/>
          <a:stretch>
            <a:fillRect/>
          </a:stretch>
        </p:blipFill>
        <p:spPr>
          <a:xfrm>
            <a:off x="502920" y="1389888"/>
            <a:ext cx="6949440" cy="5405120"/>
          </a:xfrm>
          <a:prstGeom prst="rect">
            <a:avLst/>
          </a:prstGeom>
        </p:spPr>
      </p:pic>
      <p:sp>
        <p:nvSpPr>
          <p:cNvPr id="10" name="Rounded Rectangle 9"/>
          <p:cNvSpPr/>
          <p:nvPr/>
        </p:nvSpPr>
        <p:spPr>
          <a:xfrm>
            <a:off x="7818120" y="1298448"/>
            <a:ext cx="3977639" cy="5120640"/>
          </a:xfrm>
          <a:prstGeom prst="roundRect">
            <a:avLst>
              <a:gd name="adj" fmla="val 7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818120" y="1298448"/>
            <a:ext cx="109728" cy="5120640"/>
          </a:xfrm>
          <a:prstGeom prst="roundRect">
            <a:avLst>
              <a:gd name="adj" fmla="val 7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110727" y="1435608"/>
            <a:ext cx="3520440" cy="347472"/>
          </a:xfrm>
          <a:prstGeom prst="rect">
            <a:avLst/>
          </a:prstGeom>
          <a:noFill/>
        </p:spPr>
        <p:txBody>
          <a:bodyPr wrap="square">
            <a:spAutoFit/>
          </a:bodyPr>
          <a:lstStyle/>
          <a:p>
            <a:pPr algn="l"/>
            <a:r>
              <a:rPr sz="1500" b="1" i="0">
                <a:solidFill>
                  <a:srgbClr val="111827"/>
                </a:solidFill>
                <a:latin typeface="Segoe UI"/>
              </a:rPr>
              <a:t>Métricas por clase</a:t>
            </a:r>
          </a:p>
        </p:txBody>
      </p:sp>
      <p:sp>
        <p:nvSpPr>
          <p:cNvPr id="13" name="Rectangle 12"/>
          <p:cNvSpPr/>
          <p:nvPr/>
        </p:nvSpPr>
        <p:spPr>
          <a:xfrm>
            <a:off x="8110727" y="1828800"/>
            <a:ext cx="2240280" cy="411480"/>
          </a:xfrm>
          <a:prstGeom prst="rect">
            <a:avLst/>
          </a:prstGeom>
          <a:solidFill>
            <a:srgbClr val="0F172A"/>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65591" y="1874520"/>
            <a:ext cx="2167128" cy="374904"/>
          </a:xfrm>
          <a:prstGeom prst="rect">
            <a:avLst/>
          </a:prstGeom>
          <a:noFill/>
        </p:spPr>
        <p:txBody>
          <a:bodyPr wrap="square">
            <a:spAutoFit/>
          </a:bodyPr>
          <a:lstStyle/>
          <a:p>
            <a:pPr algn="l"/>
            <a:r>
              <a:rPr sz="1000" b="1" i="0">
                <a:solidFill>
                  <a:srgbClr val="FFFFFF"/>
                </a:solidFill>
                <a:latin typeface="Segoe UI"/>
              </a:rPr>
              <a:t>Clase</a:t>
            </a:r>
          </a:p>
        </p:txBody>
      </p:sp>
      <p:sp>
        <p:nvSpPr>
          <p:cNvPr id="15" name="Rectangle 14"/>
          <p:cNvSpPr/>
          <p:nvPr/>
        </p:nvSpPr>
        <p:spPr>
          <a:xfrm>
            <a:off x="10351008" y="1828800"/>
            <a:ext cx="749808" cy="411480"/>
          </a:xfrm>
          <a:prstGeom prst="rect">
            <a:avLst/>
          </a:prstGeom>
          <a:solidFill>
            <a:srgbClr val="0F172A"/>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405872" y="1874520"/>
            <a:ext cx="676656" cy="374904"/>
          </a:xfrm>
          <a:prstGeom prst="rect">
            <a:avLst/>
          </a:prstGeom>
          <a:noFill/>
        </p:spPr>
        <p:txBody>
          <a:bodyPr wrap="square">
            <a:spAutoFit/>
          </a:bodyPr>
          <a:lstStyle/>
          <a:p>
            <a:pPr algn="ctr"/>
            <a:r>
              <a:rPr sz="1000" b="1" i="0">
                <a:solidFill>
                  <a:srgbClr val="FFFFFF"/>
                </a:solidFill>
                <a:latin typeface="Segoe UI"/>
              </a:rPr>
              <a:t>F1</a:t>
            </a:r>
          </a:p>
        </p:txBody>
      </p:sp>
      <p:sp>
        <p:nvSpPr>
          <p:cNvPr id="17" name="Rectangle 16"/>
          <p:cNvSpPr/>
          <p:nvPr/>
        </p:nvSpPr>
        <p:spPr>
          <a:xfrm>
            <a:off x="8110727" y="2240280"/>
            <a:ext cx="2240280" cy="411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165591" y="2286000"/>
            <a:ext cx="2167128" cy="374904"/>
          </a:xfrm>
          <a:prstGeom prst="rect">
            <a:avLst/>
          </a:prstGeom>
          <a:noFill/>
        </p:spPr>
        <p:txBody>
          <a:bodyPr wrap="square">
            <a:spAutoFit/>
          </a:bodyPr>
          <a:lstStyle/>
          <a:p>
            <a:pPr algn="l"/>
            <a:r>
              <a:rPr sz="1000" b="0" i="0">
                <a:solidFill>
                  <a:srgbClr val="111827"/>
                </a:solidFill>
                <a:latin typeface="Segoe UI"/>
              </a:rPr>
              <a:t>Insufficient_Weight</a:t>
            </a:r>
          </a:p>
        </p:txBody>
      </p:sp>
      <p:sp>
        <p:nvSpPr>
          <p:cNvPr id="19" name="Rectangle 18"/>
          <p:cNvSpPr/>
          <p:nvPr/>
        </p:nvSpPr>
        <p:spPr>
          <a:xfrm>
            <a:off x="10351008" y="2240280"/>
            <a:ext cx="749808" cy="411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405872" y="2286000"/>
            <a:ext cx="676656" cy="374904"/>
          </a:xfrm>
          <a:prstGeom prst="rect">
            <a:avLst/>
          </a:prstGeom>
          <a:noFill/>
        </p:spPr>
        <p:txBody>
          <a:bodyPr wrap="square">
            <a:spAutoFit/>
          </a:bodyPr>
          <a:lstStyle/>
          <a:p>
            <a:pPr algn="ctr"/>
            <a:r>
              <a:rPr sz="1000" b="0" i="0">
                <a:solidFill>
                  <a:srgbClr val="111827"/>
                </a:solidFill>
                <a:latin typeface="Segoe UI"/>
              </a:rPr>
              <a:t>0.971</a:t>
            </a:r>
          </a:p>
        </p:txBody>
      </p:sp>
      <p:sp>
        <p:nvSpPr>
          <p:cNvPr id="21" name="Rectangle 20"/>
          <p:cNvSpPr/>
          <p:nvPr/>
        </p:nvSpPr>
        <p:spPr>
          <a:xfrm>
            <a:off x="8110727" y="2651760"/>
            <a:ext cx="2240280" cy="411480"/>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165591" y="2697480"/>
            <a:ext cx="2167128" cy="374904"/>
          </a:xfrm>
          <a:prstGeom prst="rect">
            <a:avLst/>
          </a:prstGeom>
          <a:noFill/>
        </p:spPr>
        <p:txBody>
          <a:bodyPr wrap="square">
            <a:spAutoFit/>
          </a:bodyPr>
          <a:lstStyle/>
          <a:p>
            <a:pPr algn="l"/>
            <a:r>
              <a:rPr sz="1000" b="0" i="0">
                <a:solidFill>
                  <a:srgbClr val="111827"/>
                </a:solidFill>
                <a:latin typeface="Segoe UI"/>
              </a:rPr>
              <a:t>Normal_Weight</a:t>
            </a:r>
          </a:p>
        </p:txBody>
      </p:sp>
      <p:sp>
        <p:nvSpPr>
          <p:cNvPr id="23" name="Rectangle 22"/>
          <p:cNvSpPr/>
          <p:nvPr/>
        </p:nvSpPr>
        <p:spPr>
          <a:xfrm>
            <a:off x="10351008" y="2651760"/>
            <a:ext cx="749808" cy="411480"/>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405872" y="2697480"/>
            <a:ext cx="676656" cy="374904"/>
          </a:xfrm>
          <a:prstGeom prst="rect">
            <a:avLst/>
          </a:prstGeom>
          <a:noFill/>
        </p:spPr>
        <p:txBody>
          <a:bodyPr wrap="square">
            <a:spAutoFit/>
          </a:bodyPr>
          <a:lstStyle/>
          <a:p>
            <a:pPr algn="ctr"/>
            <a:r>
              <a:rPr sz="1000" b="0" i="0">
                <a:solidFill>
                  <a:srgbClr val="111827"/>
                </a:solidFill>
                <a:latin typeface="Segoe UI"/>
              </a:rPr>
              <a:t>0.912</a:t>
            </a:r>
          </a:p>
        </p:txBody>
      </p:sp>
      <p:sp>
        <p:nvSpPr>
          <p:cNvPr id="25" name="Rectangle 24"/>
          <p:cNvSpPr/>
          <p:nvPr/>
        </p:nvSpPr>
        <p:spPr>
          <a:xfrm>
            <a:off x="8110727" y="3063240"/>
            <a:ext cx="2240280" cy="411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165591" y="3108960"/>
            <a:ext cx="2167128" cy="374904"/>
          </a:xfrm>
          <a:prstGeom prst="rect">
            <a:avLst/>
          </a:prstGeom>
          <a:noFill/>
        </p:spPr>
        <p:txBody>
          <a:bodyPr wrap="square">
            <a:spAutoFit/>
          </a:bodyPr>
          <a:lstStyle/>
          <a:p>
            <a:pPr algn="l"/>
            <a:r>
              <a:rPr sz="1000" b="0" i="0">
                <a:solidFill>
                  <a:srgbClr val="111827"/>
                </a:solidFill>
                <a:latin typeface="Segoe UI"/>
              </a:rPr>
              <a:t>Obesity_Type_I</a:t>
            </a:r>
          </a:p>
        </p:txBody>
      </p:sp>
      <p:sp>
        <p:nvSpPr>
          <p:cNvPr id="27" name="Rectangle 26"/>
          <p:cNvSpPr/>
          <p:nvPr/>
        </p:nvSpPr>
        <p:spPr>
          <a:xfrm>
            <a:off x="10351008" y="3063240"/>
            <a:ext cx="749808" cy="411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405872" y="3108960"/>
            <a:ext cx="676656" cy="374904"/>
          </a:xfrm>
          <a:prstGeom prst="rect">
            <a:avLst/>
          </a:prstGeom>
          <a:noFill/>
        </p:spPr>
        <p:txBody>
          <a:bodyPr wrap="square">
            <a:spAutoFit/>
          </a:bodyPr>
          <a:lstStyle/>
          <a:p>
            <a:pPr algn="ctr"/>
            <a:r>
              <a:rPr sz="1000" b="0" i="0">
                <a:solidFill>
                  <a:srgbClr val="111827"/>
                </a:solidFill>
                <a:latin typeface="Segoe UI"/>
              </a:rPr>
              <a:t>0.965</a:t>
            </a:r>
          </a:p>
        </p:txBody>
      </p:sp>
      <p:sp>
        <p:nvSpPr>
          <p:cNvPr id="29" name="Rectangle 28"/>
          <p:cNvSpPr/>
          <p:nvPr/>
        </p:nvSpPr>
        <p:spPr>
          <a:xfrm>
            <a:off x="8110727" y="3474720"/>
            <a:ext cx="2240280" cy="411480"/>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165591" y="3520440"/>
            <a:ext cx="2167128" cy="374904"/>
          </a:xfrm>
          <a:prstGeom prst="rect">
            <a:avLst/>
          </a:prstGeom>
          <a:noFill/>
        </p:spPr>
        <p:txBody>
          <a:bodyPr wrap="square">
            <a:spAutoFit/>
          </a:bodyPr>
          <a:lstStyle/>
          <a:p>
            <a:pPr algn="l"/>
            <a:r>
              <a:rPr sz="1000" b="0" i="0">
                <a:solidFill>
                  <a:srgbClr val="111827"/>
                </a:solidFill>
                <a:latin typeface="Segoe UI"/>
              </a:rPr>
              <a:t>Obesity_Type_II</a:t>
            </a:r>
          </a:p>
        </p:txBody>
      </p:sp>
      <p:sp>
        <p:nvSpPr>
          <p:cNvPr id="31" name="Rectangle 30"/>
          <p:cNvSpPr/>
          <p:nvPr/>
        </p:nvSpPr>
        <p:spPr>
          <a:xfrm>
            <a:off x="10351008" y="3474720"/>
            <a:ext cx="749808" cy="411480"/>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405872" y="3520440"/>
            <a:ext cx="676656" cy="374904"/>
          </a:xfrm>
          <a:prstGeom prst="rect">
            <a:avLst/>
          </a:prstGeom>
          <a:noFill/>
        </p:spPr>
        <p:txBody>
          <a:bodyPr wrap="square">
            <a:spAutoFit/>
          </a:bodyPr>
          <a:lstStyle/>
          <a:p>
            <a:pPr algn="ctr"/>
            <a:r>
              <a:rPr sz="1000" b="0" i="0">
                <a:solidFill>
                  <a:srgbClr val="111827"/>
                </a:solidFill>
                <a:latin typeface="Segoe UI"/>
              </a:rPr>
              <a:t>0.992</a:t>
            </a:r>
          </a:p>
        </p:txBody>
      </p:sp>
      <p:sp>
        <p:nvSpPr>
          <p:cNvPr id="33" name="Rectangle 32"/>
          <p:cNvSpPr/>
          <p:nvPr/>
        </p:nvSpPr>
        <p:spPr>
          <a:xfrm>
            <a:off x="8110727" y="3886200"/>
            <a:ext cx="2240280" cy="411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165591" y="3931920"/>
            <a:ext cx="2167128" cy="374904"/>
          </a:xfrm>
          <a:prstGeom prst="rect">
            <a:avLst/>
          </a:prstGeom>
          <a:noFill/>
        </p:spPr>
        <p:txBody>
          <a:bodyPr wrap="square">
            <a:spAutoFit/>
          </a:bodyPr>
          <a:lstStyle/>
          <a:p>
            <a:pPr algn="l"/>
            <a:r>
              <a:rPr sz="1000" b="0" i="0">
                <a:solidFill>
                  <a:srgbClr val="111827"/>
                </a:solidFill>
                <a:latin typeface="Segoe UI"/>
              </a:rPr>
              <a:t>Obesity_Type_III</a:t>
            </a:r>
          </a:p>
        </p:txBody>
      </p:sp>
      <p:sp>
        <p:nvSpPr>
          <p:cNvPr id="35" name="Rectangle 34"/>
          <p:cNvSpPr/>
          <p:nvPr/>
        </p:nvSpPr>
        <p:spPr>
          <a:xfrm>
            <a:off x="10351008" y="3886200"/>
            <a:ext cx="749808" cy="411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405872" y="3931920"/>
            <a:ext cx="676656" cy="374904"/>
          </a:xfrm>
          <a:prstGeom prst="rect">
            <a:avLst/>
          </a:prstGeom>
          <a:noFill/>
        </p:spPr>
        <p:txBody>
          <a:bodyPr wrap="square">
            <a:spAutoFit/>
          </a:bodyPr>
          <a:lstStyle/>
          <a:p>
            <a:pPr algn="ctr"/>
            <a:r>
              <a:rPr sz="1000" b="0" i="0">
                <a:solidFill>
                  <a:srgbClr val="111827"/>
                </a:solidFill>
                <a:latin typeface="Segoe UI"/>
              </a:rPr>
              <a:t>0.992</a:t>
            </a:r>
          </a:p>
        </p:txBody>
      </p:sp>
      <p:sp>
        <p:nvSpPr>
          <p:cNvPr id="37" name="Rectangle 36"/>
          <p:cNvSpPr/>
          <p:nvPr/>
        </p:nvSpPr>
        <p:spPr>
          <a:xfrm>
            <a:off x="8110727" y="4297680"/>
            <a:ext cx="2240280" cy="411480"/>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165591" y="4343400"/>
            <a:ext cx="2167128" cy="374904"/>
          </a:xfrm>
          <a:prstGeom prst="rect">
            <a:avLst/>
          </a:prstGeom>
          <a:noFill/>
        </p:spPr>
        <p:txBody>
          <a:bodyPr wrap="square">
            <a:spAutoFit/>
          </a:bodyPr>
          <a:lstStyle/>
          <a:p>
            <a:pPr algn="l"/>
            <a:r>
              <a:rPr sz="1000" b="0" i="0">
                <a:solidFill>
                  <a:srgbClr val="111827"/>
                </a:solidFill>
                <a:latin typeface="Segoe UI"/>
              </a:rPr>
              <a:t>Overweight_Level_I</a:t>
            </a:r>
          </a:p>
        </p:txBody>
      </p:sp>
      <p:sp>
        <p:nvSpPr>
          <p:cNvPr id="39" name="Rectangle 38"/>
          <p:cNvSpPr/>
          <p:nvPr/>
        </p:nvSpPr>
        <p:spPr>
          <a:xfrm>
            <a:off x="10351008" y="4297680"/>
            <a:ext cx="749808" cy="411480"/>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0405872" y="4343400"/>
            <a:ext cx="676656" cy="374904"/>
          </a:xfrm>
          <a:prstGeom prst="rect">
            <a:avLst/>
          </a:prstGeom>
          <a:noFill/>
        </p:spPr>
        <p:txBody>
          <a:bodyPr wrap="square">
            <a:spAutoFit/>
          </a:bodyPr>
          <a:lstStyle/>
          <a:p>
            <a:pPr algn="ctr"/>
            <a:r>
              <a:rPr sz="1000" b="0" i="0">
                <a:solidFill>
                  <a:srgbClr val="111827"/>
                </a:solidFill>
                <a:latin typeface="Segoe UI"/>
              </a:rPr>
              <a:t>0.929</a:t>
            </a:r>
          </a:p>
        </p:txBody>
      </p:sp>
      <p:sp>
        <p:nvSpPr>
          <p:cNvPr id="41" name="Rectangle 40"/>
          <p:cNvSpPr/>
          <p:nvPr/>
        </p:nvSpPr>
        <p:spPr>
          <a:xfrm>
            <a:off x="8110727" y="4709160"/>
            <a:ext cx="2240280" cy="411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165591" y="4754880"/>
            <a:ext cx="2167128" cy="374904"/>
          </a:xfrm>
          <a:prstGeom prst="rect">
            <a:avLst/>
          </a:prstGeom>
          <a:noFill/>
        </p:spPr>
        <p:txBody>
          <a:bodyPr wrap="square">
            <a:spAutoFit/>
          </a:bodyPr>
          <a:lstStyle/>
          <a:p>
            <a:pPr algn="l"/>
            <a:r>
              <a:rPr sz="1000" b="0" i="0">
                <a:solidFill>
                  <a:srgbClr val="111827"/>
                </a:solidFill>
                <a:latin typeface="Segoe UI"/>
              </a:rPr>
              <a:t>Overweight_Level_II</a:t>
            </a:r>
          </a:p>
        </p:txBody>
      </p:sp>
      <p:sp>
        <p:nvSpPr>
          <p:cNvPr id="43" name="Rectangle 42"/>
          <p:cNvSpPr/>
          <p:nvPr/>
        </p:nvSpPr>
        <p:spPr>
          <a:xfrm>
            <a:off x="10351008" y="4709160"/>
            <a:ext cx="749808" cy="411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405872" y="4754880"/>
            <a:ext cx="676656" cy="374904"/>
          </a:xfrm>
          <a:prstGeom prst="rect">
            <a:avLst/>
          </a:prstGeom>
          <a:noFill/>
        </p:spPr>
        <p:txBody>
          <a:bodyPr wrap="square">
            <a:spAutoFit/>
          </a:bodyPr>
          <a:lstStyle/>
          <a:p>
            <a:pPr algn="ctr"/>
            <a:r>
              <a:rPr sz="1000" b="0" i="0">
                <a:solidFill>
                  <a:srgbClr val="111827"/>
                </a:solidFill>
                <a:latin typeface="Segoe UI"/>
              </a:rPr>
              <a:t>0.957</a:t>
            </a:r>
          </a:p>
        </p:txBody>
      </p:sp>
      <p:sp>
        <p:nvSpPr>
          <p:cNvPr id="45" name="TextBox 44"/>
          <p:cNvSpPr txBox="1"/>
          <p:nvPr/>
        </p:nvSpPr>
        <p:spPr>
          <a:xfrm>
            <a:off x="8110727" y="4800600"/>
            <a:ext cx="3520440" cy="1463040"/>
          </a:xfrm>
          <a:prstGeom prst="rect">
            <a:avLst/>
          </a:prstGeom>
          <a:noFill/>
        </p:spPr>
        <p:txBody>
          <a:bodyPr wrap="square">
            <a:spAutoFit/>
          </a:bodyPr>
          <a:lstStyle/>
          <a:p>
            <a:pPr algn="l"/>
            <a:r>
              <a:rPr sz="1200" b="0" i="1">
                <a:solidFill>
                  <a:srgbClr val="64748B"/>
                </a:solidFill>
                <a:latin typeface="Segoe UI"/>
              </a:rPr>
              <a:t>F1 macro total: 0.9637
Clases intermedias (Normal / Overweight I) presentan
mayor confusión — sus límites de IMC son continuos
y la diferencia entre niveles es sutil.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11480" y="256032"/>
            <a:ext cx="146304" cy="59436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182880"/>
            <a:ext cx="10881360" cy="830997"/>
          </a:xfrm>
          <a:prstGeom prst="rect">
            <a:avLst/>
          </a:prstGeom>
          <a:noFill/>
        </p:spPr>
        <p:txBody>
          <a:bodyPr wrap="square">
            <a:spAutoFit/>
          </a:bodyPr>
          <a:lstStyle/>
          <a:p>
            <a:pPr algn="l"/>
            <a:r>
              <a:rPr sz="2400" b="1" i="0" dirty="0">
                <a:solidFill>
                  <a:srgbClr val="111827"/>
                </a:solidFill>
                <a:latin typeface="Segoe UI"/>
              </a:rPr>
              <a:t>La </a:t>
            </a:r>
            <a:r>
              <a:rPr sz="2400" b="1" i="0" dirty="0" err="1">
                <a:solidFill>
                  <a:srgbClr val="111827"/>
                </a:solidFill>
                <a:latin typeface="Segoe UI"/>
              </a:rPr>
              <a:t>validación</a:t>
            </a:r>
            <a:r>
              <a:rPr sz="2400" b="1" i="0" dirty="0">
                <a:solidFill>
                  <a:srgbClr val="111827"/>
                </a:solidFill>
                <a:latin typeface="Segoe UI"/>
              </a:rPr>
              <a:t> </a:t>
            </a:r>
            <a:r>
              <a:rPr sz="2400" b="1" i="0" dirty="0" err="1">
                <a:solidFill>
                  <a:srgbClr val="111827"/>
                </a:solidFill>
                <a:latin typeface="Segoe UI"/>
              </a:rPr>
              <a:t>cruzada</a:t>
            </a:r>
            <a:r>
              <a:rPr sz="2400" b="1" i="0" dirty="0">
                <a:solidFill>
                  <a:srgbClr val="111827"/>
                </a:solidFill>
                <a:latin typeface="Segoe UI"/>
              </a:rPr>
              <a:t> </a:t>
            </a:r>
            <a:r>
              <a:rPr sz="2400" b="1" i="0" dirty="0" err="1">
                <a:solidFill>
                  <a:srgbClr val="111827"/>
                </a:solidFill>
                <a:latin typeface="Segoe UI"/>
              </a:rPr>
              <a:t>identifica</a:t>
            </a:r>
            <a:r>
              <a:rPr sz="2400" b="1" i="0" dirty="0">
                <a:solidFill>
                  <a:srgbClr val="111827"/>
                </a:solidFill>
                <a:latin typeface="Segoe UI"/>
              </a:rPr>
              <a:t> a Random Forest </a:t>
            </a:r>
            <a:r>
              <a:rPr sz="2400" b="1" i="0" dirty="0" err="1">
                <a:solidFill>
                  <a:srgbClr val="111827"/>
                </a:solidFill>
                <a:latin typeface="Segoe UI"/>
              </a:rPr>
              <a:t>como</a:t>
            </a:r>
            <a:r>
              <a:rPr sz="2400" b="1" i="0" dirty="0">
                <a:solidFill>
                  <a:srgbClr val="111827"/>
                </a:solidFill>
                <a:latin typeface="Segoe UI"/>
              </a:rPr>
              <a:t> </a:t>
            </a:r>
            <a:r>
              <a:rPr sz="2400" b="1" i="0" dirty="0" err="1">
                <a:solidFill>
                  <a:srgbClr val="111827"/>
                </a:solidFill>
                <a:latin typeface="Segoe UI"/>
              </a:rPr>
              <a:t>el</a:t>
            </a:r>
            <a:r>
              <a:rPr sz="2400" b="1" i="0" dirty="0">
                <a:solidFill>
                  <a:srgbClr val="111827"/>
                </a:solidFill>
                <a:latin typeface="Segoe UI"/>
              </a:rPr>
              <a:t> </a:t>
            </a:r>
            <a:r>
              <a:rPr sz="2400" b="1" i="0" dirty="0" err="1">
                <a:solidFill>
                  <a:srgbClr val="111827"/>
                </a:solidFill>
                <a:latin typeface="Segoe UI"/>
              </a:rPr>
              <a:t>modelo</a:t>
            </a:r>
            <a:r>
              <a:rPr sz="2400" b="1" i="0" dirty="0">
                <a:solidFill>
                  <a:srgbClr val="111827"/>
                </a:solidFill>
                <a:latin typeface="Segoe UI"/>
              </a:rPr>
              <a:t> </a:t>
            </a:r>
            <a:r>
              <a:rPr sz="2400" b="1" i="0" dirty="0" err="1">
                <a:solidFill>
                  <a:srgbClr val="111827"/>
                </a:solidFill>
                <a:latin typeface="Segoe UI"/>
              </a:rPr>
              <a:t>más</a:t>
            </a:r>
            <a:r>
              <a:rPr sz="2400" b="1" i="0" dirty="0">
                <a:solidFill>
                  <a:srgbClr val="111827"/>
                </a:solidFill>
                <a:latin typeface="Segoe UI"/>
              </a:rPr>
              <a:t> </a:t>
            </a:r>
            <a:r>
              <a:rPr sz="2400" b="1" i="0" dirty="0" err="1">
                <a:solidFill>
                  <a:srgbClr val="111827"/>
                </a:solidFill>
                <a:latin typeface="Segoe UI"/>
              </a:rPr>
              <a:t>estable</a:t>
            </a:r>
            <a:r>
              <a:rPr sz="2400" b="1" i="0" dirty="0">
                <a:solidFill>
                  <a:srgbClr val="111827"/>
                </a:solidFill>
                <a:latin typeface="Segoe UI"/>
              </a:rPr>
              <a:t> y </a:t>
            </a:r>
            <a:r>
              <a:rPr sz="2400" b="1" i="0" dirty="0" err="1">
                <a:solidFill>
                  <a:srgbClr val="111827"/>
                </a:solidFill>
                <a:latin typeface="Segoe UI"/>
              </a:rPr>
              <a:t>robusto</a:t>
            </a:r>
            <a:endParaRPr sz="2400" b="1" i="0" dirty="0">
              <a:solidFill>
                <a:srgbClr val="111827"/>
              </a:solidFill>
              <a:latin typeface="Segoe UI"/>
            </a:endParaRPr>
          </a:p>
        </p:txBody>
      </p:sp>
      <p:sp>
        <p:nvSpPr>
          <p:cNvPr id="5" name="TextBox 4"/>
          <p:cNvSpPr txBox="1"/>
          <p:nvPr/>
        </p:nvSpPr>
        <p:spPr>
          <a:xfrm>
            <a:off x="3389009" y="660683"/>
            <a:ext cx="10881360" cy="347472"/>
          </a:xfrm>
          <a:prstGeom prst="rect">
            <a:avLst/>
          </a:prstGeom>
          <a:noFill/>
        </p:spPr>
        <p:txBody>
          <a:bodyPr wrap="square">
            <a:spAutoFit/>
          </a:bodyPr>
          <a:lstStyle/>
          <a:p>
            <a:pPr algn="l"/>
            <a:r>
              <a:rPr sz="1400" b="0" i="0" dirty="0" err="1">
                <a:solidFill>
                  <a:srgbClr val="64748B"/>
                </a:solidFill>
                <a:latin typeface="Segoe UI"/>
              </a:rPr>
              <a:t>Validación</a:t>
            </a:r>
            <a:r>
              <a:rPr sz="1400" b="0" i="0" dirty="0">
                <a:solidFill>
                  <a:srgbClr val="64748B"/>
                </a:solidFill>
                <a:latin typeface="Segoe UI"/>
              </a:rPr>
              <a:t> </a:t>
            </a:r>
            <a:r>
              <a:rPr sz="1400" b="0" i="0" dirty="0" err="1">
                <a:solidFill>
                  <a:srgbClr val="64748B"/>
                </a:solidFill>
                <a:latin typeface="Segoe UI"/>
              </a:rPr>
              <a:t>cruzada</a:t>
            </a:r>
            <a:r>
              <a:rPr sz="1400" b="0" i="0" dirty="0">
                <a:solidFill>
                  <a:srgbClr val="64748B"/>
                </a:solidFill>
                <a:latin typeface="Segoe UI"/>
              </a:rPr>
              <a:t> </a:t>
            </a:r>
            <a:r>
              <a:rPr sz="1400" b="0" i="0" dirty="0" err="1">
                <a:solidFill>
                  <a:srgbClr val="64748B"/>
                </a:solidFill>
                <a:latin typeface="Segoe UI"/>
              </a:rPr>
              <a:t>estratificada</a:t>
            </a:r>
            <a:r>
              <a:rPr sz="1400" b="0" i="0" dirty="0">
                <a:solidFill>
                  <a:srgbClr val="64748B"/>
                </a:solidFill>
                <a:latin typeface="Segoe UI"/>
              </a:rPr>
              <a:t> k=5 + </a:t>
            </a:r>
            <a:r>
              <a:rPr sz="1400" b="0" i="0" dirty="0" err="1">
                <a:solidFill>
                  <a:srgbClr val="64748B"/>
                </a:solidFill>
                <a:latin typeface="Segoe UI"/>
              </a:rPr>
              <a:t>RandomizedSearchCV</a:t>
            </a:r>
            <a:r>
              <a:rPr sz="1400" b="0" i="0" dirty="0">
                <a:solidFill>
                  <a:srgbClr val="64748B"/>
                </a:solidFill>
                <a:latin typeface="Segoe UI"/>
              </a:rPr>
              <a:t> — </a:t>
            </a:r>
            <a:r>
              <a:rPr sz="1400" b="0" i="0" dirty="0" err="1">
                <a:solidFill>
                  <a:srgbClr val="64748B"/>
                </a:solidFill>
                <a:latin typeface="Segoe UI"/>
              </a:rPr>
              <a:t>Iteración</a:t>
            </a:r>
            <a:r>
              <a:rPr sz="1400" b="0" i="0" dirty="0">
                <a:solidFill>
                  <a:srgbClr val="64748B"/>
                </a:solidFill>
                <a:latin typeface="Segoe UI"/>
              </a:rPr>
              <a:t> 3</a:t>
            </a:r>
          </a:p>
        </p:txBody>
      </p:sp>
      <p:sp>
        <p:nvSpPr>
          <p:cNvPr id="6" name="Rectangle 5"/>
          <p:cNvSpPr/>
          <p:nvPr/>
        </p:nvSpPr>
        <p:spPr>
          <a:xfrm>
            <a:off x="411480" y="1133856"/>
            <a:ext cx="11365992"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55680" y="6510528"/>
            <a:ext cx="914400" cy="274320"/>
          </a:xfrm>
          <a:prstGeom prst="rect">
            <a:avLst/>
          </a:prstGeom>
          <a:noFill/>
        </p:spPr>
        <p:txBody>
          <a:bodyPr wrap="square">
            <a:spAutoFit/>
          </a:bodyPr>
          <a:lstStyle/>
          <a:p>
            <a:pPr algn="r"/>
            <a:r>
              <a:rPr sz="900" b="0" i="0">
                <a:solidFill>
                  <a:srgbClr val="64748B"/>
                </a:solidFill>
                <a:latin typeface="Segoe UI"/>
              </a:rPr>
              <a:t>11 / 20</a:t>
            </a:r>
          </a:p>
        </p:txBody>
      </p:sp>
      <p:sp>
        <p:nvSpPr>
          <p:cNvPr id="8" name="TextBox 7"/>
          <p:cNvSpPr txBox="1"/>
          <p:nvPr/>
        </p:nvSpPr>
        <p:spPr>
          <a:xfrm>
            <a:off x="411480" y="1298448"/>
            <a:ext cx="5760720" cy="347472"/>
          </a:xfrm>
          <a:prstGeom prst="rect">
            <a:avLst/>
          </a:prstGeom>
          <a:noFill/>
        </p:spPr>
        <p:txBody>
          <a:bodyPr wrap="square">
            <a:spAutoFit/>
          </a:bodyPr>
          <a:lstStyle/>
          <a:p>
            <a:pPr algn="l"/>
            <a:r>
              <a:rPr sz="1400" b="1" i="0">
                <a:solidFill>
                  <a:srgbClr val="111827"/>
                </a:solidFill>
                <a:latin typeface="Segoe UI"/>
              </a:rPr>
              <a:t>Validación cruzada (k=5 estratificado)</a:t>
            </a:r>
          </a:p>
        </p:txBody>
      </p:sp>
      <p:sp>
        <p:nvSpPr>
          <p:cNvPr id="9" name="Rectangle 8"/>
          <p:cNvSpPr/>
          <p:nvPr/>
        </p:nvSpPr>
        <p:spPr>
          <a:xfrm>
            <a:off x="411480" y="1719072"/>
            <a:ext cx="2240280" cy="420624"/>
          </a:xfrm>
          <a:prstGeom prst="rect">
            <a:avLst/>
          </a:prstGeom>
          <a:solidFill>
            <a:srgbClr val="0F172A"/>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6344" y="1764792"/>
            <a:ext cx="2167128" cy="384048"/>
          </a:xfrm>
          <a:prstGeom prst="rect">
            <a:avLst/>
          </a:prstGeom>
          <a:noFill/>
        </p:spPr>
        <p:txBody>
          <a:bodyPr wrap="square">
            <a:spAutoFit/>
          </a:bodyPr>
          <a:lstStyle/>
          <a:p>
            <a:pPr algn="l"/>
            <a:r>
              <a:rPr sz="1000" b="1" i="0">
                <a:solidFill>
                  <a:srgbClr val="FFFFFF"/>
                </a:solidFill>
                <a:latin typeface="Segoe UI"/>
              </a:rPr>
              <a:t>Modelo</a:t>
            </a:r>
          </a:p>
        </p:txBody>
      </p:sp>
      <p:sp>
        <p:nvSpPr>
          <p:cNvPr id="11" name="Rectangle 10"/>
          <p:cNvSpPr/>
          <p:nvPr/>
        </p:nvSpPr>
        <p:spPr>
          <a:xfrm>
            <a:off x="2651760" y="1719072"/>
            <a:ext cx="914400" cy="420624"/>
          </a:xfrm>
          <a:prstGeom prst="rect">
            <a:avLst/>
          </a:prstGeom>
          <a:solidFill>
            <a:srgbClr val="0F172A"/>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06624" y="1764792"/>
            <a:ext cx="841248" cy="384048"/>
          </a:xfrm>
          <a:prstGeom prst="rect">
            <a:avLst/>
          </a:prstGeom>
          <a:noFill/>
        </p:spPr>
        <p:txBody>
          <a:bodyPr wrap="square">
            <a:spAutoFit/>
          </a:bodyPr>
          <a:lstStyle/>
          <a:p>
            <a:pPr algn="ctr"/>
            <a:r>
              <a:rPr sz="1000" b="1" i="0">
                <a:solidFill>
                  <a:srgbClr val="FFFFFF"/>
                </a:solidFill>
                <a:latin typeface="Segoe UI"/>
              </a:rPr>
              <a:t>Acc. CV</a:t>
            </a:r>
          </a:p>
        </p:txBody>
      </p:sp>
      <p:sp>
        <p:nvSpPr>
          <p:cNvPr id="13" name="Rectangle 12"/>
          <p:cNvSpPr/>
          <p:nvPr/>
        </p:nvSpPr>
        <p:spPr>
          <a:xfrm>
            <a:off x="3566160" y="1719072"/>
            <a:ext cx="960120" cy="420624"/>
          </a:xfrm>
          <a:prstGeom prst="rect">
            <a:avLst/>
          </a:prstGeom>
          <a:solidFill>
            <a:srgbClr val="0F172A"/>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21024" y="1764792"/>
            <a:ext cx="886968" cy="384048"/>
          </a:xfrm>
          <a:prstGeom prst="rect">
            <a:avLst/>
          </a:prstGeom>
          <a:noFill/>
        </p:spPr>
        <p:txBody>
          <a:bodyPr wrap="square">
            <a:spAutoFit/>
          </a:bodyPr>
          <a:lstStyle/>
          <a:p>
            <a:pPr algn="ctr"/>
            <a:r>
              <a:rPr sz="1000" b="1" i="0">
                <a:solidFill>
                  <a:srgbClr val="FFFFFF"/>
                </a:solidFill>
                <a:latin typeface="Segoe UI"/>
              </a:rPr>
              <a:t>F1 CV media</a:t>
            </a:r>
          </a:p>
        </p:txBody>
      </p:sp>
      <p:sp>
        <p:nvSpPr>
          <p:cNvPr id="15" name="Rectangle 14"/>
          <p:cNvSpPr/>
          <p:nvPr/>
        </p:nvSpPr>
        <p:spPr>
          <a:xfrm>
            <a:off x="4526280" y="1719072"/>
            <a:ext cx="914400" cy="420624"/>
          </a:xfrm>
          <a:prstGeom prst="rect">
            <a:avLst/>
          </a:prstGeom>
          <a:solidFill>
            <a:srgbClr val="0F172A"/>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81144" y="1764792"/>
            <a:ext cx="841248" cy="384048"/>
          </a:xfrm>
          <a:prstGeom prst="rect">
            <a:avLst/>
          </a:prstGeom>
          <a:noFill/>
        </p:spPr>
        <p:txBody>
          <a:bodyPr wrap="square">
            <a:spAutoFit/>
          </a:bodyPr>
          <a:lstStyle/>
          <a:p>
            <a:pPr algn="ctr"/>
            <a:r>
              <a:rPr sz="1000" b="1" i="0">
                <a:solidFill>
                  <a:srgbClr val="FFFFFF"/>
                </a:solidFill>
                <a:latin typeface="Segoe UI"/>
              </a:rPr>
              <a:t>F1 CV desv.</a:t>
            </a:r>
          </a:p>
        </p:txBody>
      </p:sp>
      <p:sp>
        <p:nvSpPr>
          <p:cNvPr id="17" name="Rectangle 16"/>
          <p:cNvSpPr/>
          <p:nvPr/>
        </p:nvSpPr>
        <p:spPr>
          <a:xfrm>
            <a:off x="411480" y="2139696"/>
            <a:ext cx="2240280" cy="420624"/>
          </a:xfrm>
          <a:prstGeom prst="rect">
            <a:avLst/>
          </a:prstGeom>
          <a:solidFill>
            <a:srgbClr val="DCFCE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6344" y="2185416"/>
            <a:ext cx="2167128" cy="384048"/>
          </a:xfrm>
          <a:prstGeom prst="rect">
            <a:avLst/>
          </a:prstGeom>
          <a:noFill/>
        </p:spPr>
        <p:txBody>
          <a:bodyPr wrap="square">
            <a:spAutoFit/>
          </a:bodyPr>
          <a:lstStyle/>
          <a:p>
            <a:pPr algn="l"/>
            <a:r>
              <a:rPr sz="1000" b="1" i="0">
                <a:solidFill>
                  <a:srgbClr val="16A34A"/>
                </a:solidFill>
                <a:latin typeface="Segoe UI"/>
              </a:rPr>
              <a:t>Random Forest ★</a:t>
            </a:r>
          </a:p>
        </p:txBody>
      </p:sp>
      <p:sp>
        <p:nvSpPr>
          <p:cNvPr id="19" name="Rectangle 18"/>
          <p:cNvSpPr/>
          <p:nvPr/>
        </p:nvSpPr>
        <p:spPr>
          <a:xfrm>
            <a:off x="2651760" y="2139696"/>
            <a:ext cx="914400" cy="420624"/>
          </a:xfrm>
          <a:prstGeom prst="rect">
            <a:avLst/>
          </a:prstGeom>
          <a:solidFill>
            <a:srgbClr val="DCFCE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706624" y="2185416"/>
            <a:ext cx="841248" cy="384048"/>
          </a:xfrm>
          <a:prstGeom prst="rect">
            <a:avLst/>
          </a:prstGeom>
          <a:noFill/>
        </p:spPr>
        <p:txBody>
          <a:bodyPr wrap="square">
            <a:spAutoFit/>
          </a:bodyPr>
          <a:lstStyle/>
          <a:p>
            <a:pPr algn="ctr"/>
            <a:r>
              <a:rPr sz="1000" b="1" i="0">
                <a:solidFill>
                  <a:srgbClr val="16A34A"/>
                </a:solidFill>
                <a:latin typeface="Segoe UI"/>
              </a:rPr>
              <a:t>0.9867</a:t>
            </a:r>
          </a:p>
        </p:txBody>
      </p:sp>
      <p:sp>
        <p:nvSpPr>
          <p:cNvPr id="21" name="Rectangle 20"/>
          <p:cNvSpPr/>
          <p:nvPr/>
        </p:nvSpPr>
        <p:spPr>
          <a:xfrm>
            <a:off x="3566160" y="2139696"/>
            <a:ext cx="960120" cy="420624"/>
          </a:xfrm>
          <a:prstGeom prst="rect">
            <a:avLst/>
          </a:prstGeom>
          <a:solidFill>
            <a:srgbClr val="DCFCE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21024" y="2185416"/>
            <a:ext cx="886968" cy="384048"/>
          </a:xfrm>
          <a:prstGeom prst="rect">
            <a:avLst/>
          </a:prstGeom>
          <a:noFill/>
        </p:spPr>
        <p:txBody>
          <a:bodyPr wrap="square">
            <a:spAutoFit/>
          </a:bodyPr>
          <a:lstStyle/>
          <a:p>
            <a:pPr algn="ctr"/>
            <a:r>
              <a:rPr sz="1000" b="1" i="0">
                <a:solidFill>
                  <a:srgbClr val="16A34A"/>
                </a:solidFill>
                <a:latin typeface="Segoe UI"/>
              </a:rPr>
              <a:t>0.9863</a:t>
            </a:r>
          </a:p>
        </p:txBody>
      </p:sp>
      <p:sp>
        <p:nvSpPr>
          <p:cNvPr id="23" name="Rectangle 22"/>
          <p:cNvSpPr/>
          <p:nvPr/>
        </p:nvSpPr>
        <p:spPr>
          <a:xfrm>
            <a:off x="4526280" y="2139696"/>
            <a:ext cx="914400" cy="420624"/>
          </a:xfrm>
          <a:prstGeom prst="rect">
            <a:avLst/>
          </a:prstGeom>
          <a:solidFill>
            <a:srgbClr val="DCFCE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81144" y="2185416"/>
            <a:ext cx="841248" cy="384048"/>
          </a:xfrm>
          <a:prstGeom prst="rect">
            <a:avLst/>
          </a:prstGeom>
          <a:noFill/>
        </p:spPr>
        <p:txBody>
          <a:bodyPr wrap="square">
            <a:spAutoFit/>
          </a:bodyPr>
          <a:lstStyle/>
          <a:p>
            <a:pPr algn="ctr"/>
            <a:r>
              <a:rPr sz="1000" b="1" i="0">
                <a:solidFill>
                  <a:srgbClr val="16A34A"/>
                </a:solidFill>
                <a:latin typeface="Segoe UI"/>
              </a:rPr>
              <a:t>±0.0024</a:t>
            </a:r>
          </a:p>
        </p:txBody>
      </p:sp>
      <p:sp>
        <p:nvSpPr>
          <p:cNvPr id="25" name="Rectangle 24"/>
          <p:cNvSpPr/>
          <p:nvPr/>
        </p:nvSpPr>
        <p:spPr>
          <a:xfrm>
            <a:off x="411480" y="2560320"/>
            <a:ext cx="2240280" cy="420624"/>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66344" y="2606040"/>
            <a:ext cx="2167128" cy="384048"/>
          </a:xfrm>
          <a:prstGeom prst="rect">
            <a:avLst/>
          </a:prstGeom>
          <a:noFill/>
        </p:spPr>
        <p:txBody>
          <a:bodyPr wrap="square">
            <a:spAutoFit/>
          </a:bodyPr>
          <a:lstStyle/>
          <a:p>
            <a:pPr algn="l"/>
            <a:r>
              <a:rPr sz="1000" b="0" i="0">
                <a:solidFill>
                  <a:srgbClr val="111827"/>
                </a:solidFill>
                <a:latin typeface="Segoe UI"/>
              </a:rPr>
              <a:t>XGBoost</a:t>
            </a:r>
          </a:p>
        </p:txBody>
      </p:sp>
      <p:sp>
        <p:nvSpPr>
          <p:cNvPr id="27" name="Rectangle 26"/>
          <p:cNvSpPr/>
          <p:nvPr/>
        </p:nvSpPr>
        <p:spPr>
          <a:xfrm>
            <a:off x="2651760" y="2560320"/>
            <a:ext cx="914400" cy="420624"/>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706624" y="2606040"/>
            <a:ext cx="841248" cy="384048"/>
          </a:xfrm>
          <a:prstGeom prst="rect">
            <a:avLst/>
          </a:prstGeom>
          <a:noFill/>
        </p:spPr>
        <p:txBody>
          <a:bodyPr wrap="square">
            <a:spAutoFit/>
          </a:bodyPr>
          <a:lstStyle/>
          <a:p>
            <a:pPr algn="ctr"/>
            <a:r>
              <a:rPr sz="1000" b="0" i="0">
                <a:solidFill>
                  <a:srgbClr val="111827"/>
                </a:solidFill>
                <a:latin typeface="Segoe UI"/>
              </a:rPr>
              <a:t>0.9844</a:t>
            </a:r>
          </a:p>
        </p:txBody>
      </p:sp>
      <p:sp>
        <p:nvSpPr>
          <p:cNvPr id="29" name="Rectangle 28"/>
          <p:cNvSpPr/>
          <p:nvPr/>
        </p:nvSpPr>
        <p:spPr>
          <a:xfrm>
            <a:off x="3566160" y="2560320"/>
            <a:ext cx="960120" cy="420624"/>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621024" y="2606040"/>
            <a:ext cx="886968" cy="384048"/>
          </a:xfrm>
          <a:prstGeom prst="rect">
            <a:avLst/>
          </a:prstGeom>
          <a:noFill/>
        </p:spPr>
        <p:txBody>
          <a:bodyPr wrap="square">
            <a:spAutoFit/>
          </a:bodyPr>
          <a:lstStyle/>
          <a:p>
            <a:pPr algn="ctr"/>
            <a:r>
              <a:rPr sz="1000" b="0" i="0">
                <a:solidFill>
                  <a:srgbClr val="111827"/>
                </a:solidFill>
                <a:latin typeface="Segoe UI"/>
              </a:rPr>
              <a:t>0.9840</a:t>
            </a:r>
          </a:p>
        </p:txBody>
      </p:sp>
      <p:sp>
        <p:nvSpPr>
          <p:cNvPr id="31" name="Rectangle 30"/>
          <p:cNvSpPr/>
          <p:nvPr/>
        </p:nvSpPr>
        <p:spPr>
          <a:xfrm>
            <a:off x="4526280" y="2560320"/>
            <a:ext cx="914400" cy="420624"/>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581144" y="2606040"/>
            <a:ext cx="841248" cy="384048"/>
          </a:xfrm>
          <a:prstGeom prst="rect">
            <a:avLst/>
          </a:prstGeom>
          <a:noFill/>
        </p:spPr>
        <p:txBody>
          <a:bodyPr wrap="square">
            <a:spAutoFit/>
          </a:bodyPr>
          <a:lstStyle/>
          <a:p>
            <a:pPr algn="ctr"/>
            <a:r>
              <a:rPr sz="1000" b="0" i="0">
                <a:solidFill>
                  <a:srgbClr val="111827"/>
                </a:solidFill>
                <a:latin typeface="Segoe UI"/>
              </a:rPr>
              <a:t>±0.0069</a:t>
            </a:r>
          </a:p>
        </p:txBody>
      </p:sp>
      <p:sp>
        <p:nvSpPr>
          <p:cNvPr id="33" name="Rectangle 32"/>
          <p:cNvSpPr/>
          <p:nvPr/>
        </p:nvSpPr>
        <p:spPr>
          <a:xfrm>
            <a:off x="411480" y="2980944"/>
            <a:ext cx="2240280" cy="42062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66344" y="3026664"/>
            <a:ext cx="2167128" cy="384048"/>
          </a:xfrm>
          <a:prstGeom prst="rect">
            <a:avLst/>
          </a:prstGeom>
          <a:noFill/>
        </p:spPr>
        <p:txBody>
          <a:bodyPr wrap="square">
            <a:spAutoFit/>
          </a:bodyPr>
          <a:lstStyle/>
          <a:p>
            <a:pPr algn="l"/>
            <a:r>
              <a:rPr sz="1000" b="0" i="0">
                <a:solidFill>
                  <a:srgbClr val="111827"/>
                </a:solidFill>
                <a:latin typeface="Segoe UI"/>
              </a:rPr>
              <a:t>SVM</a:t>
            </a:r>
          </a:p>
        </p:txBody>
      </p:sp>
      <p:sp>
        <p:nvSpPr>
          <p:cNvPr id="35" name="Rectangle 34"/>
          <p:cNvSpPr/>
          <p:nvPr/>
        </p:nvSpPr>
        <p:spPr>
          <a:xfrm>
            <a:off x="2651760" y="2980944"/>
            <a:ext cx="914400" cy="42062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706624" y="3026664"/>
            <a:ext cx="841248" cy="384048"/>
          </a:xfrm>
          <a:prstGeom prst="rect">
            <a:avLst/>
          </a:prstGeom>
          <a:noFill/>
        </p:spPr>
        <p:txBody>
          <a:bodyPr wrap="square">
            <a:spAutoFit/>
          </a:bodyPr>
          <a:lstStyle/>
          <a:p>
            <a:pPr algn="ctr"/>
            <a:r>
              <a:rPr sz="1000" b="0" i="0">
                <a:solidFill>
                  <a:srgbClr val="111827"/>
                </a:solidFill>
                <a:latin typeface="Segoe UI"/>
              </a:rPr>
              <a:t>0.9801</a:t>
            </a:r>
          </a:p>
        </p:txBody>
      </p:sp>
      <p:sp>
        <p:nvSpPr>
          <p:cNvPr id="37" name="Rectangle 36"/>
          <p:cNvSpPr/>
          <p:nvPr/>
        </p:nvSpPr>
        <p:spPr>
          <a:xfrm>
            <a:off x="3566160" y="2980944"/>
            <a:ext cx="960120" cy="42062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21024" y="3026664"/>
            <a:ext cx="886968" cy="384048"/>
          </a:xfrm>
          <a:prstGeom prst="rect">
            <a:avLst/>
          </a:prstGeom>
          <a:noFill/>
        </p:spPr>
        <p:txBody>
          <a:bodyPr wrap="square">
            <a:spAutoFit/>
          </a:bodyPr>
          <a:lstStyle/>
          <a:p>
            <a:pPr algn="ctr"/>
            <a:r>
              <a:rPr sz="1000" b="0" i="0">
                <a:solidFill>
                  <a:srgbClr val="111827"/>
                </a:solidFill>
                <a:latin typeface="Segoe UI"/>
              </a:rPr>
              <a:t>0.9794</a:t>
            </a:r>
          </a:p>
        </p:txBody>
      </p:sp>
      <p:sp>
        <p:nvSpPr>
          <p:cNvPr id="39" name="Rectangle 38"/>
          <p:cNvSpPr/>
          <p:nvPr/>
        </p:nvSpPr>
        <p:spPr>
          <a:xfrm>
            <a:off x="4526280" y="2980944"/>
            <a:ext cx="914400" cy="42062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581144" y="3026664"/>
            <a:ext cx="841248" cy="384048"/>
          </a:xfrm>
          <a:prstGeom prst="rect">
            <a:avLst/>
          </a:prstGeom>
          <a:noFill/>
        </p:spPr>
        <p:txBody>
          <a:bodyPr wrap="square">
            <a:spAutoFit/>
          </a:bodyPr>
          <a:lstStyle/>
          <a:p>
            <a:pPr algn="ctr"/>
            <a:r>
              <a:rPr sz="1000" b="0" i="0">
                <a:solidFill>
                  <a:srgbClr val="111827"/>
                </a:solidFill>
                <a:latin typeface="Segoe UI"/>
              </a:rPr>
              <a:t>±0.0045</a:t>
            </a:r>
          </a:p>
        </p:txBody>
      </p:sp>
      <p:sp>
        <p:nvSpPr>
          <p:cNvPr id="41" name="Rectangle 40"/>
          <p:cNvSpPr/>
          <p:nvPr/>
        </p:nvSpPr>
        <p:spPr>
          <a:xfrm>
            <a:off x="411480" y="3401568"/>
            <a:ext cx="2240280" cy="420624"/>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66344" y="3447288"/>
            <a:ext cx="2167128" cy="384048"/>
          </a:xfrm>
          <a:prstGeom prst="rect">
            <a:avLst/>
          </a:prstGeom>
          <a:noFill/>
        </p:spPr>
        <p:txBody>
          <a:bodyPr wrap="square">
            <a:spAutoFit/>
          </a:bodyPr>
          <a:lstStyle/>
          <a:p>
            <a:pPr algn="l"/>
            <a:r>
              <a:rPr sz="1000" b="0" i="0">
                <a:solidFill>
                  <a:srgbClr val="111827"/>
                </a:solidFill>
                <a:latin typeface="Segoe UI"/>
              </a:rPr>
              <a:t>Árbol de Decisión</a:t>
            </a:r>
          </a:p>
        </p:txBody>
      </p:sp>
      <p:sp>
        <p:nvSpPr>
          <p:cNvPr id="43" name="Rectangle 42"/>
          <p:cNvSpPr/>
          <p:nvPr/>
        </p:nvSpPr>
        <p:spPr>
          <a:xfrm>
            <a:off x="2651760" y="3401568"/>
            <a:ext cx="914400" cy="420624"/>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2706624" y="3447288"/>
            <a:ext cx="841248" cy="384048"/>
          </a:xfrm>
          <a:prstGeom prst="rect">
            <a:avLst/>
          </a:prstGeom>
          <a:noFill/>
        </p:spPr>
        <p:txBody>
          <a:bodyPr wrap="square">
            <a:spAutoFit/>
          </a:bodyPr>
          <a:lstStyle/>
          <a:p>
            <a:pPr algn="ctr"/>
            <a:r>
              <a:rPr sz="1000" b="0" i="0">
                <a:solidFill>
                  <a:srgbClr val="111827"/>
                </a:solidFill>
                <a:latin typeface="Segoe UI"/>
              </a:rPr>
              <a:t>0.9711</a:t>
            </a:r>
          </a:p>
        </p:txBody>
      </p:sp>
      <p:sp>
        <p:nvSpPr>
          <p:cNvPr id="45" name="Rectangle 44"/>
          <p:cNvSpPr/>
          <p:nvPr/>
        </p:nvSpPr>
        <p:spPr>
          <a:xfrm>
            <a:off x="3566160" y="3401568"/>
            <a:ext cx="960120" cy="420624"/>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621024" y="3447288"/>
            <a:ext cx="886968" cy="384048"/>
          </a:xfrm>
          <a:prstGeom prst="rect">
            <a:avLst/>
          </a:prstGeom>
          <a:noFill/>
        </p:spPr>
        <p:txBody>
          <a:bodyPr wrap="square">
            <a:spAutoFit/>
          </a:bodyPr>
          <a:lstStyle/>
          <a:p>
            <a:pPr algn="ctr"/>
            <a:r>
              <a:rPr sz="1000" b="0" i="0">
                <a:solidFill>
                  <a:srgbClr val="111827"/>
                </a:solidFill>
                <a:latin typeface="Segoe UI"/>
              </a:rPr>
              <a:t>0.9709</a:t>
            </a:r>
          </a:p>
        </p:txBody>
      </p:sp>
      <p:sp>
        <p:nvSpPr>
          <p:cNvPr id="47" name="Rectangle 46"/>
          <p:cNvSpPr/>
          <p:nvPr/>
        </p:nvSpPr>
        <p:spPr>
          <a:xfrm>
            <a:off x="4526280" y="3401568"/>
            <a:ext cx="914400" cy="420624"/>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581144" y="3447288"/>
            <a:ext cx="841248" cy="384048"/>
          </a:xfrm>
          <a:prstGeom prst="rect">
            <a:avLst/>
          </a:prstGeom>
          <a:noFill/>
        </p:spPr>
        <p:txBody>
          <a:bodyPr wrap="square">
            <a:spAutoFit/>
          </a:bodyPr>
          <a:lstStyle/>
          <a:p>
            <a:pPr algn="ctr"/>
            <a:r>
              <a:rPr sz="1000" b="0" i="0">
                <a:solidFill>
                  <a:srgbClr val="111827"/>
                </a:solidFill>
                <a:latin typeface="Segoe UI"/>
              </a:rPr>
              <a:t>±0.0095</a:t>
            </a:r>
          </a:p>
        </p:txBody>
      </p:sp>
      <p:sp>
        <p:nvSpPr>
          <p:cNvPr id="49" name="Rectangle 48"/>
          <p:cNvSpPr/>
          <p:nvPr/>
        </p:nvSpPr>
        <p:spPr>
          <a:xfrm>
            <a:off x="411480" y="3822192"/>
            <a:ext cx="2240280" cy="42062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66344" y="3867912"/>
            <a:ext cx="2167128" cy="384048"/>
          </a:xfrm>
          <a:prstGeom prst="rect">
            <a:avLst/>
          </a:prstGeom>
          <a:noFill/>
        </p:spPr>
        <p:txBody>
          <a:bodyPr wrap="square">
            <a:spAutoFit/>
          </a:bodyPr>
          <a:lstStyle/>
          <a:p>
            <a:pPr algn="l"/>
            <a:r>
              <a:rPr sz="1000" b="0" i="0">
                <a:solidFill>
                  <a:srgbClr val="111827"/>
                </a:solidFill>
                <a:latin typeface="Segoe UI"/>
              </a:rPr>
              <a:t>Regresión Logística</a:t>
            </a:r>
          </a:p>
        </p:txBody>
      </p:sp>
      <p:sp>
        <p:nvSpPr>
          <p:cNvPr id="51" name="Rectangle 50"/>
          <p:cNvSpPr/>
          <p:nvPr/>
        </p:nvSpPr>
        <p:spPr>
          <a:xfrm>
            <a:off x="2651760" y="3822192"/>
            <a:ext cx="914400" cy="42062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2706624" y="3867912"/>
            <a:ext cx="841248" cy="384048"/>
          </a:xfrm>
          <a:prstGeom prst="rect">
            <a:avLst/>
          </a:prstGeom>
          <a:noFill/>
        </p:spPr>
        <p:txBody>
          <a:bodyPr wrap="square">
            <a:spAutoFit/>
          </a:bodyPr>
          <a:lstStyle/>
          <a:p>
            <a:pPr algn="ctr"/>
            <a:r>
              <a:rPr sz="1000" b="0" i="0">
                <a:solidFill>
                  <a:srgbClr val="111827"/>
                </a:solidFill>
                <a:latin typeface="Segoe UI"/>
              </a:rPr>
              <a:t>0.9621</a:t>
            </a:r>
          </a:p>
        </p:txBody>
      </p:sp>
      <p:sp>
        <p:nvSpPr>
          <p:cNvPr id="53" name="Rectangle 52"/>
          <p:cNvSpPr/>
          <p:nvPr/>
        </p:nvSpPr>
        <p:spPr>
          <a:xfrm>
            <a:off x="3566160" y="3822192"/>
            <a:ext cx="960120" cy="42062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3621024" y="3867912"/>
            <a:ext cx="886968" cy="384048"/>
          </a:xfrm>
          <a:prstGeom prst="rect">
            <a:avLst/>
          </a:prstGeom>
          <a:noFill/>
        </p:spPr>
        <p:txBody>
          <a:bodyPr wrap="square">
            <a:spAutoFit/>
          </a:bodyPr>
          <a:lstStyle/>
          <a:p>
            <a:pPr algn="ctr"/>
            <a:r>
              <a:rPr sz="1000" b="0" i="0">
                <a:solidFill>
                  <a:srgbClr val="111827"/>
                </a:solidFill>
                <a:latin typeface="Segoe UI"/>
              </a:rPr>
              <a:t>0.9613</a:t>
            </a:r>
          </a:p>
        </p:txBody>
      </p:sp>
      <p:sp>
        <p:nvSpPr>
          <p:cNvPr id="55" name="Rectangle 54"/>
          <p:cNvSpPr/>
          <p:nvPr/>
        </p:nvSpPr>
        <p:spPr>
          <a:xfrm>
            <a:off x="4526280" y="3822192"/>
            <a:ext cx="914400" cy="42062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4581144" y="3867912"/>
            <a:ext cx="841248" cy="384048"/>
          </a:xfrm>
          <a:prstGeom prst="rect">
            <a:avLst/>
          </a:prstGeom>
          <a:noFill/>
        </p:spPr>
        <p:txBody>
          <a:bodyPr wrap="square">
            <a:spAutoFit/>
          </a:bodyPr>
          <a:lstStyle/>
          <a:p>
            <a:pPr algn="ctr"/>
            <a:r>
              <a:rPr sz="1000" b="0" i="0">
                <a:solidFill>
                  <a:srgbClr val="111827"/>
                </a:solidFill>
                <a:latin typeface="Segoe UI"/>
              </a:rPr>
              <a:t>±0.0097</a:t>
            </a:r>
          </a:p>
        </p:txBody>
      </p:sp>
      <p:sp>
        <p:nvSpPr>
          <p:cNvPr id="57" name="Rectangle 56"/>
          <p:cNvSpPr/>
          <p:nvPr/>
        </p:nvSpPr>
        <p:spPr>
          <a:xfrm>
            <a:off x="411480" y="4242816"/>
            <a:ext cx="2240280" cy="420624"/>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466344" y="4288536"/>
            <a:ext cx="2167128" cy="384048"/>
          </a:xfrm>
          <a:prstGeom prst="rect">
            <a:avLst/>
          </a:prstGeom>
          <a:noFill/>
        </p:spPr>
        <p:txBody>
          <a:bodyPr wrap="square">
            <a:spAutoFit/>
          </a:bodyPr>
          <a:lstStyle/>
          <a:p>
            <a:pPr algn="l"/>
            <a:r>
              <a:rPr sz="1000" b="0" i="0">
                <a:solidFill>
                  <a:srgbClr val="111827"/>
                </a:solidFill>
                <a:latin typeface="Segoe UI"/>
              </a:rPr>
              <a:t>KNN</a:t>
            </a:r>
          </a:p>
        </p:txBody>
      </p:sp>
      <p:sp>
        <p:nvSpPr>
          <p:cNvPr id="59" name="Rectangle 58"/>
          <p:cNvSpPr/>
          <p:nvPr/>
        </p:nvSpPr>
        <p:spPr>
          <a:xfrm>
            <a:off x="2651760" y="4242816"/>
            <a:ext cx="914400" cy="420624"/>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2706624" y="4288536"/>
            <a:ext cx="841248" cy="384048"/>
          </a:xfrm>
          <a:prstGeom prst="rect">
            <a:avLst/>
          </a:prstGeom>
          <a:noFill/>
        </p:spPr>
        <p:txBody>
          <a:bodyPr wrap="square">
            <a:spAutoFit/>
          </a:bodyPr>
          <a:lstStyle/>
          <a:p>
            <a:pPr algn="ctr"/>
            <a:r>
              <a:rPr sz="1000" b="0" i="0">
                <a:solidFill>
                  <a:srgbClr val="111827"/>
                </a:solidFill>
                <a:latin typeface="Segoe UI"/>
              </a:rPr>
              <a:t>0.8716</a:t>
            </a:r>
          </a:p>
        </p:txBody>
      </p:sp>
      <p:sp>
        <p:nvSpPr>
          <p:cNvPr id="61" name="Rectangle 60"/>
          <p:cNvSpPr/>
          <p:nvPr/>
        </p:nvSpPr>
        <p:spPr>
          <a:xfrm>
            <a:off x="3566160" y="4242816"/>
            <a:ext cx="960120" cy="420624"/>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3621024" y="4288536"/>
            <a:ext cx="886968" cy="384048"/>
          </a:xfrm>
          <a:prstGeom prst="rect">
            <a:avLst/>
          </a:prstGeom>
          <a:noFill/>
        </p:spPr>
        <p:txBody>
          <a:bodyPr wrap="square">
            <a:spAutoFit/>
          </a:bodyPr>
          <a:lstStyle/>
          <a:p>
            <a:pPr algn="ctr"/>
            <a:r>
              <a:rPr sz="1000" b="0" i="0">
                <a:solidFill>
                  <a:srgbClr val="111827"/>
                </a:solidFill>
                <a:latin typeface="Segoe UI"/>
              </a:rPr>
              <a:t>0.8651</a:t>
            </a:r>
          </a:p>
        </p:txBody>
      </p:sp>
      <p:sp>
        <p:nvSpPr>
          <p:cNvPr id="63" name="Rectangle 62"/>
          <p:cNvSpPr/>
          <p:nvPr/>
        </p:nvSpPr>
        <p:spPr>
          <a:xfrm>
            <a:off x="4526280" y="4242816"/>
            <a:ext cx="914400" cy="420624"/>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4581144" y="4288536"/>
            <a:ext cx="841248" cy="384048"/>
          </a:xfrm>
          <a:prstGeom prst="rect">
            <a:avLst/>
          </a:prstGeom>
          <a:noFill/>
        </p:spPr>
        <p:txBody>
          <a:bodyPr wrap="square">
            <a:spAutoFit/>
          </a:bodyPr>
          <a:lstStyle/>
          <a:p>
            <a:pPr algn="ctr"/>
            <a:r>
              <a:rPr sz="1000" b="0" i="0">
                <a:solidFill>
                  <a:srgbClr val="111827"/>
                </a:solidFill>
                <a:latin typeface="Segoe UI"/>
              </a:rPr>
              <a:t>±0.0180</a:t>
            </a:r>
          </a:p>
        </p:txBody>
      </p:sp>
      <p:sp>
        <p:nvSpPr>
          <p:cNvPr id="65" name="Rounded Rectangle 64"/>
          <p:cNvSpPr/>
          <p:nvPr/>
        </p:nvSpPr>
        <p:spPr>
          <a:xfrm>
            <a:off x="411480" y="4041648"/>
            <a:ext cx="5760720" cy="2377440"/>
          </a:xfrm>
          <a:prstGeom prst="roundRect">
            <a:avLst>
              <a:gd name="adj" fmla="val 7000"/>
            </a:avLst>
          </a:prstGeom>
          <a:solidFill>
            <a:srgbClr val="F5F3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ounded Rectangle 65"/>
          <p:cNvSpPr/>
          <p:nvPr/>
        </p:nvSpPr>
        <p:spPr>
          <a:xfrm>
            <a:off x="411480" y="4041648"/>
            <a:ext cx="109728" cy="2377440"/>
          </a:xfrm>
          <a:prstGeom prst="roundRect">
            <a:avLst>
              <a:gd name="adj" fmla="val 7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713232" y="4178808"/>
            <a:ext cx="5349240" cy="347472"/>
          </a:xfrm>
          <a:prstGeom prst="rect">
            <a:avLst/>
          </a:prstGeom>
          <a:noFill/>
        </p:spPr>
        <p:txBody>
          <a:bodyPr wrap="square">
            <a:spAutoFit/>
          </a:bodyPr>
          <a:lstStyle/>
          <a:p>
            <a:pPr algn="l"/>
            <a:r>
              <a:rPr sz="1400" b="1" i="0">
                <a:solidFill>
                  <a:srgbClr val="7C3AED"/>
                </a:solidFill>
                <a:latin typeface="Segoe UI"/>
              </a:rPr>
              <a:t>¿Qué aportó la validación cruzada?</a:t>
            </a:r>
          </a:p>
        </p:txBody>
      </p:sp>
      <p:sp>
        <p:nvSpPr>
          <p:cNvPr id="68" name="TextBox 67"/>
          <p:cNvSpPr txBox="1"/>
          <p:nvPr/>
        </p:nvSpPr>
        <p:spPr>
          <a:xfrm>
            <a:off x="713232" y="4553712"/>
            <a:ext cx="5349240" cy="1737360"/>
          </a:xfrm>
          <a:prstGeom prst="rect">
            <a:avLst/>
          </a:prstGeom>
          <a:noFill/>
        </p:spPr>
        <p:txBody>
          <a:bodyPr wrap="square">
            <a:spAutoFit/>
          </a:bodyPr>
          <a:lstStyle/>
          <a:p>
            <a:pPr>
              <a:spcBef>
                <a:spcPts val="500"/>
              </a:spcBef>
            </a:pPr>
            <a:r>
              <a:rPr sz="1200">
                <a:solidFill>
                  <a:srgbClr val="111827"/>
                </a:solidFill>
                <a:latin typeface="Segoe UI"/>
              </a:rPr>
              <a:t>•  Una sola partición cambia el ranking: en test lideró XGBoost, en CV el más estable es Random Forest</a:t>
            </a:r>
          </a:p>
          <a:p>
            <a:pPr>
              <a:spcBef>
                <a:spcPts val="500"/>
              </a:spcBef>
            </a:pPr>
            <a:r>
              <a:rPr sz="1200">
                <a:solidFill>
                  <a:srgbClr val="111827"/>
                </a:solidFill>
                <a:latin typeface="Segoe UI"/>
              </a:rPr>
              <a:t>•  k=5 estratificado mantiene proporciones de clase en cada fold</a:t>
            </a:r>
          </a:p>
          <a:p>
            <a:pPr>
              <a:spcBef>
                <a:spcPts val="500"/>
              </a:spcBef>
            </a:pPr>
            <a:r>
              <a:rPr sz="1200">
                <a:solidFill>
                  <a:srgbClr val="111827"/>
                </a:solidFill>
                <a:latin typeface="Segoe UI"/>
              </a:rPr>
              <a:t>•  Random Forest: F1 CV 0.9863 ± 0.0024 — el más estable</a:t>
            </a:r>
          </a:p>
          <a:p>
            <a:pPr>
              <a:spcBef>
                <a:spcPts val="500"/>
              </a:spcBef>
            </a:pPr>
            <a:r>
              <a:rPr sz="1200">
                <a:solidFill>
                  <a:srgbClr val="111827"/>
                </a:solidFill>
                <a:latin typeface="Segoe UI"/>
              </a:rPr>
              <a:t>•  Por su robustez en CV se optimiza Random Forest, no el líder de un único split</a:t>
            </a:r>
          </a:p>
        </p:txBody>
      </p:sp>
      <p:sp>
        <p:nvSpPr>
          <p:cNvPr id="69" name="Rounded Rectangle 68"/>
          <p:cNvSpPr/>
          <p:nvPr/>
        </p:nvSpPr>
        <p:spPr>
          <a:xfrm>
            <a:off x="6400800" y="1298448"/>
            <a:ext cx="5394960" cy="5120640"/>
          </a:xfrm>
          <a:prstGeom prst="roundRect">
            <a:avLst>
              <a:gd name="adj" fmla="val 7000"/>
            </a:avLst>
          </a:prstGeom>
          <a:solidFill>
            <a:srgbClr val="F0FDF4"/>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ounded Rectangle 69"/>
          <p:cNvSpPr/>
          <p:nvPr/>
        </p:nvSpPr>
        <p:spPr>
          <a:xfrm>
            <a:off x="6400800" y="1298448"/>
            <a:ext cx="109728" cy="5120640"/>
          </a:xfrm>
          <a:prstGeom prst="roundRect">
            <a:avLst>
              <a:gd name="adj" fmla="val 7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6693408" y="1435608"/>
            <a:ext cx="4937760" cy="347472"/>
          </a:xfrm>
          <a:prstGeom prst="rect">
            <a:avLst/>
          </a:prstGeom>
          <a:noFill/>
        </p:spPr>
        <p:txBody>
          <a:bodyPr wrap="square">
            <a:spAutoFit/>
          </a:bodyPr>
          <a:lstStyle/>
          <a:p>
            <a:pPr algn="l"/>
            <a:r>
              <a:rPr sz="1400" b="1" i="0">
                <a:solidFill>
                  <a:srgbClr val="16A34A"/>
                </a:solidFill>
                <a:latin typeface="Segoe UI"/>
              </a:rPr>
              <a:t>Optimización de hiperparámetros</a:t>
            </a:r>
          </a:p>
        </p:txBody>
      </p:sp>
      <p:sp>
        <p:nvSpPr>
          <p:cNvPr id="72" name="TextBox 71"/>
          <p:cNvSpPr txBox="1"/>
          <p:nvPr/>
        </p:nvSpPr>
        <p:spPr>
          <a:xfrm>
            <a:off x="6693408" y="1828800"/>
            <a:ext cx="4892040" cy="1188720"/>
          </a:xfrm>
          <a:prstGeom prst="rect">
            <a:avLst/>
          </a:prstGeom>
          <a:noFill/>
        </p:spPr>
        <p:txBody>
          <a:bodyPr wrap="square">
            <a:spAutoFit/>
          </a:bodyPr>
          <a:lstStyle/>
          <a:p>
            <a:pPr>
              <a:spcBef>
                <a:spcPts val="500"/>
              </a:spcBef>
            </a:pPr>
            <a:r>
              <a:rPr sz="1200">
                <a:solidFill>
                  <a:srgbClr val="111827"/>
                </a:solidFill>
                <a:latin typeface="Segoe UI"/>
              </a:rPr>
              <a:t>•  Método: RandomizedSearchCV (n_iter=30, scoring=f1_macro, cv=5)</a:t>
            </a:r>
          </a:p>
          <a:p>
            <a:pPr>
              <a:spcBef>
                <a:spcPts val="500"/>
              </a:spcBef>
            </a:pPr>
            <a:r>
              <a:rPr sz="1200">
                <a:solidFill>
                  <a:srgbClr val="111827"/>
                </a:solidFill>
                <a:latin typeface="Segoe UI"/>
              </a:rPr>
              <a:t>•  Hiperparámetros explorados: n_estimators, max_depth, min_samples_split/leaf, class_weight</a:t>
            </a:r>
          </a:p>
          <a:p>
            <a:pPr>
              <a:spcBef>
                <a:spcPts val="500"/>
              </a:spcBef>
            </a:pPr>
            <a:r>
              <a:rPr sz="1200">
                <a:solidFill>
                  <a:srgbClr val="111827"/>
                </a:solidFill>
                <a:latin typeface="Segoe UI"/>
              </a:rPr>
              <a:t>•  Mejores params: n_estimators=200 · max_depth=20 · class_weight=balanced</a:t>
            </a:r>
          </a:p>
        </p:txBody>
      </p:sp>
      <p:sp>
        <p:nvSpPr>
          <p:cNvPr id="73" name="Rectangle 72"/>
          <p:cNvSpPr/>
          <p:nvPr/>
        </p:nvSpPr>
        <p:spPr>
          <a:xfrm>
            <a:off x="6693408" y="3246120"/>
            <a:ext cx="3017520" cy="420624"/>
          </a:xfrm>
          <a:prstGeom prst="rect">
            <a:avLst/>
          </a:prstGeom>
          <a:solidFill>
            <a:srgbClr val="0F172A"/>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6748272" y="3291840"/>
            <a:ext cx="2944368" cy="384048"/>
          </a:xfrm>
          <a:prstGeom prst="rect">
            <a:avLst/>
          </a:prstGeom>
          <a:noFill/>
        </p:spPr>
        <p:txBody>
          <a:bodyPr wrap="square">
            <a:spAutoFit/>
          </a:bodyPr>
          <a:lstStyle/>
          <a:p>
            <a:pPr algn="l"/>
            <a:r>
              <a:rPr sz="1000" b="1" i="0">
                <a:solidFill>
                  <a:srgbClr val="FFFFFF"/>
                </a:solidFill>
                <a:latin typeface="Segoe UI"/>
              </a:rPr>
              <a:t>Configuración</a:t>
            </a:r>
          </a:p>
        </p:txBody>
      </p:sp>
      <p:sp>
        <p:nvSpPr>
          <p:cNvPr id="75" name="Rectangle 74"/>
          <p:cNvSpPr/>
          <p:nvPr/>
        </p:nvSpPr>
        <p:spPr>
          <a:xfrm>
            <a:off x="9710928" y="3246120"/>
            <a:ext cx="1417320" cy="420624"/>
          </a:xfrm>
          <a:prstGeom prst="rect">
            <a:avLst/>
          </a:prstGeom>
          <a:solidFill>
            <a:srgbClr val="0F172A"/>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9765792" y="3291840"/>
            <a:ext cx="1344168" cy="384048"/>
          </a:xfrm>
          <a:prstGeom prst="rect">
            <a:avLst/>
          </a:prstGeom>
          <a:noFill/>
        </p:spPr>
        <p:txBody>
          <a:bodyPr wrap="square">
            <a:spAutoFit/>
          </a:bodyPr>
          <a:lstStyle/>
          <a:p>
            <a:pPr algn="ctr"/>
            <a:r>
              <a:rPr sz="1000" b="1" i="0">
                <a:solidFill>
                  <a:srgbClr val="FFFFFF"/>
                </a:solidFill>
                <a:latin typeface="Segoe UI"/>
              </a:rPr>
              <a:t>F1 macro test</a:t>
            </a:r>
          </a:p>
        </p:txBody>
      </p:sp>
      <p:sp>
        <p:nvSpPr>
          <p:cNvPr id="77" name="Rectangle 76"/>
          <p:cNvSpPr/>
          <p:nvPr/>
        </p:nvSpPr>
        <p:spPr>
          <a:xfrm>
            <a:off x="6693408" y="3666744"/>
            <a:ext cx="3017520" cy="42062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6748272" y="3712464"/>
            <a:ext cx="2944368" cy="384048"/>
          </a:xfrm>
          <a:prstGeom prst="rect">
            <a:avLst/>
          </a:prstGeom>
          <a:noFill/>
        </p:spPr>
        <p:txBody>
          <a:bodyPr wrap="square">
            <a:spAutoFit/>
          </a:bodyPr>
          <a:lstStyle/>
          <a:p>
            <a:pPr algn="l"/>
            <a:r>
              <a:rPr sz="1000" b="0" i="0">
                <a:solidFill>
                  <a:srgbClr val="111827"/>
                </a:solidFill>
                <a:latin typeface="Segoe UI"/>
              </a:rPr>
              <a:t>RF por defecto (It.3)</a:t>
            </a:r>
          </a:p>
        </p:txBody>
      </p:sp>
      <p:sp>
        <p:nvSpPr>
          <p:cNvPr id="79" name="Rectangle 78"/>
          <p:cNvSpPr/>
          <p:nvPr/>
        </p:nvSpPr>
        <p:spPr>
          <a:xfrm>
            <a:off x="9710928" y="3666744"/>
            <a:ext cx="1417320" cy="42062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9765792" y="3712464"/>
            <a:ext cx="1344168" cy="384048"/>
          </a:xfrm>
          <a:prstGeom prst="rect">
            <a:avLst/>
          </a:prstGeom>
          <a:noFill/>
        </p:spPr>
        <p:txBody>
          <a:bodyPr wrap="square">
            <a:spAutoFit/>
          </a:bodyPr>
          <a:lstStyle/>
          <a:p>
            <a:pPr algn="ctr"/>
            <a:r>
              <a:rPr sz="1000" b="0" i="0">
                <a:solidFill>
                  <a:srgbClr val="111827"/>
                </a:solidFill>
                <a:latin typeface="Segoe UI"/>
              </a:rPr>
              <a:t>0.9904</a:t>
            </a:r>
          </a:p>
        </p:txBody>
      </p:sp>
      <p:sp>
        <p:nvSpPr>
          <p:cNvPr id="81" name="Rectangle 80"/>
          <p:cNvSpPr/>
          <p:nvPr/>
        </p:nvSpPr>
        <p:spPr>
          <a:xfrm>
            <a:off x="6693408" y="4087368"/>
            <a:ext cx="3017520" cy="420624"/>
          </a:xfrm>
          <a:prstGeom prst="rect">
            <a:avLst/>
          </a:prstGeom>
          <a:solidFill>
            <a:srgbClr val="DCFCE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6748272" y="4133088"/>
            <a:ext cx="2944368" cy="384048"/>
          </a:xfrm>
          <a:prstGeom prst="rect">
            <a:avLst/>
          </a:prstGeom>
          <a:noFill/>
        </p:spPr>
        <p:txBody>
          <a:bodyPr wrap="square">
            <a:spAutoFit/>
          </a:bodyPr>
          <a:lstStyle/>
          <a:p>
            <a:pPr algn="l"/>
            <a:r>
              <a:rPr sz="1000" b="1" i="0">
                <a:solidFill>
                  <a:srgbClr val="16A34A"/>
                </a:solidFill>
                <a:latin typeface="Segoe UI"/>
              </a:rPr>
              <a:t>RF optimizado (RandSearchCV)</a:t>
            </a:r>
          </a:p>
        </p:txBody>
      </p:sp>
      <p:sp>
        <p:nvSpPr>
          <p:cNvPr id="83" name="Rectangle 82"/>
          <p:cNvSpPr/>
          <p:nvPr/>
        </p:nvSpPr>
        <p:spPr>
          <a:xfrm>
            <a:off x="9710928" y="4087368"/>
            <a:ext cx="1417320" cy="420624"/>
          </a:xfrm>
          <a:prstGeom prst="rect">
            <a:avLst/>
          </a:prstGeom>
          <a:solidFill>
            <a:srgbClr val="DCFCE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9765792" y="4133088"/>
            <a:ext cx="1344168" cy="384048"/>
          </a:xfrm>
          <a:prstGeom prst="rect">
            <a:avLst/>
          </a:prstGeom>
          <a:noFill/>
        </p:spPr>
        <p:txBody>
          <a:bodyPr wrap="square">
            <a:spAutoFit/>
          </a:bodyPr>
          <a:lstStyle/>
          <a:p>
            <a:pPr algn="ctr"/>
            <a:r>
              <a:rPr sz="1000" b="1" i="0">
                <a:solidFill>
                  <a:srgbClr val="16A34A"/>
                </a:solidFill>
                <a:latin typeface="Segoe UI"/>
              </a:rPr>
              <a:t>0.9904</a:t>
            </a:r>
          </a:p>
        </p:txBody>
      </p:sp>
      <p:sp>
        <p:nvSpPr>
          <p:cNvPr id="85" name="Rectangle 84"/>
          <p:cNvSpPr/>
          <p:nvPr/>
        </p:nvSpPr>
        <p:spPr>
          <a:xfrm>
            <a:off x="6693408" y="4507992"/>
            <a:ext cx="3017520" cy="42062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6748272" y="4553712"/>
            <a:ext cx="2944368" cy="384048"/>
          </a:xfrm>
          <a:prstGeom prst="rect">
            <a:avLst/>
          </a:prstGeom>
          <a:noFill/>
        </p:spPr>
        <p:txBody>
          <a:bodyPr wrap="square">
            <a:spAutoFit/>
          </a:bodyPr>
          <a:lstStyle/>
          <a:p>
            <a:pPr algn="l"/>
            <a:r>
              <a:rPr sz="1000" b="0" i="0">
                <a:solidFill>
                  <a:srgbClr val="111827"/>
                </a:solidFill>
                <a:latin typeface="Segoe UI"/>
              </a:rPr>
              <a:t>RF base (It.1)</a:t>
            </a:r>
          </a:p>
        </p:txBody>
      </p:sp>
      <p:sp>
        <p:nvSpPr>
          <p:cNvPr id="87" name="Rectangle 86"/>
          <p:cNvSpPr/>
          <p:nvPr/>
        </p:nvSpPr>
        <p:spPr>
          <a:xfrm>
            <a:off x="9710928" y="4507992"/>
            <a:ext cx="1417320" cy="42062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9765792" y="4553712"/>
            <a:ext cx="1344168" cy="384048"/>
          </a:xfrm>
          <a:prstGeom prst="rect">
            <a:avLst/>
          </a:prstGeom>
          <a:noFill/>
        </p:spPr>
        <p:txBody>
          <a:bodyPr wrap="square">
            <a:spAutoFit/>
          </a:bodyPr>
          <a:lstStyle/>
          <a:p>
            <a:pPr algn="ctr"/>
            <a:r>
              <a:rPr sz="1000" b="0" i="0">
                <a:solidFill>
                  <a:srgbClr val="111827"/>
                </a:solidFill>
                <a:latin typeface="Segoe UI"/>
              </a:rPr>
              <a:t>0.9824  [CV]</a:t>
            </a:r>
          </a:p>
        </p:txBody>
      </p:sp>
      <p:sp>
        <p:nvSpPr>
          <p:cNvPr id="89" name="TextBox 88"/>
          <p:cNvSpPr txBox="1"/>
          <p:nvPr/>
        </p:nvSpPr>
        <p:spPr>
          <a:xfrm>
            <a:off x="6693408" y="5212080"/>
            <a:ext cx="4937760" cy="640080"/>
          </a:xfrm>
          <a:prstGeom prst="rect">
            <a:avLst/>
          </a:prstGeom>
          <a:noFill/>
        </p:spPr>
        <p:txBody>
          <a:bodyPr wrap="square">
            <a:spAutoFit/>
          </a:bodyPr>
          <a:lstStyle/>
          <a:p>
            <a:pPr algn="l"/>
            <a:r>
              <a:rPr sz="1200" b="0" i="1">
                <a:solidFill>
                  <a:srgbClr val="64748B"/>
                </a:solidFill>
                <a:latin typeface="Segoe UI"/>
              </a:rPr>
              <a:t>La optimización mejoró F1 de 0.9904 a 0.9904 (+0.003). Ganancia marginal — el modelo base ya era muy sólido.</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11480" y="256032"/>
            <a:ext cx="146304" cy="59436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182880"/>
            <a:ext cx="10881360" cy="461665"/>
          </a:xfrm>
          <a:prstGeom prst="rect">
            <a:avLst/>
          </a:prstGeom>
          <a:noFill/>
        </p:spPr>
        <p:txBody>
          <a:bodyPr wrap="square">
            <a:spAutoFit/>
          </a:bodyPr>
          <a:lstStyle/>
          <a:p>
            <a:pPr algn="l"/>
            <a:r>
              <a:rPr sz="2400" b="1" i="0" dirty="0" err="1">
                <a:solidFill>
                  <a:srgbClr val="111827"/>
                </a:solidFill>
                <a:latin typeface="Segoe UI"/>
              </a:rPr>
              <a:t>Codificar</a:t>
            </a:r>
            <a:r>
              <a:rPr sz="2400" b="1" i="0" dirty="0">
                <a:solidFill>
                  <a:srgbClr val="111827"/>
                </a:solidFill>
                <a:latin typeface="Segoe UI"/>
              </a:rPr>
              <a:t> CAEC y CALC </a:t>
            </a:r>
            <a:r>
              <a:rPr sz="2400" b="1" i="0" dirty="0" err="1">
                <a:solidFill>
                  <a:srgbClr val="111827"/>
                </a:solidFill>
                <a:latin typeface="Segoe UI"/>
              </a:rPr>
              <a:t>como</a:t>
            </a:r>
            <a:r>
              <a:rPr sz="2400" b="1" i="0" dirty="0">
                <a:solidFill>
                  <a:srgbClr val="111827"/>
                </a:solidFill>
                <a:latin typeface="Segoe UI"/>
              </a:rPr>
              <a:t> </a:t>
            </a:r>
            <a:r>
              <a:rPr sz="2400" b="1" i="0" dirty="0" err="1">
                <a:solidFill>
                  <a:srgbClr val="111827"/>
                </a:solidFill>
                <a:latin typeface="Segoe UI"/>
              </a:rPr>
              <a:t>ordinales</a:t>
            </a:r>
            <a:r>
              <a:rPr sz="2400" b="1" i="0" dirty="0">
                <a:solidFill>
                  <a:srgbClr val="111827"/>
                </a:solidFill>
                <a:latin typeface="Segoe UI"/>
              </a:rPr>
              <a:t> </a:t>
            </a:r>
            <a:r>
              <a:rPr sz="2400" b="1" i="0" dirty="0" err="1">
                <a:solidFill>
                  <a:srgbClr val="111827"/>
                </a:solidFill>
                <a:latin typeface="Segoe UI"/>
              </a:rPr>
              <a:t>respetó</a:t>
            </a:r>
            <a:r>
              <a:rPr sz="2400" b="1" i="0" dirty="0">
                <a:solidFill>
                  <a:srgbClr val="111827"/>
                </a:solidFill>
                <a:latin typeface="Segoe UI"/>
              </a:rPr>
              <a:t> </a:t>
            </a:r>
            <a:r>
              <a:rPr sz="2400" b="1" i="0" dirty="0" err="1">
                <a:solidFill>
                  <a:srgbClr val="111827"/>
                </a:solidFill>
                <a:latin typeface="Segoe UI"/>
              </a:rPr>
              <a:t>su</a:t>
            </a:r>
            <a:r>
              <a:rPr sz="2400" b="1" i="0" dirty="0">
                <a:solidFill>
                  <a:srgbClr val="111827"/>
                </a:solidFill>
                <a:latin typeface="Segoe UI"/>
              </a:rPr>
              <a:t> </a:t>
            </a:r>
            <a:r>
              <a:rPr sz="2400" b="1" i="0" dirty="0" err="1">
                <a:solidFill>
                  <a:srgbClr val="111827"/>
                </a:solidFill>
                <a:latin typeface="Segoe UI"/>
              </a:rPr>
              <a:t>orden</a:t>
            </a:r>
            <a:r>
              <a:rPr sz="2400" b="1" i="0" dirty="0">
                <a:solidFill>
                  <a:srgbClr val="111827"/>
                </a:solidFill>
                <a:latin typeface="Segoe UI"/>
              </a:rPr>
              <a:t> </a:t>
            </a:r>
            <a:r>
              <a:rPr sz="2400" b="1" i="0" dirty="0" err="1">
                <a:solidFill>
                  <a:srgbClr val="111827"/>
                </a:solidFill>
                <a:latin typeface="Segoe UI"/>
              </a:rPr>
              <a:t>semántico</a:t>
            </a:r>
            <a:r>
              <a:rPr sz="2400" b="1" i="0" dirty="0">
                <a:solidFill>
                  <a:srgbClr val="111827"/>
                </a:solidFill>
                <a:latin typeface="Segoe UI"/>
              </a:rPr>
              <a:t> natural</a:t>
            </a:r>
          </a:p>
        </p:txBody>
      </p:sp>
      <p:sp>
        <p:nvSpPr>
          <p:cNvPr id="5" name="TextBox 4"/>
          <p:cNvSpPr txBox="1"/>
          <p:nvPr/>
        </p:nvSpPr>
        <p:spPr>
          <a:xfrm>
            <a:off x="731520" y="731520"/>
            <a:ext cx="10881360" cy="347472"/>
          </a:xfrm>
          <a:prstGeom prst="rect">
            <a:avLst/>
          </a:prstGeom>
          <a:noFill/>
        </p:spPr>
        <p:txBody>
          <a:bodyPr wrap="square">
            <a:spAutoFit/>
          </a:bodyPr>
          <a:lstStyle/>
          <a:p>
            <a:pPr algn="l"/>
            <a:r>
              <a:rPr sz="1400" b="0" i="0">
                <a:solidFill>
                  <a:srgbClr val="64748B"/>
                </a:solidFill>
                <a:latin typeface="Segoe UI"/>
              </a:rPr>
              <a:t>Tratamiento ordinal semántico — CAEC y CALC</a:t>
            </a:r>
          </a:p>
        </p:txBody>
      </p:sp>
      <p:sp>
        <p:nvSpPr>
          <p:cNvPr id="6" name="Rectangle 5"/>
          <p:cNvSpPr/>
          <p:nvPr/>
        </p:nvSpPr>
        <p:spPr>
          <a:xfrm>
            <a:off x="411480" y="1133856"/>
            <a:ext cx="11365992"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55680" y="6510528"/>
            <a:ext cx="914400" cy="274320"/>
          </a:xfrm>
          <a:prstGeom prst="rect">
            <a:avLst/>
          </a:prstGeom>
          <a:noFill/>
        </p:spPr>
        <p:txBody>
          <a:bodyPr wrap="square">
            <a:spAutoFit/>
          </a:bodyPr>
          <a:lstStyle/>
          <a:p>
            <a:pPr algn="r"/>
            <a:r>
              <a:rPr sz="900" b="0" i="0">
                <a:solidFill>
                  <a:srgbClr val="64748B"/>
                </a:solidFill>
                <a:latin typeface="Segoe UI"/>
              </a:rPr>
              <a:t>12 / 20</a:t>
            </a:r>
          </a:p>
        </p:txBody>
      </p:sp>
      <p:sp>
        <p:nvSpPr>
          <p:cNvPr id="8" name="Rounded Rectangle 7"/>
          <p:cNvSpPr/>
          <p:nvPr/>
        </p:nvSpPr>
        <p:spPr>
          <a:xfrm>
            <a:off x="411480" y="1298448"/>
            <a:ext cx="5669280" cy="5120640"/>
          </a:xfrm>
          <a:prstGeom prst="roundRect">
            <a:avLst>
              <a:gd name="adj" fmla="val 7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11480" y="1298448"/>
            <a:ext cx="109728" cy="5120640"/>
          </a:xfrm>
          <a:prstGeom prst="roundRect">
            <a:avLst>
              <a:gd name="adj" fmla="val 7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1435608"/>
            <a:ext cx="5212080" cy="347472"/>
          </a:xfrm>
          <a:prstGeom prst="rect">
            <a:avLst/>
          </a:prstGeom>
          <a:noFill/>
        </p:spPr>
        <p:txBody>
          <a:bodyPr wrap="square">
            <a:spAutoFit/>
          </a:bodyPr>
          <a:lstStyle/>
          <a:p>
            <a:pPr algn="l"/>
            <a:r>
              <a:rPr sz="1600" b="1" i="0">
                <a:solidFill>
                  <a:srgbClr val="111827"/>
                </a:solidFill>
                <a:latin typeface="Segoe UI"/>
              </a:rPr>
              <a:t>El problema con codificación nominal</a:t>
            </a:r>
          </a:p>
        </p:txBody>
      </p:sp>
      <p:sp>
        <p:nvSpPr>
          <p:cNvPr id="11" name="TextBox 10"/>
          <p:cNvSpPr txBox="1"/>
          <p:nvPr/>
        </p:nvSpPr>
        <p:spPr>
          <a:xfrm>
            <a:off x="713232" y="1828800"/>
            <a:ext cx="5212080" cy="3474720"/>
          </a:xfrm>
          <a:prstGeom prst="rect">
            <a:avLst/>
          </a:prstGeom>
          <a:noFill/>
        </p:spPr>
        <p:txBody>
          <a:bodyPr wrap="square">
            <a:spAutoFit/>
          </a:bodyPr>
          <a:lstStyle/>
          <a:p>
            <a:pPr>
              <a:spcBef>
                <a:spcPts val="700"/>
              </a:spcBef>
            </a:pPr>
            <a:r>
              <a:rPr sz="1300">
                <a:solidFill>
                  <a:srgbClr val="111827"/>
                </a:solidFill>
                <a:latin typeface="Segoe UI"/>
              </a:rPr>
              <a:t>•  CAEC: frecuencia de consumo entre comidas (no &lt; Sometimes &lt; Frequently &lt; Always)</a:t>
            </a:r>
          </a:p>
          <a:p>
            <a:pPr>
              <a:spcBef>
                <a:spcPts val="700"/>
              </a:spcBef>
            </a:pPr>
            <a:r>
              <a:rPr sz="1300">
                <a:solidFill>
                  <a:srgbClr val="111827"/>
                </a:solidFill>
                <a:latin typeface="Segoe UI"/>
              </a:rPr>
              <a:t>•  CALC: consumo de alcohol (no &lt; Sometimes &lt; Frequently &lt; Always)</a:t>
            </a:r>
          </a:p>
          <a:p>
            <a:pPr>
              <a:spcBef>
                <a:spcPts val="700"/>
              </a:spcBef>
            </a:pPr>
            <a:r>
              <a:rPr sz="1300">
                <a:solidFill>
                  <a:srgbClr val="111827"/>
                </a:solidFill>
                <a:latin typeface="Segoe UI"/>
              </a:rPr>
              <a:t>•  Con OneHotEncoding se pierde el orden — el modelo no puede aprender la progresión</a:t>
            </a:r>
          </a:p>
          <a:p>
            <a:pPr>
              <a:spcBef>
                <a:spcPts val="700"/>
              </a:spcBef>
            </a:pPr>
            <a:r>
              <a:rPr sz="1300">
                <a:solidFill>
                  <a:srgbClr val="111827"/>
                </a:solidFill>
                <a:latin typeface="Segoe UI"/>
              </a:rPr>
              <a:t>•  Con OrdinalEncoder sin orden semántico se asignan números arbitrarios</a:t>
            </a:r>
          </a:p>
          <a:p>
            <a:pPr>
              <a:spcBef>
                <a:spcPts val="700"/>
              </a:spcBef>
            </a:pPr>
            <a:r>
              <a:rPr sz="1300">
                <a:solidFill>
                  <a:srgbClr val="111827"/>
                </a:solidFill>
                <a:latin typeface="Segoe UI"/>
              </a:rPr>
              <a:t>•  La solución: OrdinalEncoder con orden explícito [no, Sometimes, Frequently, Always]</a:t>
            </a:r>
          </a:p>
        </p:txBody>
      </p:sp>
      <p:sp>
        <p:nvSpPr>
          <p:cNvPr id="12" name="TextBox 11"/>
          <p:cNvSpPr txBox="1"/>
          <p:nvPr/>
        </p:nvSpPr>
        <p:spPr>
          <a:xfrm>
            <a:off x="6309360" y="1298448"/>
            <a:ext cx="5486400" cy="347472"/>
          </a:xfrm>
          <a:prstGeom prst="rect">
            <a:avLst/>
          </a:prstGeom>
          <a:noFill/>
        </p:spPr>
        <p:txBody>
          <a:bodyPr wrap="square">
            <a:spAutoFit/>
          </a:bodyPr>
          <a:lstStyle/>
          <a:p>
            <a:pPr algn="l"/>
            <a:r>
              <a:rPr sz="1600" b="1" i="0">
                <a:solidFill>
                  <a:srgbClr val="111827"/>
                </a:solidFill>
                <a:latin typeface="Segoe UI"/>
              </a:rPr>
              <a:t>Resultado del tratamiento ordinal</a:t>
            </a:r>
          </a:p>
        </p:txBody>
      </p:sp>
      <p:sp>
        <p:nvSpPr>
          <p:cNvPr id="13" name="Rectangle 12"/>
          <p:cNvSpPr/>
          <p:nvPr/>
        </p:nvSpPr>
        <p:spPr>
          <a:xfrm>
            <a:off x="6309360" y="1719072"/>
            <a:ext cx="2651760" cy="457200"/>
          </a:xfrm>
          <a:prstGeom prst="rect">
            <a:avLst/>
          </a:prstGeom>
          <a:solidFill>
            <a:srgbClr val="0F172A"/>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64224" y="1764792"/>
            <a:ext cx="2578608" cy="420624"/>
          </a:xfrm>
          <a:prstGeom prst="rect">
            <a:avLst/>
          </a:prstGeom>
          <a:noFill/>
        </p:spPr>
        <p:txBody>
          <a:bodyPr wrap="square">
            <a:spAutoFit/>
          </a:bodyPr>
          <a:lstStyle/>
          <a:p>
            <a:pPr algn="l"/>
            <a:r>
              <a:rPr sz="1100" b="1" i="0">
                <a:solidFill>
                  <a:srgbClr val="FFFFFF"/>
                </a:solidFill>
                <a:latin typeface="Segoe UI"/>
              </a:rPr>
              <a:t>Configuración</a:t>
            </a:r>
          </a:p>
        </p:txBody>
      </p:sp>
      <p:sp>
        <p:nvSpPr>
          <p:cNvPr id="15" name="Rectangle 14"/>
          <p:cNvSpPr/>
          <p:nvPr/>
        </p:nvSpPr>
        <p:spPr>
          <a:xfrm>
            <a:off x="8961120" y="1719072"/>
            <a:ext cx="1143000" cy="457200"/>
          </a:xfrm>
          <a:prstGeom prst="rect">
            <a:avLst/>
          </a:prstGeom>
          <a:solidFill>
            <a:srgbClr val="0F172A"/>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015984" y="1764792"/>
            <a:ext cx="1069848" cy="420624"/>
          </a:xfrm>
          <a:prstGeom prst="rect">
            <a:avLst/>
          </a:prstGeom>
          <a:noFill/>
        </p:spPr>
        <p:txBody>
          <a:bodyPr wrap="square">
            <a:spAutoFit/>
          </a:bodyPr>
          <a:lstStyle/>
          <a:p>
            <a:pPr algn="ctr"/>
            <a:r>
              <a:rPr sz="1100" b="1" i="0">
                <a:solidFill>
                  <a:srgbClr val="FFFFFF"/>
                </a:solidFill>
                <a:latin typeface="Segoe UI"/>
              </a:rPr>
              <a:t>F1 macro</a:t>
            </a:r>
          </a:p>
        </p:txBody>
      </p:sp>
      <p:sp>
        <p:nvSpPr>
          <p:cNvPr id="17" name="Rectangle 16"/>
          <p:cNvSpPr/>
          <p:nvPr/>
        </p:nvSpPr>
        <p:spPr>
          <a:xfrm>
            <a:off x="10104120" y="1719072"/>
            <a:ext cx="1005840" cy="457200"/>
          </a:xfrm>
          <a:prstGeom prst="rect">
            <a:avLst/>
          </a:prstGeom>
          <a:solidFill>
            <a:srgbClr val="0F172A"/>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158984" y="1764792"/>
            <a:ext cx="932688" cy="420624"/>
          </a:xfrm>
          <a:prstGeom prst="rect">
            <a:avLst/>
          </a:prstGeom>
          <a:noFill/>
        </p:spPr>
        <p:txBody>
          <a:bodyPr wrap="square">
            <a:spAutoFit/>
          </a:bodyPr>
          <a:lstStyle/>
          <a:p>
            <a:pPr algn="ctr"/>
            <a:r>
              <a:rPr sz="1100" b="1" i="0">
                <a:solidFill>
                  <a:srgbClr val="FFFFFF"/>
                </a:solidFill>
                <a:latin typeface="Segoe UI"/>
              </a:rPr>
              <a:t>Accuracy</a:t>
            </a:r>
          </a:p>
        </p:txBody>
      </p:sp>
      <p:sp>
        <p:nvSpPr>
          <p:cNvPr id="19" name="Rectangle 18"/>
          <p:cNvSpPr/>
          <p:nvPr/>
        </p:nvSpPr>
        <p:spPr>
          <a:xfrm>
            <a:off x="6309360" y="2176272"/>
            <a:ext cx="2651760" cy="45720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64224" y="2221992"/>
            <a:ext cx="2578608" cy="420624"/>
          </a:xfrm>
          <a:prstGeom prst="rect">
            <a:avLst/>
          </a:prstGeom>
          <a:noFill/>
        </p:spPr>
        <p:txBody>
          <a:bodyPr wrap="square">
            <a:spAutoFit/>
          </a:bodyPr>
          <a:lstStyle/>
          <a:p>
            <a:pPr algn="l"/>
            <a:r>
              <a:rPr sz="1100" b="0" i="0">
                <a:solidFill>
                  <a:srgbClr val="111827"/>
                </a:solidFill>
                <a:latin typeface="Segoe UI"/>
              </a:rPr>
              <a:t>Base (sin ordinal)</a:t>
            </a:r>
          </a:p>
        </p:txBody>
      </p:sp>
      <p:sp>
        <p:nvSpPr>
          <p:cNvPr id="21" name="Rectangle 20"/>
          <p:cNvSpPr/>
          <p:nvPr/>
        </p:nvSpPr>
        <p:spPr>
          <a:xfrm>
            <a:off x="8961120" y="2176272"/>
            <a:ext cx="1143000" cy="45720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015984" y="2221992"/>
            <a:ext cx="1069848" cy="420624"/>
          </a:xfrm>
          <a:prstGeom prst="rect">
            <a:avLst/>
          </a:prstGeom>
          <a:noFill/>
        </p:spPr>
        <p:txBody>
          <a:bodyPr wrap="square">
            <a:spAutoFit/>
          </a:bodyPr>
          <a:lstStyle/>
          <a:p>
            <a:pPr algn="ctr"/>
            <a:r>
              <a:rPr sz="1100" b="0" i="0">
                <a:solidFill>
                  <a:srgbClr val="111827"/>
                </a:solidFill>
                <a:latin typeface="Segoe UI"/>
              </a:rPr>
              <a:t>0.9637</a:t>
            </a:r>
          </a:p>
        </p:txBody>
      </p:sp>
      <p:sp>
        <p:nvSpPr>
          <p:cNvPr id="23" name="Rectangle 22"/>
          <p:cNvSpPr/>
          <p:nvPr/>
        </p:nvSpPr>
        <p:spPr>
          <a:xfrm>
            <a:off x="10104120" y="2176272"/>
            <a:ext cx="1005840" cy="45720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158984" y="2221992"/>
            <a:ext cx="932688" cy="420624"/>
          </a:xfrm>
          <a:prstGeom prst="rect">
            <a:avLst/>
          </a:prstGeom>
          <a:noFill/>
        </p:spPr>
        <p:txBody>
          <a:bodyPr wrap="square">
            <a:spAutoFit/>
          </a:bodyPr>
          <a:lstStyle/>
          <a:p>
            <a:pPr algn="ctr"/>
            <a:r>
              <a:rPr sz="1100" b="0" i="0">
                <a:solidFill>
                  <a:srgbClr val="111827"/>
                </a:solidFill>
                <a:latin typeface="Segoe UI"/>
              </a:rPr>
              <a:t>0.9645</a:t>
            </a:r>
          </a:p>
        </p:txBody>
      </p:sp>
      <p:sp>
        <p:nvSpPr>
          <p:cNvPr id="25" name="Rectangle 24"/>
          <p:cNvSpPr/>
          <p:nvPr/>
        </p:nvSpPr>
        <p:spPr>
          <a:xfrm>
            <a:off x="6309360" y="2633472"/>
            <a:ext cx="2651760" cy="457200"/>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64224" y="2679192"/>
            <a:ext cx="2578608" cy="420624"/>
          </a:xfrm>
          <a:prstGeom prst="rect">
            <a:avLst/>
          </a:prstGeom>
          <a:noFill/>
        </p:spPr>
        <p:txBody>
          <a:bodyPr wrap="square">
            <a:spAutoFit/>
          </a:bodyPr>
          <a:lstStyle/>
          <a:p>
            <a:pPr algn="l"/>
            <a:r>
              <a:rPr sz="1100" b="0" i="0">
                <a:solidFill>
                  <a:srgbClr val="111827"/>
                </a:solidFill>
                <a:latin typeface="Segoe UI"/>
              </a:rPr>
              <a:t>Solo ordinal CAEC/CALC</a:t>
            </a:r>
          </a:p>
        </p:txBody>
      </p:sp>
      <p:sp>
        <p:nvSpPr>
          <p:cNvPr id="27" name="Rectangle 26"/>
          <p:cNvSpPr/>
          <p:nvPr/>
        </p:nvSpPr>
        <p:spPr>
          <a:xfrm>
            <a:off x="8961120" y="2633472"/>
            <a:ext cx="1143000" cy="457200"/>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015984" y="2679192"/>
            <a:ext cx="1069848" cy="420624"/>
          </a:xfrm>
          <a:prstGeom prst="rect">
            <a:avLst/>
          </a:prstGeom>
          <a:noFill/>
        </p:spPr>
        <p:txBody>
          <a:bodyPr wrap="square">
            <a:spAutoFit/>
          </a:bodyPr>
          <a:lstStyle/>
          <a:p>
            <a:pPr algn="ctr"/>
            <a:r>
              <a:rPr sz="1100" b="0" i="0">
                <a:solidFill>
                  <a:srgbClr val="111827"/>
                </a:solidFill>
                <a:latin typeface="Segoe UI"/>
              </a:rPr>
              <a:t>0.9637</a:t>
            </a:r>
          </a:p>
        </p:txBody>
      </p:sp>
      <p:sp>
        <p:nvSpPr>
          <p:cNvPr id="29" name="Rectangle 28"/>
          <p:cNvSpPr/>
          <p:nvPr/>
        </p:nvSpPr>
        <p:spPr>
          <a:xfrm>
            <a:off x="10104120" y="2633472"/>
            <a:ext cx="1005840" cy="457200"/>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158984" y="2679192"/>
            <a:ext cx="932688" cy="420624"/>
          </a:xfrm>
          <a:prstGeom prst="rect">
            <a:avLst/>
          </a:prstGeom>
          <a:noFill/>
        </p:spPr>
        <p:txBody>
          <a:bodyPr wrap="square">
            <a:spAutoFit/>
          </a:bodyPr>
          <a:lstStyle/>
          <a:p>
            <a:pPr algn="ctr"/>
            <a:r>
              <a:rPr sz="1100" b="0" i="0">
                <a:solidFill>
                  <a:srgbClr val="111827"/>
                </a:solidFill>
                <a:latin typeface="Segoe UI"/>
              </a:rPr>
              <a:t>0.9645</a:t>
            </a:r>
          </a:p>
        </p:txBody>
      </p:sp>
      <p:sp>
        <p:nvSpPr>
          <p:cNvPr id="31" name="Rectangle 30"/>
          <p:cNvSpPr/>
          <p:nvPr/>
        </p:nvSpPr>
        <p:spPr>
          <a:xfrm>
            <a:off x="6309360" y="3090672"/>
            <a:ext cx="2651760" cy="45720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64224" y="3136392"/>
            <a:ext cx="2578608" cy="420624"/>
          </a:xfrm>
          <a:prstGeom prst="rect">
            <a:avLst/>
          </a:prstGeom>
          <a:noFill/>
        </p:spPr>
        <p:txBody>
          <a:bodyPr wrap="square">
            <a:spAutoFit/>
          </a:bodyPr>
          <a:lstStyle/>
          <a:p>
            <a:pPr algn="l"/>
            <a:r>
              <a:rPr sz="1100" b="0" i="0">
                <a:solidFill>
                  <a:srgbClr val="111827"/>
                </a:solidFill>
                <a:latin typeface="Segoe UI"/>
              </a:rPr>
              <a:t>FE ampliada + ordinal</a:t>
            </a:r>
          </a:p>
        </p:txBody>
      </p:sp>
      <p:sp>
        <p:nvSpPr>
          <p:cNvPr id="33" name="Rectangle 32"/>
          <p:cNvSpPr/>
          <p:nvPr/>
        </p:nvSpPr>
        <p:spPr>
          <a:xfrm>
            <a:off x="8961120" y="3090672"/>
            <a:ext cx="1143000" cy="45720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015984" y="3136392"/>
            <a:ext cx="1069848" cy="420624"/>
          </a:xfrm>
          <a:prstGeom prst="rect">
            <a:avLst/>
          </a:prstGeom>
          <a:noFill/>
        </p:spPr>
        <p:txBody>
          <a:bodyPr wrap="square">
            <a:spAutoFit/>
          </a:bodyPr>
          <a:lstStyle/>
          <a:p>
            <a:pPr algn="ctr"/>
            <a:r>
              <a:rPr sz="1100" b="0" i="0">
                <a:solidFill>
                  <a:srgbClr val="111827"/>
                </a:solidFill>
                <a:latin typeface="Segoe UI"/>
              </a:rPr>
              <a:t>0.9858</a:t>
            </a:r>
          </a:p>
        </p:txBody>
      </p:sp>
      <p:sp>
        <p:nvSpPr>
          <p:cNvPr id="35" name="Rectangle 34"/>
          <p:cNvSpPr/>
          <p:nvPr/>
        </p:nvSpPr>
        <p:spPr>
          <a:xfrm>
            <a:off x="10104120" y="3090672"/>
            <a:ext cx="1005840" cy="45720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158984" y="3136392"/>
            <a:ext cx="932688" cy="420624"/>
          </a:xfrm>
          <a:prstGeom prst="rect">
            <a:avLst/>
          </a:prstGeom>
          <a:noFill/>
        </p:spPr>
        <p:txBody>
          <a:bodyPr wrap="square">
            <a:spAutoFit/>
          </a:bodyPr>
          <a:lstStyle/>
          <a:p>
            <a:pPr algn="ctr"/>
            <a:r>
              <a:rPr sz="1100" b="0" i="0">
                <a:solidFill>
                  <a:srgbClr val="111827"/>
                </a:solidFill>
                <a:latin typeface="Segoe UI"/>
              </a:rPr>
              <a:t>0.9858</a:t>
            </a:r>
          </a:p>
        </p:txBody>
      </p:sp>
      <p:sp>
        <p:nvSpPr>
          <p:cNvPr id="37" name="Rounded Rectangle 36"/>
          <p:cNvSpPr/>
          <p:nvPr/>
        </p:nvSpPr>
        <p:spPr>
          <a:xfrm>
            <a:off x="6309360" y="4206240"/>
            <a:ext cx="5486400" cy="2212848"/>
          </a:xfrm>
          <a:prstGeom prst="roundRect">
            <a:avLst>
              <a:gd name="adj" fmla="val 7000"/>
            </a:avLst>
          </a:prstGeom>
          <a:solidFill>
            <a:srgbClr val="FFF7ED"/>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6309360" y="4206240"/>
            <a:ext cx="109728" cy="2212848"/>
          </a:xfrm>
          <a:prstGeom prst="roundRect">
            <a:avLst>
              <a:gd name="adj" fmla="val 7000"/>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601968" y="4343400"/>
            <a:ext cx="5074920" cy="347472"/>
          </a:xfrm>
          <a:prstGeom prst="rect">
            <a:avLst/>
          </a:prstGeom>
          <a:noFill/>
        </p:spPr>
        <p:txBody>
          <a:bodyPr wrap="square">
            <a:spAutoFit/>
          </a:bodyPr>
          <a:lstStyle/>
          <a:p>
            <a:pPr algn="l"/>
            <a:r>
              <a:rPr sz="1400" b="1" i="0">
                <a:solidFill>
                  <a:srgbClr val="F97316"/>
                </a:solidFill>
                <a:latin typeface="Segoe UI"/>
              </a:rPr>
              <a:t>Interpretación del impacto</a:t>
            </a:r>
          </a:p>
        </p:txBody>
      </p:sp>
      <p:sp>
        <p:nvSpPr>
          <p:cNvPr id="40" name="TextBox 39"/>
          <p:cNvSpPr txBox="1"/>
          <p:nvPr/>
        </p:nvSpPr>
        <p:spPr>
          <a:xfrm>
            <a:off x="6601968" y="4736592"/>
            <a:ext cx="5074920" cy="1554480"/>
          </a:xfrm>
          <a:prstGeom prst="rect">
            <a:avLst/>
          </a:prstGeom>
          <a:noFill/>
        </p:spPr>
        <p:txBody>
          <a:bodyPr wrap="square">
            <a:spAutoFit/>
          </a:bodyPr>
          <a:lstStyle/>
          <a:p>
            <a:pPr algn="l"/>
            <a:r>
              <a:rPr sz="1300" b="0" i="0">
                <a:solidFill>
                  <a:srgbClr val="111827"/>
                </a:solidFill>
                <a:latin typeface="Segoe UI"/>
              </a:rPr>
              <a:t>La codificación ordinal SOLA bajó el F1 de 0.9637 a 0.9637. Combinada con FE ampliada (6 atributos) recuperó 0.9858.
El tratamiento ordinal por sí solo no es suficiente — necesita acompañarse de una representación más rica de los datos.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11480" y="256032"/>
            <a:ext cx="146304" cy="59436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182880"/>
            <a:ext cx="10881360" cy="830997"/>
          </a:xfrm>
          <a:prstGeom prst="rect">
            <a:avLst/>
          </a:prstGeom>
          <a:noFill/>
        </p:spPr>
        <p:txBody>
          <a:bodyPr wrap="square">
            <a:spAutoFit/>
          </a:bodyPr>
          <a:lstStyle/>
          <a:p>
            <a:pPr algn="l"/>
            <a:r>
              <a:rPr sz="2400" b="1" i="0" dirty="0">
                <a:solidFill>
                  <a:srgbClr val="111827"/>
                </a:solidFill>
                <a:latin typeface="Segoe UI"/>
              </a:rPr>
              <a:t>Feature Engineering </a:t>
            </a:r>
            <a:r>
              <a:rPr sz="2400" b="1" i="0" dirty="0" err="1">
                <a:solidFill>
                  <a:srgbClr val="111827"/>
                </a:solidFill>
                <a:latin typeface="Segoe UI"/>
              </a:rPr>
              <a:t>elevó</a:t>
            </a:r>
            <a:r>
              <a:rPr sz="2400" b="1" i="0" dirty="0">
                <a:solidFill>
                  <a:srgbClr val="111827"/>
                </a:solidFill>
                <a:latin typeface="Segoe UI"/>
              </a:rPr>
              <a:t> </a:t>
            </a:r>
            <a:r>
              <a:rPr sz="2400" b="1" i="0" dirty="0" err="1">
                <a:solidFill>
                  <a:srgbClr val="111827"/>
                </a:solidFill>
                <a:latin typeface="Segoe UI"/>
              </a:rPr>
              <a:t>el</a:t>
            </a:r>
            <a:r>
              <a:rPr sz="2400" b="1" i="0" dirty="0">
                <a:solidFill>
                  <a:srgbClr val="111827"/>
                </a:solidFill>
                <a:latin typeface="Segoe UI"/>
              </a:rPr>
              <a:t> F1 a 0.9905 </a:t>
            </a:r>
            <a:r>
              <a:rPr sz="2400" b="1" i="0" dirty="0" err="1">
                <a:solidFill>
                  <a:srgbClr val="111827"/>
                </a:solidFill>
                <a:latin typeface="Segoe UI"/>
              </a:rPr>
              <a:t>pero</a:t>
            </a:r>
            <a:r>
              <a:rPr sz="2400" b="1" i="0" dirty="0">
                <a:solidFill>
                  <a:srgbClr val="111827"/>
                </a:solidFill>
                <a:latin typeface="Segoe UI"/>
              </a:rPr>
              <a:t> </a:t>
            </a:r>
            <a:r>
              <a:rPr sz="2400" b="1" i="0" dirty="0" err="1">
                <a:solidFill>
                  <a:srgbClr val="111827"/>
                </a:solidFill>
                <a:latin typeface="Segoe UI"/>
              </a:rPr>
              <a:t>revela</a:t>
            </a:r>
            <a:r>
              <a:rPr sz="2400" b="1" i="0" dirty="0">
                <a:solidFill>
                  <a:srgbClr val="111827"/>
                </a:solidFill>
                <a:latin typeface="Segoe UI"/>
              </a:rPr>
              <a:t> </a:t>
            </a:r>
            <a:r>
              <a:rPr sz="2400" b="1" i="0" dirty="0" err="1">
                <a:solidFill>
                  <a:srgbClr val="111827"/>
                </a:solidFill>
                <a:latin typeface="Segoe UI"/>
              </a:rPr>
              <a:t>que</a:t>
            </a:r>
            <a:r>
              <a:rPr sz="2400" b="1" i="0" dirty="0">
                <a:solidFill>
                  <a:srgbClr val="111827"/>
                </a:solidFill>
                <a:latin typeface="Segoe UI"/>
              </a:rPr>
              <a:t> </a:t>
            </a:r>
            <a:r>
              <a:rPr sz="2400" b="1" i="0" dirty="0" err="1">
                <a:solidFill>
                  <a:srgbClr val="111827"/>
                </a:solidFill>
                <a:latin typeface="Segoe UI"/>
              </a:rPr>
              <a:t>el</a:t>
            </a:r>
            <a:r>
              <a:rPr sz="2400" b="1" i="0" dirty="0">
                <a:solidFill>
                  <a:srgbClr val="111827"/>
                </a:solidFill>
                <a:latin typeface="Segoe UI"/>
              </a:rPr>
              <a:t> BMI </a:t>
            </a:r>
            <a:r>
              <a:rPr sz="2400" b="1" i="0" dirty="0" err="1">
                <a:solidFill>
                  <a:srgbClr val="111827"/>
                </a:solidFill>
                <a:latin typeface="Segoe UI"/>
              </a:rPr>
              <a:t>casi</a:t>
            </a:r>
            <a:r>
              <a:rPr sz="2400" b="1" i="0" dirty="0">
                <a:solidFill>
                  <a:srgbClr val="111827"/>
                </a:solidFill>
                <a:latin typeface="Segoe UI"/>
              </a:rPr>
              <a:t> </a:t>
            </a:r>
            <a:r>
              <a:rPr sz="2400" b="1" i="0" dirty="0" err="1">
                <a:solidFill>
                  <a:srgbClr val="111827"/>
                </a:solidFill>
                <a:latin typeface="Segoe UI"/>
              </a:rPr>
              <a:t>determina</a:t>
            </a:r>
            <a:r>
              <a:rPr sz="2400" b="1" i="0" dirty="0">
                <a:solidFill>
                  <a:srgbClr val="111827"/>
                </a:solidFill>
                <a:latin typeface="Segoe UI"/>
              </a:rPr>
              <a:t> </a:t>
            </a:r>
            <a:r>
              <a:rPr sz="2400" b="1" i="0" dirty="0" err="1">
                <a:solidFill>
                  <a:srgbClr val="111827"/>
                </a:solidFill>
                <a:latin typeface="Segoe UI"/>
              </a:rPr>
              <a:t>el</a:t>
            </a:r>
            <a:r>
              <a:rPr sz="2400" b="1" i="0" dirty="0">
                <a:solidFill>
                  <a:srgbClr val="111827"/>
                </a:solidFill>
                <a:latin typeface="Segoe UI"/>
              </a:rPr>
              <a:t> target</a:t>
            </a:r>
          </a:p>
        </p:txBody>
      </p:sp>
      <p:sp>
        <p:nvSpPr>
          <p:cNvPr id="5" name="TextBox 4"/>
          <p:cNvSpPr txBox="1"/>
          <p:nvPr/>
        </p:nvSpPr>
        <p:spPr>
          <a:xfrm>
            <a:off x="3706213" y="662823"/>
            <a:ext cx="10881360" cy="347472"/>
          </a:xfrm>
          <a:prstGeom prst="rect">
            <a:avLst/>
          </a:prstGeom>
          <a:noFill/>
        </p:spPr>
        <p:txBody>
          <a:bodyPr wrap="square">
            <a:spAutoFit/>
          </a:bodyPr>
          <a:lstStyle/>
          <a:p>
            <a:pPr algn="l"/>
            <a:r>
              <a:rPr sz="1400" b="0" i="0" dirty="0">
                <a:solidFill>
                  <a:srgbClr val="64748B"/>
                </a:solidFill>
                <a:latin typeface="Segoe UI"/>
              </a:rPr>
              <a:t>Ingeniería de </a:t>
            </a:r>
            <a:r>
              <a:rPr sz="1400" b="0" i="0" dirty="0" err="1">
                <a:solidFill>
                  <a:srgbClr val="64748B"/>
                </a:solidFill>
                <a:latin typeface="Segoe UI"/>
              </a:rPr>
              <a:t>características</a:t>
            </a:r>
            <a:r>
              <a:rPr sz="1400" b="0" i="0" dirty="0">
                <a:solidFill>
                  <a:srgbClr val="64748B"/>
                </a:solidFill>
                <a:latin typeface="Segoe UI"/>
              </a:rPr>
              <a:t> e </a:t>
            </a:r>
            <a:r>
              <a:rPr sz="1400" b="0" i="0" dirty="0" err="1">
                <a:solidFill>
                  <a:srgbClr val="64748B"/>
                </a:solidFill>
                <a:latin typeface="Segoe UI"/>
              </a:rPr>
              <a:t>importancia</a:t>
            </a:r>
            <a:r>
              <a:rPr sz="1400" b="0" i="0" dirty="0">
                <a:solidFill>
                  <a:srgbClr val="64748B"/>
                </a:solidFill>
                <a:latin typeface="Segoe UI"/>
              </a:rPr>
              <a:t> de </a:t>
            </a:r>
            <a:r>
              <a:rPr sz="1400" b="0" i="0" dirty="0" err="1">
                <a:solidFill>
                  <a:srgbClr val="64748B"/>
                </a:solidFill>
                <a:latin typeface="Segoe UI"/>
              </a:rPr>
              <a:t>atributos</a:t>
            </a:r>
            <a:r>
              <a:rPr sz="1400" b="0" i="0" dirty="0">
                <a:solidFill>
                  <a:srgbClr val="64748B"/>
                </a:solidFill>
                <a:latin typeface="Segoe UI"/>
              </a:rPr>
              <a:t> — </a:t>
            </a:r>
            <a:r>
              <a:rPr sz="1400" b="0" i="0" dirty="0" err="1">
                <a:solidFill>
                  <a:srgbClr val="64748B"/>
                </a:solidFill>
                <a:latin typeface="Segoe UI"/>
              </a:rPr>
              <a:t>Iteración</a:t>
            </a:r>
            <a:r>
              <a:rPr sz="1400" b="0" i="0" dirty="0">
                <a:solidFill>
                  <a:srgbClr val="64748B"/>
                </a:solidFill>
                <a:latin typeface="Segoe UI"/>
              </a:rPr>
              <a:t> 2 / 3</a:t>
            </a:r>
          </a:p>
        </p:txBody>
      </p:sp>
      <p:sp>
        <p:nvSpPr>
          <p:cNvPr id="6" name="Rectangle 5"/>
          <p:cNvSpPr/>
          <p:nvPr/>
        </p:nvSpPr>
        <p:spPr>
          <a:xfrm>
            <a:off x="411480" y="1133856"/>
            <a:ext cx="11365992"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55680" y="6510528"/>
            <a:ext cx="914400" cy="274320"/>
          </a:xfrm>
          <a:prstGeom prst="rect">
            <a:avLst/>
          </a:prstGeom>
          <a:noFill/>
        </p:spPr>
        <p:txBody>
          <a:bodyPr wrap="square">
            <a:spAutoFit/>
          </a:bodyPr>
          <a:lstStyle/>
          <a:p>
            <a:pPr algn="r"/>
            <a:r>
              <a:rPr sz="900" b="0" i="0">
                <a:solidFill>
                  <a:srgbClr val="64748B"/>
                </a:solidFill>
                <a:latin typeface="Segoe UI"/>
              </a:rPr>
              <a:t>13 / 20</a:t>
            </a:r>
          </a:p>
        </p:txBody>
      </p:sp>
      <p:sp>
        <p:nvSpPr>
          <p:cNvPr id="9" name="Rounded Rectangle 8"/>
          <p:cNvSpPr/>
          <p:nvPr/>
        </p:nvSpPr>
        <p:spPr>
          <a:xfrm>
            <a:off x="411480" y="1298448"/>
            <a:ext cx="6400800" cy="5709920"/>
          </a:xfrm>
          <a:prstGeom prst="roundRect">
            <a:avLst>
              <a:gd name="adj" fmla="val 7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19_importancia_atributos_v3.png"/>
          <p:cNvPicPr>
            <a:picLocks noChangeAspect="1"/>
          </p:cNvPicPr>
          <p:nvPr/>
        </p:nvPicPr>
        <p:blipFill>
          <a:blip r:embed="rId2"/>
          <a:stretch>
            <a:fillRect/>
          </a:stretch>
        </p:blipFill>
        <p:spPr>
          <a:xfrm>
            <a:off x="502920" y="1389888"/>
            <a:ext cx="6217920" cy="5527040"/>
          </a:xfrm>
          <a:prstGeom prst="rect">
            <a:avLst/>
          </a:prstGeom>
        </p:spPr>
      </p:pic>
      <p:sp>
        <p:nvSpPr>
          <p:cNvPr id="10" name="Rounded Rectangle 9"/>
          <p:cNvSpPr/>
          <p:nvPr/>
        </p:nvSpPr>
        <p:spPr>
          <a:xfrm>
            <a:off x="7051413" y="1298448"/>
            <a:ext cx="4754880" cy="5120640"/>
          </a:xfrm>
          <a:prstGeom prst="roundRect">
            <a:avLst>
              <a:gd name="adj" fmla="val 7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040880" y="1298448"/>
            <a:ext cx="109728" cy="5120640"/>
          </a:xfrm>
          <a:prstGeom prst="roundRect">
            <a:avLst>
              <a:gd name="adj" fmla="val 7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0" y="1463039"/>
            <a:ext cx="4297680" cy="347472"/>
          </a:xfrm>
          <a:prstGeom prst="rect">
            <a:avLst/>
          </a:prstGeom>
          <a:noFill/>
        </p:spPr>
        <p:txBody>
          <a:bodyPr wrap="square">
            <a:spAutoFit/>
          </a:bodyPr>
          <a:lstStyle/>
          <a:p>
            <a:pPr algn="l"/>
            <a:r>
              <a:rPr sz="1500" b="1" i="0">
                <a:solidFill>
                  <a:srgbClr val="111827"/>
                </a:solidFill>
                <a:latin typeface="Segoe UI"/>
              </a:rPr>
              <a:t>Atributos creados e importancia (RF)</a:t>
            </a:r>
          </a:p>
        </p:txBody>
      </p:sp>
      <p:sp>
        <p:nvSpPr>
          <p:cNvPr id="13" name="Rectangle 12"/>
          <p:cNvSpPr/>
          <p:nvPr/>
        </p:nvSpPr>
        <p:spPr>
          <a:xfrm>
            <a:off x="7333488" y="1874519"/>
            <a:ext cx="2286000" cy="411480"/>
          </a:xfrm>
          <a:prstGeom prst="rect">
            <a:avLst/>
          </a:prstGeom>
          <a:solidFill>
            <a:srgbClr val="0F172A"/>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88352" y="1937280"/>
            <a:ext cx="2212848" cy="340822"/>
          </a:xfrm>
          <a:prstGeom prst="rect">
            <a:avLst/>
          </a:prstGeom>
          <a:noFill/>
        </p:spPr>
        <p:txBody>
          <a:bodyPr wrap="square">
            <a:spAutoFit/>
          </a:bodyPr>
          <a:lstStyle/>
          <a:p>
            <a:pPr algn="l"/>
            <a:r>
              <a:rPr sz="1000" b="1" i="0">
                <a:solidFill>
                  <a:srgbClr val="FFFFFF"/>
                </a:solidFill>
                <a:latin typeface="Segoe UI"/>
              </a:rPr>
              <a:t>Variable</a:t>
            </a:r>
          </a:p>
        </p:txBody>
      </p:sp>
      <p:sp>
        <p:nvSpPr>
          <p:cNvPr id="15" name="Rectangle 14"/>
          <p:cNvSpPr/>
          <p:nvPr/>
        </p:nvSpPr>
        <p:spPr>
          <a:xfrm>
            <a:off x="9619488" y="1874519"/>
            <a:ext cx="731520" cy="411480"/>
          </a:xfrm>
          <a:prstGeom prst="rect">
            <a:avLst/>
          </a:prstGeom>
          <a:solidFill>
            <a:srgbClr val="0F172A"/>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674352" y="1920239"/>
            <a:ext cx="658368" cy="374904"/>
          </a:xfrm>
          <a:prstGeom prst="rect">
            <a:avLst/>
          </a:prstGeom>
          <a:noFill/>
        </p:spPr>
        <p:txBody>
          <a:bodyPr wrap="square">
            <a:spAutoFit/>
          </a:bodyPr>
          <a:lstStyle/>
          <a:p>
            <a:pPr algn="ctr"/>
            <a:r>
              <a:rPr sz="1000" b="1" i="0" dirty="0" err="1">
                <a:solidFill>
                  <a:srgbClr val="FFFFFF"/>
                </a:solidFill>
                <a:latin typeface="Segoe UI"/>
              </a:rPr>
              <a:t>Importancia</a:t>
            </a:r>
            <a:endParaRPr sz="1000" b="1" i="0" dirty="0">
              <a:solidFill>
                <a:srgbClr val="FFFFFF"/>
              </a:solidFill>
              <a:latin typeface="Segoe UI"/>
            </a:endParaRPr>
          </a:p>
        </p:txBody>
      </p:sp>
      <p:sp>
        <p:nvSpPr>
          <p:cNvPr id="17" name="Rectangle 16"/>
          <p:cNvSpPr/>
          <p:nvPr/>
        </p:nvSpPr>
        <p:spPr>
          <a:xfrm>
            <a:off x="10351008" y="1874519"/>
            <a:ext cx="594360" cy="411480"/>
          </a:xfrm>
          <a:prstGeom prst="rect">
            <a:avLst/>
          </a:prstGeom>
          <a:solidFill>
            <a:srgbClr val="0F172A"/>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405872" y="1920239"/>
            <a:ext cx="521208" cy="374904"/>
          </a:xfrm>
          <a:prstGeom prst="rect">
            <a:avLst/>
          </a:prstGeom>
          <a:noFill/>
        </p:spPr>
        <p:txBody>
          <a:bodyPr wrap="square">
            <a:spAutoFit/>
          </a:bodyPr>
          <a:lstStyle/>
          <a:p>
            <a:pPr algn="ctr"/>
            <a:r>
              <a:rPr sz="1000" b="1" i="0" dirty="0">
                <a:solidFill>
                  <a:srgbClr val="FFFFFF"/>
                </a:solidFill>
                <a:latin typeface="Segoe UI"/>
              </a:rPr>
              <a:t>Tipo</a:t>
            </a:r>
          </a:p>
        </p:txBody>
      </p:sp>
      <p:sp>
        <p:nvSpPr>
          <p:cNvPr id="19" name="Rectangle 18"/>
          <p:cNvSpPr/>
          <p:nvPr/>
        </p:nvSpPr>
        <p:spPr>
          <a:xfrm>
            <a:off x="7333488" y="2285999"/>
            <a:ext cx="2286000" cy="411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88352" y="2331719"/>
            <a:ext cx="2212848" cy="374904"/>
          </a:xfrm>
          <a:prstGeom prst="rect">
            <a:avLst/>
          </a:prstGeom>
          <a:noFill/>
        </p:spPr>
        <p:txBody>
          <a:bodyPr wrap="square">
            <a:spAutoFit/>
          </a:bodyPr>
          <a:lstStyle/>
          <a:p>
            <a:pPr algn="l"/>
            <a:r>
              <a:rPr sz="1000" b="0" i="0">
                <a:solidFill>
                  <a:srgbClr val="111827"/>
                </a:solidFill>
                <a:latin typeface="Segoe UI"/>
              </a:rPr>
              <a:t>BMI</a:t>
            </a:r>
          </a:p>
        </p:txBody>
      </p:sp>
      <p:sp>
        <p:nvSpPr>
          <p:cNvPr id="21" name="Rectangle 20"/>
          <p:cNvSpPr/>
          <p:nvPr/>
        </p:nvSpPr>
        <p:spPr>
          <a:xfrm>
            <a:off x="9619488" y="2285999"/>
            <a:ext cx="731520" cy="411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674352" y="2331719"/>
            <a:ext cx="658368" cy="374904"/>
          </a:xfrm>
          <a:prstGeom prst="rect">
            <a:avLst/>
          </a:prstGeom>
          <a:noFill/>
        </p:spPr>
        <p:txBody>
          <a:bodyPr wrap="square">
            <a:spAutoFit/>
          </a:bodyPr>
          <a:lstStyle/>
          <a:p>
            <a:pPr algn="ctr"/>
            <a:r>
              <a:rPr sz="1000" b="0" i="0">
                <a:solidFill>
                  <a:srgbClr val="111827"/>
                </a:solidFill>
                <a:latin typeface="Segoe UI"/>
              </a:rPr>
              <a:t>0.3227</a:t>
            </a:r>
          </a:p>
        </p:txBody>
      </p:sp>
      <p:sp>
        <p:nvSpPr>
          <p:cNvPr id="23" name="Rectangle 22"/>
          <p:cNvSpPr/>
          <p:nvPr/>
        </p:nvSpPr>
        <p:spPr>
          <a:xfrm>
            <a:off x="10351008" y="2285999"/>
            <a:ext cx="594360" cy="411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405872" y="2331719"/>
            <a:ext cx="521208" cy="374904"/>
          </a:xfrm>
          <a:prstGeom prst="rect">
            <a:avLst/>
          </a:prstGeom>
          <a:noFill/>
        </p:spPr>
        <p:txBody>
          <a:bodyPr wrap="square">
            <a:spAutoFit/>
          </a:bodyPr>
          <a:lstStyle/>
          <a:p>
            <a:pPr algn="ctr"/>
            <a:r>
              <a:rPr sz="1000" b="0" i="0">
                <a:solidFill>
                  <a:srgbClr val="111827"/>
                </a:solidFill>
                <a:latin typeface="Segoe UI"/>
              </a:rPr>
              <a:t>Creada</a:t>
            </a:r>
          </a:p>
        </p:txBody>
      </p:sp>
      <p:sp>
        <p:nvSpPr>
          <p:cNvPr id="25" name="Rectangle 24"/>
          <p:cNvSpPr/>
          <p:nvPr/>
        </p:nvSpPr>
        <p:spPr>
          <a:xfrm>
            <a:off x="7333488" y="2697479"/>
            <a:ext cx="2286000" cy="411480"/>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388352" y="2743199"/>
            <a:ext cx="2212848" cy="374904"/>
          </a:xfrm>
          <a:prstGeom prst="rect">
            <a:avLst/>
          </a:prstGeom>
          <a:noFill/>
        </p:spPr>
        <p:txBody>
          <a:bodyPr wrap="square">
            <a:spAutoFit/>
          </a:bodyPr>
          <a:lstStyle/>
          <a:p>
            <a:pPr algn="l"/>
            <a:r>
              <a:rPr sz="1000" b="0" i="0">
                <a:solidFill>
                  <a:srgbClr val="111827"/>
                </a:solidFill>
                <a:latin typeface="Segoe UI"/>
              </a:rPr>
              <a:t>BMI_Category</a:t>
            </a:r>
          </a:p>
        </p:txBody>
      </p:sp>
      <p:sp>
        <p:nvSpPr>
          <p:cNvPr id="27" name="Rectangle 26"/>
          <p:cNvSpPr/>
          <p:nvPr/>
        </p:nvSpPr>
        <p:spPr>
          <a:xfrm>
            <a:off x="9619488" y="2697479"/>
            <a:ext cx="731520" cy="411480"/>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674352" y="2743199"/>
            <a:ext cx="658368" cy="374904"/>
          </a:xfrm>
          <a:prstGeom prst="rect">
            <a:avLst/>
          </a:prstGeom>
          <a:noFill/>
        </p:spPr>
        <p:txBody>
          <a:bodyPr wrap="square">
            <a:spAutoFit/>
          </a:bodyPr>
          <a:lstStyle/>
          <a:p>
            <a:pPr algn="ctr"/>
            <a:r>
              <a:rPr sz="1000" b="0" i="0">
                <a:solidFill>
                  <a:srgbClr val="111827"/>
                </a:solidFill>
                <a:latin typeface="Segoe UI"/>
              </a:rPr>
              <a:t>0.1715</a:t>
            </a:r>
          </a:p>
        </p:txBody>
      </p:sp>
      <p:sp>
        <p:nvSpPr>
          <p:cNvPr id="29" name="Rectangle 28"/>
          <p:cNvSpPr/>
          <p:nvPr/>
        </p:nvSpPr>
        <p:spPr>
          <a:xfrm>
            <a:off x="10351008" y="2697479"/>
            <a:ext cx="594360" cy="411480"/>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405872" y="2743199"/>
            <a:ext cx="521208" cy="374904"/>
          </a:xfrm>
          <a:prstGeom prst="rect">
            <a:avLst/>
          </a:prstGeom>
          <a:noFill/>
        </p:spPr>
        <p:txBody>
          <a:bodyPr wrap="square">
            <a:spAutoFit/>
          </a:bodyPr>
          <a:lstStyle/>
          <a:p>
            <a:pPr algn="ctr"/>
            <a:r>
              <a:rPr sz="1000" b="0" i="0" dirty="0">
                <a:solidFill>
                  <a:srgbClr val="111827"/>
                </a:solidFill>
                <a:latin typeface="Segoe UI"/>
              </a:rPr>
              <a:t>Creada</a:t>
            </a:r>
          </a:p>
        </p:txBody>
      </p:sp>
      <p:sp>
        <p:nvSpPr>
          <p:cNvPr id="31" name="Rectangle 30"/>
          <p:cNvSpPr/>
          <p:nvPr/>
        </p:nvSpPr>
        <p:spPr>
          <a:xfrm>
            <a:off x="7333488" y="3108959"/>
            <a:ext cx="2286000" cy="411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388352" y="3154679"/>
            <a:ext cx="2212848" cy="374904"/>
          </a:xfrm>
          <a:prstGeom prst="rect">
            <a:avLst/>
          </a:prstGeom>
          <a:noFill/>
        </p:spPr>
        <p:txBody>
          <a:bodyPr wrap="square">
            <a:spAutoFit/>
          </a:bodyPr>
          <a:lstStyle/>
          <a:p>
            <a:pPr algn="l"/>
            <a:r>
              <a:rPr sz="1000" b="0" i="0">
                <a:solidFill>
                  <a:srgbClr val="111827"/>
                </a:solidFill>
                <a:latin typeface="Segoe UI"/>
              </a:rPr>
              <a:t>Healthy_Habits_Score</a:t>
            </a:r>
          </a:p>
        </p:txBody>
      </p:sp>
      <p:sp>
        <p:nvSpPr>
          <p:cNvPr id="33" name="Rectangle 32"/>
          <p:cNvSpPr/>
          <p:nvPr/>
        </p:nvSpPr>
        <p:spPr>
          <a:xfrm>
            <a:off x="9619488" y="3108959"/>
            <a:ext cx="731520" cy="411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674352" y="3154679"/>
            <a:ext cx="658368" cy="374904"/>
          </a:xfrm>
          <a:prstGeom prst="rect">
            <a:avLst/>
          </a:prstGeom>
          <a:noFill/>
        </p:spPr>
        <p:txBody>
          <a:bodyPr wrap="square">
            <a:spAutoFit/>
          </a:bodyPr>
          <a:lstStyle/>
          <a:p>
            <a:pPr algn="ctr"/>
            <a:r>
              <a:rPr sz="1000" b="0" i="0">
                <a:solidFill>
                  <a:srgbClr val="111827"/>
                </a:solidFill>
                <a:latin typeface="Segoe UI"/>
              </a:rPr>
              <a:t>0.0101</a:t>
            </a:r>
          </a:p>
        </p:txBody>
      </p:sp>
      <p:sp>
        <p:nvSpPr>
          <p:cNvPr id="35" name="Rectangle 34"/>
          <p:cNvSpPr/>
          <p:nvPr/>
        </p:nvSpPr>
        <p:spPr>
          <a:xfrm>
            <a:off x="10351008" y="3108959"/>
            <a:ext cx="594360" cy="411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405872" y="3154679"/>
            <a:ext cx="521208" cy="374904"/>
          </a:xfrm>
          <a:prstGeom prst="rect">
            <a:avLst/>
          </a:prstGeom>
          <a:noFill/>
        </p:spPr>
        <p:txBody>
          <a:bodyPr wrap="square">
            <a:spAutoFit/>
          </a:bodyPr>
          <a:lstStyle/>
          <a:p>
            <a:pPr algn="ctr"/>
            <a:r>
              <a:rPr sz="1000" b="0" i="0">
                <a:solidFill>
                  <a:srgbClr val="111827"/>
                </a:solidFill>
                <a:latin typeface="Segoe UI"/>
              </a:rPr>
              <a:t>Creada</a:t>
            </a:r>
          </a:p>
        </p:txBody>
      </p:sp>
      <p:sp>
        <p:nvSpPr>
          <p:cNvPr id="37" name="Rectangle 36"/>
          <p:cNvSpPr/>
          <p:nvPr/>
        </p:nvSpPr>
        <p:spPr>
          <a:xfrm>
            <a:off x="7333488" y="3520439"/>
            <a:ext cx="2286000" cy="411480"/>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388352" y="3566159"/>
            <a:ext cx="2212848" cy="374904"/>
          </a:xfrm>
          <a:prstGeom prst="rect">
            <a:avLst/>
          </a:prstGeom>
          <a:noFill/>
        </p:spPr>
        <p:txBody>
          <a:bodyPr wrap="square">
            <a:spAutoFit/>
          </a:bodyPr>
          <a:lstStyle/>
          <a:p>
            <a:pPr algn="l"/>
            <a:r>
              <a:rPr sz="1000" b="0" i="0">
                <a:solidFill>
                  <a:srgbClr val="111827"/>
                </a:solidFill>
                <a:latin typeface="Segoe UI"/>
              </a:rPr>
              <a:t>Risky_Eating_Score</a:t>
            </a:r>
          </a:p>
        </p:txBody>
      </p:sp>
      <p:sp>
        <p:nvSpPr>
          <p:cNvPr id="39" name="Rectangle 38"/>
          <p:cNvSpPr/>
          <p:nvPr/>
        </p:nvSpPr>
        <p:spPr>
          <a:xfrm>
            <a:off x="9619488" y="3520439"/>
            <a:ext cx="731520" cy="411480"/>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674352" y="3566159"/>
            <a:ext cx="658368" cy="374904"/>
          </a:xfrm>
          <a:prstGeom prst="rect">
            <a:avLst/>
          </a:prstGeom>
          <a:noFill/>
        </p:spPr>
        <p:txBody>
          <a:bodyPr wrap="square">
            <a:spAutoFit/>
          </a:bodyPr>
          <a:lstStyle/>
          <a:p>
            <a:pPr algn="ctr"/>
            <a:r>
              <a:rPr sz="1000" b="0" i="0">
                <a:solidFill>
                  <a:srgbClr val="111827"/>
                </a:solidFill>
                <a:latin typeface="Segoe UI"/>
              </a:rPr>
              <a:t>0.0178</a:t>
            </a:r>
          </a:p>
        </p:txBody>
      </p:sp>
      <p:sp>
        <p:nvSpPr>
          <p:cNvPr id="41" name="Rectangle 40"/>
          <p:cNvSpPr/>
          <p:nvPr/>
        </p:nvSpPr>
        <p:spPr>
          <a:xfrm>
            <a:off x="10351008" y="3520439"/>
            <a:ext cx="594360" cy="411480"/>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0405872" y="3566159"/>
            <a:ext cx="521208" cy="374904"/>
          </a:xfrm>
          <a:prstGeom prst="rect">
            <a:avLst/>
          </a:prstGeom>
          <a:noFill/>
        </p:spPr>
        <p:txBody>
          <a:bodyPr wrap="square">
            <a:spAutoFit/>
          </a:bodyPr>
          <a:lstStyle/>
          <a:p>
            <a:pPr algn="ctr"/>
            <a:r>
              <a:rPr sz="1000" b="0" i="0">
                <a:solidFill>
                  <a:srgbClr val="111827"/>
                </a:solidFill>
                <a:latin typeface="Segoe UI"/>
              </a:rPr>
              <a:t>Creada</a:t>
            </a:r>
          </a:p>
        </p:txBody>
      </p:sp>
      <p:sp>
        <p:nvSpPr>
          <p:cNvPr id="43" name="Rectangle 42"/>
          <p:cNvSpPr/>
          <p:nvPr/>
        </p:nvSpPr>
        <p:spPr>
          <a:xfrm>
            <a:off x="7333488" y="3931919"/>
            <a:ext cx="2286000" cy="411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388352" y="3977639"/>
            <a:ext cx="2212848" cy="374904"/>
          </a:xfrm>
          <a:prstGeom prst="rect">
            <a:avLst/>
          </a:prstGeom>
          <a:noFill/>
        </p:spPr>
        <p:txBody>
          <a:bodyPr wrap="square">
            <a:spAutoFit/>
          </a:bodyPr>
          <a:lstStyle/>
          <a:p>
            <a:pPr algn="l"/>
            <a:r>
              <a:rPr sz="1000" b="0" i="0">
                <a:solidFill>
                  <a:srgbClr val="111827"/>
                </a:solidFill>
                <a:latin typeface="Segoe UI"/>
              </a:rPr>
              <a:t>Sedentary_Risk_Score</a:t>
            </a:r>
          </a:p>
        </p:txBody>
      </p:sp>
      <p:sp>
        <p:nvSpPr>
          <p:cNvPr id="45" name="Rectangle 44"/>
          <p:cNvSpPr/>
          <p:nvPr/>
        </p:nvSpPr>
        <p:spPr>
          <a:xfrm>
            <a:off x="9619488" y="3931919"/>
            <a:ext cx="731520" cy="411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674352" y="3977639"/>
            <a:ext cx="658368" cy="374904"/>
          </a:xfrm>
          <a:prstGeom prst="rect">
            <a:avLst/>
          </a:prstGeom>
          <a:noFill/>
        </p:spPr>
        <p:txBody>
          <a:bodyPr wrap="square">
            <a:spAutoFit/>
          </a:bodyPr>
          <a:lstStyle/>
          <a:p>
            <a:pPr algn="ctr"/>
            <a:r>
              <a:rPr sz="1000" b="0" i="0">
                <a:solidFill>
                  <a:srgbClr val="111827"/>
                </a:solidFill>
                <a:latin typeface="Segoe UI"/>
              </a:rPr>
              <a:t>0.0216</a:t>
            </a:r>
          </a:p>
        </p:txBody>
      </p:sp>
      <p:sp>
        <p:nvSpPr>
          <p:cNvPr id="47" name="Rectangle 46"/>
          <p:cNvSpPr/>
          <p:nvPr/>
        </p:nvSpPr>
        <p:spPr>
          <a:xfrm>
            <a:off x="10351008" y="3931919"/>
            <a:ext cx="594360" cy="411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0405872" y="3977639"/>
            <a:ext cx="521208" cy="374904"/>
          </a:xfrm>
          <a:prstGeom prst="rect">
            <a:avLst/>
          </a:prstGeom>
          <a:noFill/>
        </p:spPr>
        <p:txBody>
          <a:bodyPr wrap="square">
            <a:spAutoFit/>
          </a:bodyPr>
          <a:lstStyle/>
          <a:p>
            <a:pPr algn="ctr"/>
            <a:r>
              <a:rPr sz="1000" b="0" i="0">
                <a:solidFill>
                  <a:srgbClr val="111827"/>
                </a:solidFill>
                <a:latin typeface="Segoe UI"/>
              </a:rPr>
              <a:t>Creada</a:t>
            </a:r>
          </a:p>
        </p:txBody>
      </p:sp>
      <p:sp>
        <p:nvSpPr>
          <p:cNvPr id="49" name="Rectangle 48"/>
          <p:cNvSpPr/>
          <p:nvPr/>
        </p:nvSpPr>
        <p:spPr>
          <a:xfrm>
            <a:off x="7333488" y="4343399"/>
            <a:ext cx="2286000" cy="411480"/>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388352" y="4389119"/>
            <a:ext cx="2212848" cy="374904"/>
          </a:xfrm>
          <a:prstGeom prst="rect">
            <a:avLst/>
          </a:prstGeom>
          <a:noFill/>
        </p:spPr>
        <p:txBody>
          <a:bodyPr wrap="square">
            <a:spAutoFit/>
          </a:bodyPr>
          <a:lstStyle/>
          <a:p>
            <a:pPr algn="l"/>
            <a:r>
              <a:rPr sz="1000" b="0" i="0">
                <a:solidFill>
                  <a:srgbClr val="111827"/>
                </a:solidFill>
                <a:latin typeface="Segoe UI"/>
              </a:rPr>
              <a:t>FAF_FAVC_Interaction</a:t>
            </a:r>
          </a:p>
        </p:txBody>
      </p:sp>
      <p:sp>
        <p:nvSpPr>
          <p:cNvPr id="51" name="Rectangle 50"/>
          <p:cNvSpPr/>
          <p:nvPr/>
        </p:nvSpPr>
        <p:spPr>
          <a:xfrm>
            <a:off x="9619488" y="4343399"/>
            <a:ext cx="731520" cy="411480"/>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674352" y="4389119"/>
            <a:ext cx="658368" cy="374904"/>
          </a:xfrm>
          <a:prstGeom prst="rect">
            <a:avLst/>
          </a:prstGeom>
          <a:noFill/>
        </p:spPr>
        <p:txBody>
          <a:bodyPr wrap="square">
            <a:spAutoFit/>
          </a:bodyPr>
          <a:lstStyle/>
          <a:p>
            <a:pPr algn="ctr"/>
            <a:r>
              <a:rPr sz="1000" b="0" i="0">
                <a:solidFill>
                  <a:srgbClr val="111827"/>
                </a:solidFill>
                <a:latin typeface="Segoe UI"/>
              </a:rPr>
              <a:t>0.0113</a:t>
            </a:r>
          </a:p>
        </p:txBody>
      </p:sp>
      <p:sp>
        <p:nvSpPr>
          <p:cNvPr id="53" name="Rectangle 52"/>
          <p:cNvSpPr/>
          <p:nvPr/>
        </p:nvSpPr>
        <p:spPr>
          <a:xfrm>
            <a:off x="10351008" y="4343399"/>
            <a:ext cx="594360" cy="411480"/>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10405872" y="4389119"/>
            <a:ext cx="521208" cy="374904"/>
          </a:xfrm>
          <a:prstGeom prst="rect">
            <a:avLst/>
          </a:prstGeom>
          <a:noFill/>
        </p:spPr>
        <p:txBody>
          <a:bodyPr wrap="square">
            <a:spAutoFit/>
          </a:bodyPr>
          <a:lstStyle/>
          <a:p>
            <a:pPr algn="ctr"/>
            <a:r>
              <a:rPr sz="1000" b="0" i="0">
                <a:solidFill>
                  <a:srgbClr val="111827"/>
                </a:solidFill>
                <a:latin typeface="Segoe UI"/>
              </a:rPr>
              <a:t>Creada</a:t>
            </a:r>
          </a:p>
        </p:txBody>
      </p:sp>
      <p:sp>
        <p:nvSpPr>
          <p:cNvPr id="55" name="TextBox 54"/>
          <p:cNvSpPr txBox="1"/>
          <p:nvPr/>
        </p:nvSpPr>
        <p:spPr>
          <a:xfrm>
            <a:off x="7150608" y="6480869"/>
            <a:ext cx="4297680" cy="347472"/>
          </a:xfrm>
          <a:prstGeom prst="rect">
            <a:avLst/>
          </a:prstGeom>
          <a:noFill/>
        </p:spPr>
        <p:txBody>
          <a:bodyPr wrap="square">
            <a:spAutoFit/>
          </a:bodyPr>
          <a:lstStyle/>
          <a:p>
            <a:pPr algn="l"/>
            <a:r>
              <a:rPr sz="1400" b="1" i="0" dirty="0">
                <a:solidFill>
                  <a:srgbClr val="16A34A"/>
                </a:solidFill>
                <a:latin typeface="Segoe UI"/>
              </a:rPr>
              <a:t>F1 base: 0.9637  →  F1 con FE: 0.9834</a:t>
            </a:r>
          </a:p>
        </p:txBody>
      </p:sp>
      <p:sp>
        <p:nvSpPr>
          <p:cNvPr id="56" name="Rounded Rectangle 55"/>
          <p:cNvSpPr/>
          <p:nvPr/>
        </p:nvSpPr>
        <p:spPr>
          <a:xfrm>
            <a:off x="7040880" y="4754880"/>
            <a:ext cx="4754880" cy="1664208"/>
          </a:xfrm>
          <a:prstGeom prst="roundRect">
            <a:avLst>
              <a:gd name="adj" fmla="val 7000"/>
            </a:avLst>
          </a:prstGeom>
          <a:solidFill>
            <a:srgbClr val="FFF7ED"/>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ounded Rectangle 56"/>
          <p:cNvSpPr/>
          <p:nvPr/>
        </p:nvSpPr>
        <p:spPr>
          <a:xfrm>
            <a:off x="7040880" y="4754880"/>
            <a:ext cx="109728" cy="1664208"/>
          </a:xfrm>
          <a:prstGeom prst="roundRect">
            <a:avLst>
              <a:gd name="adj" fmla="val 7000"/>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7333488" y="4892040"/>
            <a:ext cx="4297680" cy="347472"/>
          </a:xfrm>
          <a:prstGeom prst="rect">
            <a:avLst/>
          </a:prstGeom>
          <a:noFill/>
        </p:spPr>
        <p:txBody>
          <a:bodyPr wrap="square">
            <a:spAutoFit/>
          </a:bodyPr>
          <a:lstStyle/>
          <a:p>
            <a:pPr algn="l"/>
            <a:r>
              <a:rPr sz="1300" b="1" i="0">
                <a:solidFill>
                  <a:srgbClr val="F97316"/>
                </a:solidFill>
                <a:latin typeface="Segoe UI"/>
              </a:rPr>
              <a:t>Advertencia metodológica</a:t>
            </a:r>
          </a:p>
        </p:txBody>
      </p:sp>
      <p:sp>
        <p:nvSpPr>
          <p:cNvPr id="59" name="TextBox 58"/>
          <p:cNvSpPr txBox="1"/>
          <p:nvPr/>
        </p:nvSpPr>
        <p:spPr>
          <a:xfrm>
            <a:off x="7333488" y="5285232"/>
            <a:ext cx="4297680" cy="1078992"/>
          </a:xfrm>
          <a:prstGeom prst="rect">
            <a:avLst/>
          </a:prstGeom>
          <a:noFill/>
        </p:spPr>
        <p:txBody>
          <a:bodyPr wrap="square">
            <a:spAutoFit/>
          </a:bodyPr>
          <a:lstStyle/>
          <a:p>
            <a:pPr algn="l"/>
            <a:r>
              <a:rPr sz="1200" b="0" i="0">
                <a:solidFill>
                  <a:srgbClr val="111827"/>
                </a:solidFill>
                <a:latin typeface="Segoe UI"/>
              </a:rPr>
              <a:t>BMI (importancia 0.31) fue construido desde Peso y Talla — los mismos datos con que se construyó el target. Esto infla artificialmente las métricas. El modelo útil en la práctica es el que predice solo con hábitos.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7723" y="-47753"/>
            <a:ext cx="12188952"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11480" y="256032"/>
            <a:ext cx="146304" cy="59436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182880"/>
            <a:ext cx="10881360" cy="830997"/>
          </a:xfrm>
          <a:prstGeom prst="rect">
            <a:avLst/>
          </a:prstGeom>
          <a:noFill/>
        </p:spPr>
        <p:txBody>
          <a:bodyPr wrap="square">
            <a:spAutoFit/>
          </a:bodyPr>
          <a:lstStyle/>
          <a:p>
            <a:pPr algn="l"/>
            <a:r>
              <a:rPr sz="2400" b="1" i="0" dirty="0">
                <a:solidFill>
                  <a:srgbClr val="111827"/>
                </a:solidFill>
                <a:latin typeface="Segoe UI"/>
              </a:rPr>
              <a:t>PCA y </a:t>
            </a:r>
            <a:r>
              <a:rPr sz="2400" b="1" i="0" dirty="0" err="1">
                <a:solidFill>
                  <a:srgbClr val="111827"/>
                </a:solidFill>
                <a:latin typeface="Segoe UI"/>
              </a:rPr>
              <a:t>TruncatedSVD</a:t>
            </a:r>
            <a:r>
              <a:rPr sz="2400" b="1" i="0" dirty="0">
                <a:solidFill>
                  <a:srgbClr val="111827"/>
                </a:solidFill>
                <a:latin typeface="Segoe UI"/>
              </a:rPr>
              <a:t> </a:t>
            </a:r>
            <a:r>
              <a:rPr sz="2400" b="1" i="0" dirty="0" err="1">
                <a:solidFill>
                  <a:srgbClr val="111827"/>
                </a:solidFill>
                <a:latin typeface="Segoe UI"/>
              </a:rPr>
              <a:t>redujeron</a:t>
            </a:r>
            <a:r>
              <a:rPr sz="2400" b="1" i="0" dirty="0">
                <a:solidFill>
                  <a:srgbClr val="111827"/>
                </a:solidFill>
                <a:latin typeface="Segoe UI"/>
              </a:rPr>
              <a:t> </a:t>
            </a:r>
            <a:r>
              <a:rPr sz="2400" b="1" i="0" dirty="0" err="1">
                <a:solidFill>
                  <a:srgbClr val="111827"/>
                </a:solidFill>
                <a:latin typeface="Segoe UI"/>
              </a:rPr>
              <a:t>el</a:t>
            </a:r>
            <a:r>
              <a:rPr sz="2400" b="1" i="0" dirty="0">
                <a:solidFill>
                  <a:srgbClr val="111827"/>
                </a:solidFill>
                <a:latin typeface="Segoe UI"/>
              </a:rPr>
              <a:t> </a:t>
            </a:r>
            <a:r>
              <a:rPr sz="2400" b="1" i="0" dirty="0" err="1">
                <a:solidFill>
                  <a:srgbClr val="111827"/>
                </a:solidFill>
                <a:latin typeface="Segoe UI"/>
              </a:rPr>
              <a:t>desempeño</a:t>
            </a:r>
            <a:r>
              <a:rPr sz="2400" b="1" i="0" dirty="0">
                <a:solidFill>
                  <a:srgbClr val="111827"/>
                </a:solidFill>
                <a:latin typeface="Segoe UI"/>
              </a:rPr>
              <a:t> </a:t>
            </a:r>
            <a:r>
              <a:rPr sz="2400" b="1" i="0" dirty="0" err="1">
                <a:solidFill>
                  <a:srgbClr val="111827"/>
                </a:solidFill>
                <a:latin typeface="Segoe UI"/>
              </a:rPr>
              <a:t>en</a:t>
            </a:r>
            <a:r>
              <a:rPr sz="2400" b="1" i="0" dirty="0">
                <a:solidFill>
                  <a:srgbClr val="111827"/>
                </a:solidFill>
                <a:latin typeface="Segoe UI"/>
              </a:rPr>
              <a:t> </a:t>
            </a:r>
            <a:r>
              <a:rPr sz="2400" b="1" i="0" dirty="0" err="1">
                <a:solidFill>
                  <a:srgbClr val="111827"/>
                </a:solidFill>
                <a:latin typeface="Segoe UI"/>
              </a:rPr>
              <a:t>clasificación</a:t>
            </a:r>
            <a:r>
              <a:rPr sz="2400" b="1" i="0" dirty="0">
                <a:solidFill>
                  <a:srgbClr val="111827"/>
                </a:solidFill>
                <a:latin typeface="Segoe UI"/>
              </a:rPr>
              <a:t> — </a:t>
            </a:r>
            <a:r>
              <a:rPr sz="2400" b="1" i="0" dirty="0" err="1">
                <a:solidFill>
                  <a:srgbClr val="111827"/>
                </a:solidFill>
                <a:latin typeface="Segoe UI"/>
              </a:rPr>
              <a:t>más</a:t>
            </a:r>
            <a:r>
              <a:rPr sz="2400" b="1" i="0" dirty="0">
                <a:solidFill>
                  <a:srgbClr val="111827"/>
                </a:solidFill>
                <a:latin typeface="Segoe UI"/>
              </a:rPr>
              <a:t> </a:t>
            </a:r>
            <a:r>
              <a:rPr sz="2400" b="1" i="0" dirty="0" err="1">
                <a:solidFill>
                  <a:srgbClr val="111827"/>
                </a:solidFill>
                <a:latin typeface="Segoe UI"/>
              </a:rPr>
              <a:t>dimensiones</a:t>
            </a:r>
            <a:r>
              <a:rPr sz="2400" b="1" i="0" dirty="0">
                <a:solidFill>
                  <a:srgbClr val="111827"/>
                </a:solidFill>
                <a:latin typeface="Segoe UI"/>
              </a:rPr>
              <a:t> no </a:t>
            </a:r>
            <a:r>
              <a:rPr sz="2400" b="1" i="0" dirty="0" err="1">
                <a:solidFill>
                  <a:srgbClr val="111827"/>
                </a:solidFill>
                <a:latin typeface="Segoe UI"/>
              </a:rPr>
              <a:t>siempre</a:t>
            </a:r>
            <a:r>
              <a:rPr sz="2400" b="1" i="0" dirty="0">
                <a:solidFill>
                  <a:srgbClr val="111827"/>
                </a:solidFill>
                <a:latin typeface="Segoe UI"/>
              </a:rPr>
              <a:t> </a:t>
            </a:r>
            <a:r>
              <a:rPr sz="2400" b="1" i="0" dirty="0" err="1">
                <a:solidFill>
                  <a:srgbClr val="111827"/>
                </a:solidFill>
                <a:latin typeface="Segoe UI"/>
              </a:rPr>
              <a:t>ayudan</a:t>
            </a:r>
            <a:endParaRPr sz="2400" b="1" i="0" dirty="0">
              <a:solidFill>
                <a:srgbClr val="111827"/>
              </a:solidFill>
              <a:latin typeface="Segoe UI"/>
            </a:endParaRPr>
          </a:p>
        </p:txBody>
      </p:sp>
      <p:sp>
        <p:nvSpPr>
          <p:cNvPr id="5" name="TextBox 4"/>
          <p:cNvSpPr txBox="1"/>
          <p:nvPr/>
        </p:nvSpPr>
        <p:spPr>
          <a:xfrm>
            <a:off x="6034913" y="640842"/>
            <a:ext cx="10881360" cy="347472"/>
          </a:xfrm>
          <a:prstGeom prst="rect">
            <a:avLst/>
          </a:prstGeom>
          <a:noFill/>
        </p:spPr>
        <p:txBody>
          <a:bodyPr wrap="square">
            <a:spAutoFit/>
          </a:bodyPr>
          <a:lstStyle/>
          <a:p>
            <a:pPr algn="l"/>
            <a:r>
              <a:rPr sz="1400" b="0" i="0" dirty="0" err="1">
                <a:solidFill>
                  <a:srgbClr val="64748B"/>
                </a:solidFill>
                <a:latin typeface="Segoe UI"/>
              </a:rPr>
              <a:t>Reducción</a:t>
            </a:r>
            <a:r>
              <a:rPr sz="1400" b="0" i="0" dirty="0">
                <a:solidFill>
                  <a:srgbClr val="64748B"/>
                </a:solidFill>
                <a:latin typeface="Segoe UI"/>
              </a:rPr>
              <a:t> de </a:t>
            </a:r>
            <a:r>
              <a:rPr sz="1400" b="0" i="0" dirty="0" err="1">
                <a:solidFill>
                  <a:srgbClr val="64748B"/>
                </a:solidFill>
                <a:latin typeface="Segoe UI"/>
              </a:rPr>
              <a:t>dimensionalidad</a:t>
            </a:r>
            <a:r>
              <a:rPr sz="1400" b="0" i="0" dirty="0">
                <a:solidFill>
                  <a:srgbClr val="64748B"/>
                </a:solidFill>
                <a:latin typeface="Segoe UI"/>
              </a:rPr>
              <a:t> — </a:t>
            </a:r>
            <a:r>
              <a:rPr sz="1400" b="0" i="0" dirty="0" err="1">
                <a:solidFill>
                  <a:srgbClr val="64748B"/>
                </a:solidFill>
                <a:latin typeface="Segoe UI"/>
              </a:rPr>
              <a:t>experimentos</a:t>
            </a:r>
            <a:r>
              <a:rPr sz="1400" b="0" i="0" dirty="0">
                <a:solidFill>
                  <a:srgbClr val="64748B"/>
                </a:solidFill>
                <a:latin typeface="Segoe UI"/>
              </a:rPr>
              <a:t> PCA y </a:t>
            </a:r>
            <a:r>
              <a:rPr sz="1400" b="0" i="0" dirty="0" err="1">
                <a:solidFill>
                  <a:srgbClr val="64748B"/>
                </a:solidFill>
                <a:latin typeface="Segoe UI"/>
              </a:rPr>
              <a:t>TruncatedSVD</a:t>
            </a:r>
            <a:endParaRPr sz="1400" b="0" i="0" dirty="0">
              <a:solidFill>
                <a:srgbClr val="64748B"/>
              </a:solidFill>
              <a:latin typeface="Segoe UI"/>
            </a:endParaRPr>
          </a:p>
        </p:txBody>
      </p:sp>
      <p:sp>
        <p:nvSpPr>
          <p:cNvPr id="6" name="Rectangle 5"/>
          <p:cNvSpPr/>
          <p:nvPr/>
        </p:nvSpPr>
        <p:spPr>
          <a:xfrm>
            <a:off x="411480" y="1133856"/>
            <a:ext cx="11365992"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55680" y="6510528"/>
            <a:ext cx="914400" cy="274320"/>
          </a:xfrm>
          <a:prstGeom prst="rect">
            <a:avLst/>
          </a:prstGeom>
          <a:noFill/>
        </p:spPr>
        <p:txBody>
          <a:bodyPr wrap="square">
            <a:spAutoFit/>
          </a:bodyPr>
          <a:lstStyle/>
          <a:p>
            <a:pPr algn="r"/>
            <a:r>
              <a:rPr sz="900" b="0" i="0">
                <a:solidFill>
                  <a:srgbClr val="64748B"/>
                </a:solidFill>
                <a:latin typeface="Segoe UI"/>
              </a:rPr>
              <a:t>14 / 20</a:t>
            </a:r>
          </a:p>
        </p:txBody>
      </p:sp>
      <p:pic>
        <p:nvPicPr>
          <p:cNvPr id="8" name="Picture 7" descr="11_pca_varianza.png"/>
          <p:cNvPicPr>
            <a:picLocks noChangeAspect="1"/>
          </p:cNvPicPr>
          <p:nvPr/>
        </p:nvPicPr>
        <p:blipFill>
          <a:blip r:embed="rId2"/>
          <a:stretch>
            <a:fillRect/>
          </a:stretch>
        </p:blipFill>
        <p:spPr>
          <a:xfrm>
            <a:off x="411480" y="1298448"/>
            <a:ext cx="3749039" cy="2082799"/>
          </a:xfrm>
          <a:prstGeom prst="rect">
            <a:avLst/>
          </a:prstGeom>
        </p:spPr>
      </p:pic>
      <p:pic>
        <p:nvPicPr>
          <p:cNvPr id="9" name="Picture 8" descr="13_svd_varianza.png"/>
          <p:cNvPicPr>
            <a:picLocks noChangeAspect="1"/>
          </p:cNvPicPr>
          <p:nvPr/>
        </p:nvPicPr>
        <p:blipFill>
          <a:blip r:embed="rId3"/>
          <a:stretch>
            <a:fillRect/>
          </a:stretch>
        </p:blipFill>
        <p:spPr>
          <a:xfrm>
            <a:off x="4297680" y="1298448"/>
            <a:ext cx="3749039" cy="2082799"/>
          </a:xfrm>
          <a:prstGeom prst="rect">
            <a:avLst/>
          </a:prstGeom>
        </p:spPr>
      </p:pic>
      <p:pic>
        <p:nvPicPr>
          <p:cNvPr id="10" name="Picture 9" descr="17_pca2d_clases.png"/>
          <p:cNvPicPr>
            <a:picLocks noChangeAspect="1"/>
          </p:cNvPicPr>
          <p:nvPr/>
        </p:nvPicPr>
        <p:blipFill>
          <a:blip r:embed="rId4"/>
          <a:stretch>
            <a:fillRect/>
          </a:stretch>
        </p:blipFill>
        <p:spPr>
          <a:xfrm>
            <a:off x="8138160" y="1298448"/>
            <a:ext cx="3657600" cy="2194560"/>
          </a:xfrm>
          <a:prstGeom prst="rect">
            <a:avLst/>
          </a:prstGeom>
        </p:spPr>
      </p:pic>
      <p:sp>
        <p:nvSpPr>
          <p:cNvPr id="11" name="TextBox 10"/>
          <p:cNvSpPr txBox="1"/>
          <p:nvPr/>
        </p:nvSpPr>
        <p:spPr>
          <a:xfrm>
            <a:off x="704088" y="3925000"/>
            <a:ext cx="7315200" cy="347472"/>
          </a:xfrm>
          <a:prstGeom prst="rect">
            <a:avLst/>
          </a:prstGeom>
          <a:noFill/>
        </p:spPr>
        <p:txBody>
          <a:bodyPr wrap="square">
            <a:spAutoFit/>
          </a:bodyPr>
          <a:lstStyle/>
          <a:p>
            <a:pPr algn="l"/>
            <a:r>
              <a:rPr sz="1400" b="1" i="0" dirty="0">
                <a:solidFill>
                  <a:srgbClr val="111827"/>
                </a:solidFill>
                <a:latin typeface="Segoe UI"/>
              </a:rPr>
              <a:t>Impacto </a:t>
            </a:r>
            <a:r>
              <a:rPr sz="1400" b="1" i="0" dirty="0" err="1">
                <a:solidFill>
                  <a:srgbClr val="111827"/>
                </a:solidFill>
                <a:latin typeface="Segoe UI"/>
              </a:rPr>
              <a:t>en</a:t>
            </a:r>
            <a:r>
              <a:rPr sz="1400" b="1" i="0" dirty="0">
                <a:solidFill>
                  <a:srgbClr val="111827"/>
                </a:solidFill>
                <a:latin typeface="Segoe UI"/>
              </a:rPr>
              <a:t> </a:t>
            </a:r>
            <a:r>
              <a:rPr sz="1400" b="1" i="0" dirty="0" err="1">
                <a:solidFill>
                  <a:srgbClr val="111827"/>
                </a:solidFill>
                <a:latin typeface="Segoe UI"/>
              </a:rPr>
              <a:t>clasificación</a:t>
            </a:r>
            <a:r>
              <a:rPr sz="1400" b="1" i="0" dirty="0">
                <a:solidFill>
                  <a:srgbClr val="111827"/>
                </a:solidFill>
                <a:latin typeface="Segoe UI"/>
              </a:rPr>
              <a:t> y clustering</a:t>
            </a:r>
          </a:p>
        </p:txBody>
      </p:sp>
      <p:sp>
        <p:nvSpPr>
          <p:cNvPr id="12" name="Rectangle 11"/>
          <p:cNvSpPr/>
          <p:nvPr/>
        </p:nvSpPr>
        <p:spPr>
          <a:xfrm>
            <a:off x="552338" y="4636008"/>
            <a:ext cx="3200400" cy="420624"/>
          </a:xfrm>
          <a:prstGeom prst="rect">
            <a:avLst/>
          </a:prstGeom>
          <a:solidFill>
            <a:srgbClr val="0F172A"/>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07202" y="4681728"/>
            <a:ext cx="3127248" cy="384048"/>
          </a:xfrm>
          <a:prstGeom prst="rect">
            <a:avLst/>
          </a:prstGeom>
          <a:noFill/>
        </p:spPr>
        <p:txBody>
          <a:bodyPr wrap="square">
            <a:spAutoFit/>
          </a:bodyPr>
          <a:lstStyle/>
          <a:p>
            <a:pPr algn="l"/>
            <a:r>
              <a:rPr sz="1000" b="1" i="0">
                <a:solidFill>
                  <a:srgbClr val="FFFFFF"/>
                </a:solidFill>
                <a:latin typeface="Segoe UI"/>
              </a:rPr>
              <a:t>Experimento</a:t>
            </a:r>
          </a:p>
        </p:txBody>
      </p:sp>
      <p:sp>
        <p:nvSpPr>
          <p:cNvPr id="14" name="Rectangle 13"/>
          <p:cNvSpPr/>
          <p:nvPr/>
        </p:nvSpPr>
        <p:spPr>
          <a:xfrm>
            <a:off x="3752738" y="4636008"/>
            <a:ext cx="914400" cy="420624"/>
          </a:xfrm>
          <a:prstGeom prst="rect">
            <a:avLst/>
          </a:prstGeom>
          <a:solidFill>
            <a:srgbClr val="0F172A"/>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807602" y="4681728"/>
            <a:ext cx="841248" cy="384048"/>
          </a:xfrm>
          <a:prstGeom prst="rect">
            <a:avLst/>
          </a:prstGeom>
          <a:noFill/>
        </p:spPr>
        <p:txBody>
          <a:bodyPr wrap="square">
            <a:spAutoFit/>
          </a:bodyPr>
          <a:lstStyle/>
          <a:p>
            <a:pPr algn="ctr"/>
            <a:r>
              <a:rPr sz="1000" b="1" i="0">
                <a:solidFill>
                  <a:srgbClr val="FFFFFF"/>
                </a:solidFill>
                <a:latin typeface="Segoe UI"/>
              </a:rPr>
              <a:t>F1 macro</a:t>
            </a:r>
          </a:p>
        </p:txBody>
      </p:sp>
      <p:sp>
        <p:nvSpPr>
          <p:cNvPr id="16" name="Rectangle 15"/>
          <p:cNvSpPr/>
          <p:nvPr/>
        </p:nvSpPr>
        <p:spPr>
          <a:xfrm>
            <a:off x="4667138" y="4636008"/>
            <a:ext cx="868680" cy="420624"/>
          </a:xfrm>
          <a:prstGeom prst="rect">
            <a:avLst/>
          </a:prstGeom>
          <a:solidFill>
            <a:srgbClr val="0F172A"/>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722002" y="4681728"/>
            <a:ext cx="795528" cy="384048"/>
          </a:xfrm>
          <a:prstGeom prst="rect">
            <a:avLst/>
          </a:prstGeom>
          <a:noFill/>
        </p:spPr>
        <p:txBody>
          <a:bodyPr wrap="square">
            <a:spAutoFit/>
          </a:bodyPr>
          <a:lstStyle/>
          <a:p>
            <a:pPr algn="ctr"/>
            <a:r>
              <a:rPr sz="1000" b="1" i="0">
                <a:solidFill>
                  <a:srgbClr val="FFFFFF"/>
                </a:solidFill>
                <a:latin typeface="Segoe UI"/>
              </a:rPr>
              <a:t>Silhouette</a:t>
            </a:r>
          </a:p>
        </p:txBody>
      </p:sp>
      <p:sp>
        <p:nvSpPr>
          <p:cNvPr id="18" name="Rectangle 17"/>
          <p:cNvSpPr/>
          <p:nvPr/>
        </p:nvSpPr>
        <p:spPr>
          <a:xfrm>
            <a:off x="5535818" y="4636008"/>
            <a:ext cx="1005840" cy="420624"/>
          </a:xfrm>
          <a:prstGeom prst="rect">
            <a:avLst/>
          </a:prstGeom>
          <a:solidFill>
            <a:srgbClr val="0F172A"/>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590682" y="4681728"/>
            <a:ext cx="932688" cy="384048"/>
          </a:xfrm>
          <a:prstGeom prst="rect">
            <a:avLst/>
          </a:prstGeom>
          <a:noFill/>
        </p:spPr>
        <p:txBody>
          <a:bodyPr wrap="square">
            <a:spAutoFit/>
          </a:bodyPr>
          <a:lstStyle/>
          <a:p>
            <a:pPr algn="ctr"/>
            <a:r>
              <a:rPr sz="1000" b="1" i="0">
                <a:solidFill>
                  <a:srgbClr val="FFFFFF"/>
                </a:solidFill>
                <a:latin typeface="Segoe UI"/>
              </a:rPr>
              <a:t>Resultado</a:t>
            </a:r>
          </a:p>
        </p:txBody>
      </p:sp>
      <p:sp>
        <p:nvSpPr>
          <p:cNvPr id="20" name="Rectangle 19"/>
          <p:cNvSpPr/>
          <p:nvPr/>
        </p:nvSpPr>
        <p:spPr>
          <a:xfrm>
            <a:off x="552338" y="5056632"/>
            <a:ext cx="3200400" cy="42062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07202" y="5102352"/>
            <a:ext cx="3127248" cy="384048"/>
          </a:xfrm>
          <a:prstGeom prst="rect">
            <a:avLst/>
          </a:prstGeom>
          <a:noFill/>
        </p:spPr>
        <p:txBody>
          <a:bodyPr wrap="square">
            <a:spAutoFit/>
          </a:bodyPr>
          <a:lstStyle/>
          <a:p>
            <a:pPr algn="l"/>
            <a:r>
              <a:rPr sz="1000" b="0" i="0">
                <a:solidFill>
                  <a:srgbClr val="111827"/>
                </a:solidFill>
                <a:latin typeface="Segoe UI"/>
              </a:rPr>
              <a:t>Base (RF, sin reducción)</a:t>
            </a:r>
          </a:p>
        </p:txBody>
      </p:sp>
      <p:sp>
        <p:nvSpPr>
          <p:cNvPr id="22" name="Rectangle 21"/>
          <p:cNvSpPr/>
          <p:nvPr/>
        </p:nvSpPr>
        <p:spPr>
          <a:xfrm>
            <a:off x="3752738" y="5056632"/>
            <a:ext cx="914400" cy="42062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807602" y="5102352"/>
            <a:ext cx="841248" cy="384048"/>
          </a:xfrm>
          <a:prstGeom prst="rect">
            <a:avLst/>
          </a:prstGeom>
          <a:noFill/>
        </p:spPr>
        <p:txBody>
          <a:bodyPr wrap="square">
            <a:spAutoFit/>
          </a:bodyPr>
          <a:lstStyle/>
          <a:p>
            <a:pPr algn="ctr"/>
            <a:r>
              <a:rPr sz="1000" b="0" i="0">
                <a:solidFill>
                  <a:srgbClr val="111827"/>
                </a:solidFill>
                <a:latin typeface="Segoe UI"/>
              </a:rPr>
              <a:t>0.9637</a:t>
            </a:r>
          </a:p>
        </p:txBody>
      </p:sp>
      <p:sp>
        <p:nvSpPr>
          <p:cNvPr id="24" name="Rectangle 23"/>
          <p:cNvSpPr/>
          <p:nvPr/>
        </p:nvSpPr>
        <p:spPr>
          <a:xfrm>
            <a:off x="4667138" y="5056632"/>
            <a:ext cx="868680" cy="42062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722002" y="5102352"/>
            <a:ext cx="795528" cy="384048"/>
          </a:xfrm>
          <a:prstGeom prst="rect">
            <a:avLst/>
          </a:prstGeom>
          <a:noFill/>
        </p:spPr>
        <p:txBody>
          <a:bodyPr wrap="square">
            <a:spAutoFit/>
          </a:bodyPr>
          <a:lstStyle/>
          <a:p>
            <a:pPr algn="ctr"/>
            <a:r>
              <a:rPr sz="1000" b="0" i="0">
                <a:solidFill>
                  <a:srgbClr val="111827"/>
                </a:solidFill>
                <a:latin typeface="Segoe UI"/>
              </a:rPr>
              <a:t>0.1473</a:t>
            </a:r>
          </a:p>
        </p:txBody>
      </p:sp>
      <p:sp>
        <p:nvSpPr>
          <p:cNvPr id="26" name="Rectangle 25"/>
          <p:cNvSpPr/>
          <p:nvPr/>
        </p:nvSpPr>
        <p:spPr>
          <a:xfrm>
            <a:off x="5535818" y="5056632"/>
            <a:ext cx="1005840" cy="42062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590682" y="5102352"/>
            <a:ext cx="932688" cy="384048"/>
          </a:xfrm>
          <a:prstGeom prst="rect">
            <a:avLst/>
          </a:prstGeom>
          <a:noFill/>
        </p:spPr>
        <p:txBody>
          <a:bodyPr wrap="square">
            <a:spAutoFit/>
          </a:bodyPr>
          <a:lstStyle/>
          <a:p>
            <a:pPr algn="ctr"/>
            <a:r>
              <a:rPr sz="1000" b="0" i="0">
                <a:solidFill>
                  <a:srgbClr val="111827"/>
                </a:solidFill>
                <a:latin typeface="Segoe UI"/>
              </a:rPr>
              <a:t>Referencia</a:t>
            </a:r>
          </a:p>
        </p:txBody>
      </p:sp>
      <p:sp>
        <p:nvSpPr>
          <p:cNvPr id="28" name="Rectangle 27"/>
          <p:cNvSpPr/>
          <p:nvPr/>
        </p:nvSpPr>
        <p:spPr>
          <a:xfrm>
            <a:off x="552338" y="5477256"/>
            <a:ext cx="3200400" cy="420624"/>
          </a:xfrm>
          <a:prstGeom prst="rect">
            <a:avLst/>
          </a:prstGeom>
          <a:solidFill>
            <a:srgbClr val="DCFCE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07202" y="5522976"/>
            <a:ext cx="3127248" cy="384048"/>
          </a:xfrm>
          <a:prstGeom prst="rect">
            <a:avLst/>
          </a:prstGeom>
          <a:noFill/>
        </p:spPr>
        <p:txBody>
          <a:bodyPr wrap="square">
            <a:spAutoFit/>
          </a:bodyPr>
          <a:lstStyle/>
          <a:p>
            <a:pPr algn="l"/>
            <a:r>
              <a:rPr sz="1000" b="1" i="0">
                <a:solidFill>
                  <a:srgbClr val="16A34A"/>
                </a:solidFill>
                <a:latin typeface="Segoe UI"/>
              </a:rPr>
              <a:t>PCA (14c, 95% var.)</a:t>
            </a:r>
          </a:p>
        </p:txBody>
      </p:sp>
      <p:sp>
        <p:nvSpPr>
          <p:cNvPr id="30" name="Rectangle 29"/>
          <p:cNvSpPr/>
          <p:nvPr/>
        </p:nvSpPr>
        <p:spPr>
          <a:xfrm>
            <a:off x="3752738" y="5477256"/>
            <a:ext cx="914400" cy="420624"/>
          </a:xfrm>
          <a:prstGeom prst="rect">
            <a:avLst/>
          </a:prstGeom>
          <a:solidFill>
            <a:srgbClr val="DCFCE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807602" y="5522976"/>
            <a:ext cx="841248" cy="384048"/>
          </a:xfrm>
          <a:prstGeom prst="rect">
            <a:avLst/>
          </a:prstGeom>
          <a:noFill/>
        </p:spPr>
        <p:txBody>
          <a:bodyPr wrap="square">
            <a:spAutoFit/>
          </a:bodyPr>
          <a:lstStyle/>
          <a:p>
            <a:pPr algn="ctr"/>
            <a:r>
              <a:rPr sz="1000" b="1" i="0">
                <a:solidFill>
                  <a:srgbClr val="16A34A"/>
                </a:solidFill>
                <a:latin typeface="Segoe UI"/>
              </a:rPr>
              <a:t>0.8410</a:t>
            </a:r>
          </a:p>
        </p:txBody>
      </p:sp>
      <p:sp>
        <p:nvSpPr>
          <p:cNvPr id="32" name="Rectangle 31"/>
          <p:cNvSpPr/>
          <p:nvPr/>
        </p:nvSpPr>
        <p:spPr>
          <a:xfrm>
            <a:off x="4667138" y="5477256"/>
            <a:ext cx="868680" cy="420624"/>
          </a:xfrm>
          <a:prstGeom prst="rect">
            <a:avLst/>
          </a:prstGeom>
          <a:solidFill>
            <a:srgbClr val="DCFCE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722002" y="5522976"/>
            <a:ext cx="795528" cy="384048"/>
          </a:xfrm>
          <a:prstGeom prst="rect">
            <a:avLst/>
          </a:prstGeom>
          <a:noFill/>
        </p:spPr>
        <p:txBody>
          <a:bodyPr wrap="square">
            <a:spAutoFit/>
          </a:bodyPr>
          <a:lstStyle/>
          <a:p>
            <a:pPr algn="ctr"/>
            <a:r>
              <a:rPr sz="1000" b="1" i="0">
                <a:solidFill>
                  <a:srgbClr val="16A34A"/>
                </a:solidFill>
                <a:latin typeface="Segoe UI"/>
              </a:rPr>
              <a:t>0.1721</a:t>
            </a:r>
          </a:p>
        </p:txBody>
      </p:sp>
      <p:sp>
        <p:nvSpPr>
          <p:cNvPr id="34" name="Rectangle 33"/>
          <p:cNvSpPr/>
          <p:nvPr/>
        </p:nvSpPr>
        <p:spPr>
          <a:xfrm>
            <a:off x="5535818" y="5477256"/>
            <a:ext cx="1005840" cy="420624"/>
          </a:xfrm>
          <a:prstGeom prst="rect">
            <a:avLst/>
          </a:prstGeom>
          <a:solidFill>
            <a:srgbClr val="DCFCE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590682" y="5522976"/>
            <a:ext cx="932688" cy="384048"/>
          </a:xfrm>
          <a:prstGeom prst="rect">
            <a:avLst/>
          </a:prstGeom>
          <a:noFill/>
        </p:spPr>
        <p:txBody>
          <a:bodyPr wrap="square">
            <a:spAutoFit/>
          </a:bodyPr>
          <a:lstStyle/>
          <a:p>
            <a:pPr algn="ctr"/>
            <a:r>
              <a:rPr sz="1000" b="1" i="0">
                <a:solidFill>
                  <a:srgbClr val="16A34A"/>
                </a:solidFill>
                <a:latin typeface="Segoe UI"/>
              </a:rPr>
              <a:t>DEGRADA</a:t>
            </a:r>
          </a:p>
        </p:txBody>
      </p:sp>
      <p:sp>
        <p:nvSpPr>
          <p:cNvPr id="36" name="Rectangle 35"/>
          <p:cNvSpPr/>
          <p:nvPr/>
        </p:nvSpPr>
        <p:spPr>
          <a:xfrm>
            <a:off x="552338" y="5897880"/>
            <a:ext cx="3200400" cy="42062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07202" y="5943600"/>
            <a:ext cx="3127248" cy="384048"/>
          </a:xfrm>
          <a:prstGeom prst="rect">
            <a:avLst/>
          </a:prstGeom>
          <a:noFill/>
        </p:spPr>
        <p:txBody>
          <a:bodyPr wrap="square">
            <a:spAutoFit/>
          </a:bodyPr>
          <a:lstStyle/>
          <a:p>
            <a:pPr algn="l"/>
            <a:r>
              <a:rPr sz="1000" b="0" i="0">
                <a:solidFill>
                  <a:srgbClr val="111827"/>
                </a:solidFill>
                <a:latin typeface="Segoe UI"/>
              </a:rPr>
              <a:t>TruncatedSVD (11c, 90% var.)</a:t>
            </a:r>
          </a:p>
        </p:txBody>
      </p:sp>
      <p:sp>
        <p:nvSpPr>
          <p:cNvPr id="38" name="Rectangle 37"/>
          <p:cNvSpPr/>
          <p:nvPr/>
        </p:nvSpPr>
        <p:spPr>
          <a:xfrm>
            <a:off x="3752738" y="5897880"/>
            <a:ext cx="914400" cy="42062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807602" y="5943600"/>
            <a:ext cx="841248" cy="384048"/>
          </a:xfrm>
          <a:prstGeom prst="rect">
            <a:avLst/>
          </a:prstGeom>
          <a:noFill/>
        </p:spPr>
        <p:txBody>
          <a:bodyPr wrap="square">
            <a:spAutoFit/>
          </a:bodyPr>
          <a:lstStyle/>
          <a:p>
            <a:pPr algn="ctr"/>
            <a:r>
              <a:rPr sz="1000" b="0" i="0">
                <a:solidFill>
                  <a:srgbClr val="111827"/>
                </a:solidFill>
                <a:latin typeface="Segoe UI"/>
              </a:rPr>
              <a:t>0.8528</a:t>
            </a:r>
          </a:p>
        </p:txBody>
      </p:sp>
      <p:sp>
        <p:nvSpPr>
          <p:cNvPr id="40" name="Rectangle 39"/>
          <p:cNvSpPr/>
          <p:nvPr/>
        </p:nvSpPr>
        <p:spPr>
          <a:xfrm>
            <a:off x="4667138" y="5897880"/>
            <a:ext cx="868680" cy="42062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722002" y="5943600"/>
            <a:ext cx="795528" cy="384048"/>
          </a:xfrm>
          <a:prstGeom prst="rect">
            <a:avLst/>
          </a:prstGeom>
          <a:noFill/>
        </p:spPr>
        <p:txBody>
          <a:bodyPr wrap="square">
            <a:spAutoFit/>
          </a:bodyPr>
          <a:lstStyle/>
          <a:p>
            <a:pPr algn="ctr"/>
            <a:r>
              <a:rPr sz="1000" b="0" i="0">
                <a:solidFill>
                  <a:srgbClr val="111827"/>
                </a:solidFill>
                <a:latin typeface="Segoe UI"/>
              </a:rPr>
              <a:t>0.0971</a:t>
            </a:r>
          </a:p>
        </p:txBody>
      </p:sp>
      <p:sp>
        <p:nvSpPr>
          <p:cNvPr id="42" name="Rectangle 41"/>
          <p:cNvSpPr/>
          <p:nvPr/>
        </p:nvSpPr>
        <p:spPr>
          <a:xfrm>
            <a:off x="5535818" y="5897880"/>
            <a:ext cx="1005840" cy="42062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590682" y="5943600"/>
            <a:ext cx="932688" cy="384048"/>
          </a:xfrm>
          <a:prstGeom prst="rect">
            <a:avLst/>
          </a:prstGeom>
          <a:noFill/>
        </p:spPr>
        <p:txBody>
          <a:bodyPr wrap="square">
            <a:spAutoFit/>
          </a:bodyPr>
          <a:lstStyle/>
          <a:p>
            <a:pPr algn="ctr"/>
            <a:r>
              <a:rPr sz="1000" b="0" i="0">
                <a:solidFill>
                  <a:srgbClr val="111827"/>
                </a:solidFill>
                <a:latin typeface="Segoe UI"/>
              </a:rPr>
              <a:t>DEGRADA</a:t>
            </a:r>
          </a:p>
        </p:txBody>
      </p:sp>
      <p:sp>
        <p:nvSpPr>
          <p:cNvPr id="44" name="Rounded Rectangle 43"/>
          <p:cNvSpPr/>
          <p:nvPr/>
        </p:nvSpPr>
        <p:spPr>
          <a:xfrm>
            <a:off x="7726679" y="4846320"/>
            <a:ext cx="4069080" cy="1783080"/>
          </a:xfrm>
          <a:prstGeom prst="roundRect">
            <a:avLst>
              <a:gd name="adj" fmla="val 7000"/>
            </a:avLst>
          </a:prstGeom>
          <a:solidFill>
            <a:srgbClr val="FFF7ED"/>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7726679" y="4846320"/>
            <a:ext cx="109728" cy="1783080"/>
          </a:xfrm>
          <a:prstGeom prst="roundRect">
            <a:avLst>
              <a:gd name="adj" fmla="val 7000"/>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019288" y="4983480"/>
            <a:ext cx="3657600" cy="320040"/>
          </a:xfrm>
          <a:prstGeom prst="rect">
            <a:avLst/>
          </a:prstGeom>
          <a:noFill/>
        </p:spPr>
        <p:txBody>
          <a:bodyPr wrap="square">
            <a:spAutoFit/>
          </a:bodyPr>
          <a:lstStyle/>
          <a:p>
            <a:pPr algn="l"/>
            <a:r>
              <a:rPr sz="1300" b="1" i="0">
                <a:solidFill>
                  <a:srgbClr val="F97316"/>
                </a:solidFill>
                <a:latin typeface="Segoe UI"/>
              </a:rPr>
              <a:t>Lectura</a:t>
            </a:r>
          </a:p>
        </p:txBody>
      </p:sp>
      <p:sp>
        <p:nvSpPr>
          <p:cNvPr id="47" name="TextBox 46"/>
          <p:cNvSpPr txBox="1"/>
          <p:nvPr/>
        </p:nvSpPr>
        <p:spPr>
          <a:xfrm>
            <a:off x="8019288" y="5349240"/>
            <a:ext cx="3657600" cy="1188720"/>
          </a:xfrm>
          <a:prstGeom prst="rect">
            <a:avLst/>
          </a:prstGeom>
          <a:noFill/>
        </p:spPr>
        <p:txBody>
          <a:bodyPr wrap="square">
            <a:spAutoFit/>
          </a:bodyPr>
          <a:lstStyle/>
          <a:p>
            <a:pPr algn="l"/>
            <a:r>
              <a:rPr sz="1200" b="0" i="0">
                <a:solidFill>
                  <a:srgbClr val="111827"/>
                </a:solidFill>
                <a:latin typeface="Segoe UI"/>
              </a:rPr>
              <a:t>PCA bajó F1 de 0.9637 a 0.8410 (−0.1227). SVD perdió más: 0.8528. La compresión destruye información discriminativa útil para 7 clases.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11480" y="256032"/>
            <a:ext cx="146304" cy="59436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182880"/>
            <a:ext cx="10881360" cy="830997"/>
          </a:xfrm>
          <a:prstGeom prst="rect">
            <a:avLst/>
          </a:prstGeom>
          <a:noFill/>
        </p:spPr>
        <p:txBody>
          <a:bodyPr wrap="square">
            <a:spAutoFit/>
          </a:bodyPr>
          <a:lstStyle/>
          <a:p>
            <a:pPr algn="l"/>
            <a:r>
              <a:rPr sz="2400" b="1" i="0" dirty="0">
                <a:solidFill>
                  <a:srgbClr val="111827"/>
                </a:solidFill>
                <a:latin typeface="Segoe UI"/>
              </a:rPr>
              <a:t>La </a:t>
            </a:r>
            <a:r>
              <a:rPr sz="2400" b="1" i="0" dirty="0" err="1">
                <a:solidFill>
                  <a:srgbClr val="111827"/>
                </a:solidFill>
                <a:latin typeface="Segoe UI"/>
              </a:rPr>
              <a:t>ingeniería</a:t>
            </a:r>
            <a:r>
              <a:rPr sz="2400" b="1" i="0" dirty="0">
                <a:solidFill>
                  <a:srgbClr val="111827"/>
                </a:solidFill>
                <a:latin typeface="Segoe UI"/>
              </a:rPr>
              <a:t> de </a:t>
            </a:r>
            <a:r>
              <a:rPr sz="2400" b="1" i="0" dirty="0" err="1">
                <a:solidFill>
                  <a:srgbClr val="111827"/>
                </a:solidFill>
                <a:latin typeface="Segoe UI"/>
              </a:rPr>
              <a:t>características</a:t>
            </a:r>
            <a:r>
              <a:rPr sz="2400" b="1" i="0" dirty="0">
                <a:solidFill>
                  <a:srgbClr val="111827"/>
                </a:solidFill>
                <a:latin typeface="Segoe UI"/>
              </a:rPr>
              <a:t> y </a:t>
            </a:r>
            <a:r>
              <a:rPr sz="2400" b="1" i="0" dirty="0" err="1">
                <a:solidFill>
                  <a:srgbClr val="111827"/>
                </a:solidFill>
                <a:latin typeface="Segoe UI"/>
              </a:rPr>
              <a:t>el</a:t>
            </a:r>
            <a:r>
              <a:rPr sz="2400" b="1" i="0" dirty="0">
                <a:solidFill>
                  <a:srgbClr val="111827"/>
                </a:solidFill>
                <a:latin typeface="Segoe UI"/>
              </a:rPr>
              <a:t> tuning </a:t>
            </a:r>
            <a:r>
              <a:rPr sz="2400" b="1" i="0" dirty="0" err="1">
                <a:solidFill>
                  <a:srgbClr val="111827"/>
                </a:solidFill>
                <a:latin typeface="Segoe UI"/>
              </a:rPr>
              <a:t>superaron</a:t>
            </a:r>
            <a:r>
              <a:rPr sz="2400" b="1" i="0" dirty="0">
                <a:solidFill>
                  <a:srgbClr val="111827"/>
                </a:solidFill>
                <a:latin typeface="Segoe UI"/>
              </a:rPr>
              <a:t> la </a:t>
            </a:r>
            <a:r>
              <a:rPr sz="2400" b="1" i="0" dirty="0" err="1">
                <a:solidFill>
                  <a:srgbClr val="111827"/>
                </a:solidFill>
                <a:latin typeface="Segoe UI"/>
              </a:rPr>
              <a:t>reducción</a:t>
            </a:r>
            <a:r>
              <a:rPr sz="2400" b="1" i="0" dirty="0">
                <a:solidFill>
                  <a:srgbClr val="111827"/>
                </a:solidFill>
                <a:latin typeface="Segoe UI"/>
              </a:rPr>
              <a:t> dimensional</a:t>
            </a:r>
          </a:p>
        </p:txBody>
      </p:sp>
      <p:sp>
        <p:nvSpPr>
          <p:cNvPr id="5" name="TextBox 4"/>
          <p:cNvSpPr txBox="1"/>
          <p:nvPr/>
        </p:nvSpPr>
        <p:spPr>
          <a:xfrm>
            <a:off x="2803388" y="707445"/>
            <a:ext cx="10881360" cy="347472"/>
          </a:xfrm>
          <a:prstGeom prst="rect">
            <a:avLst/>
          </a:prstGeom>
          <a:noFill/>
        </p:spPr>
        <p:txBody>
          <a:bodyPr wrap="square">
            <a:spAutoFit/>
          </a:bodyPr>
          <a:lstStyle/>
          <a:p>
            <a:pPr algn="l"/>
            <a:r>
              <a:rPr sz="1400" b="0" i="0" dirty="0" err="1">
                <a:solidFill>
                  <a:srgbClr val="64748B"/>
                </a:solidFill>
                <a:latin typeface="Segoe UI"/>
              </a:rPr>
              <a:t>Comparación</a:t>
            </a:r>
            <a:r>
              <a:rPr sz="1400" b="0" i="0" dirty="0">
                <a:solidFill>
                  <a:srgbClr val="64748B"/>
                </a:solidFill>
                <a:latin typeface="Segoe UI"/>
              </a:rPr>
              <a:t> de </a:t>
            </a:r>
            <a:r>
              <a:rPr sz="1400" b="0" i="0" dirty="0" err="1">
                <a:solidFill>
                  <a:srgbClr val="64748B"/>
                </a:solidFill>
                <a:latin typeface="Segoe UI"/>
              </a:rPr>
              <a:t>iteraciones</a:t>
            </a:r>
            <a:r>
              <a:rPr sz="1400" b="0" i="0" dirty="0">
                <a:solidFill>
                  <a:srgbClr val="64748B"/>
                </a:solidFill>
                <a:latin typeface="Segoe UI"/>
              </a:rPr>
              <a:t> — </a:t>
            </a:r>
            <a:r>
              <a:rPr sz="1400" b="0" i="0" dirty="0" err="1">
                <a:solidFill>
                  <a:srgbClr val="64748B"/>
                </a:solidFill>
                <a:latin typeface="Segoe UI"/>
              </a:rPr>
              <a:t>tabla</a:t>
            </a:r>
            <a:r>
              <a:rPr sz="1400" b="0" i="0" dirty="0">
                <a:solidFill>
                  <a:srgbClr val="64748B"/>
                </a:solidFill>
                <a:latin typeface="Segoe UI"/>
              </a:rPr>
              <a:t> </a:t>
            </a:r>
            <a:r>
              <a:rPr sz="1400" b="0" i="0" dirty="0" err="1">
                <a:solidFill>
                  <a:srgbClr val="64748B"/>
                </a:solidFill>
                <a:latin typeface="Segoe UI"/>
              </a:rPr>
              <a:t>maestra</a:t>
            </a:r>
            <a:r>
              <a:rPr sz="1400" b="0" i="0" dirty="0">
                <a:solidFill>
                  <a:srgbClr val="64748B"/>
                </a:solidFill>
                <a:latin typeface="Segoe UI"/>
              </a:rPr>
              <a:t> y </a:t>
            </a:r>
            <a:r>
              <a:rPr sz="1400" b="0" i="0" dirty="0" err="1">
                <a:solidFill>
                  <a:srgbClr val="64748B"/>
                </a:solidFill>
                <a:latin typeface="Segoe UI"/>
              </a:rPr>
              <a:t>evolución</a:t>
            </a:r>
            <a:r>
              <a:rPr sz="1400" b="0" i="0" dirty="0">
                <a:solidFill>
                  <a:srgbClr val="64748B"/>
                </a:solidFill>
                <a:latin typeface="Segoe UI"/>
              </a:rPr>
              <a:t> del F1 macro</a:t>
            </a:r>
          </a:p>
        </p:txBody>
      </p:sp>
      <p:sp>
        <p:nvSpPr>
          <p:cNvPr id="6" name="Rectangle 5"/>
          <p:cNvSpPr/>
          <p:nvPr/>
        </p:nvSpPr>
        <p:spPr>
          <a:xfrm>
            <a:off x="411480" y="1133856"/>
            <a:ext cx="11365992"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55680" y="6510528"/>
            <a:ext cx="914400" cy="274320"/>
          </a:xfrm>
          <a:prstGeom prst="rect">
            <a:avLst/>
          </a:prstGeom>
          <a:noFill/>
        </p:spPr>
        <p:txBody>
          <a:bodyPr wrap="square">
            <a:spAutoFit/>
          </a:bodyPr>
          <a:lstStyle/>
          <a:p>
            <a:pPr algn="r"/>
            <a:r>
              <a:rPr sz="900" b="0" i="0">
                <a:solidFill>
                  <a:srgbClr val="64748B"/>
                </a:solidFill>
                <a:latin typeface="Segoe UI"/>
              </a:rPr>
              <a:t>15 / 20</a:t>
            </a:r>
          </a:p>
        </p:txBody>
      </p:sp>
      <p:sp>
        <p:nvSpPr>
          <p:cNvPr id="9" name="Rounded Rectangle 8"/>
          <p:cNvSpPr/>
          <p:nvPr/>
        </p:nvSpPr>
        <p:spPr>
          <a:xfrm>
            <a:off x="411480" y="1298448"/>
            <a:ext cx="6858000" cy="3242310"/>
          </a:xfrm>
          <a:prstGeom prst="roundRect">
            <a:avLst>
              <a:gd name="adj" fmla="val 7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18_comparacion_iteraciones.png"/>
          <p:cNvPicPr>
            <a:picLocks noChangeAspect="1"/>
          </p:cNvPicPr>
          <p:nvPr/>
        </p:nvPicPr>
        <p:blipFill>
          <a:blip r:embed="rId2"/>
          <a:stretch>
            <a:fillRect/>
          </a:stretch>
        </p:blipFill>
        <p:spPr>
          <a:xfrm>
            <a:off x="502920" y="1389888"/>
            <a:ext cx="6675120" cy="3059430"/>
          </a:xfrm>
          <a:prstGeom prst="rect">
            <a:avLst/>
          </a:prstGeom>
        </p:spPr>
      </p:pic>
      <p:sp>
        <p:nvSpPr>
          <p:cNvPr id="10" name="TextBox 9"/>
          <p:cNvSpPr txBox="1"/>
          <p:nvPr/>
        </p:nvSpPr>
        <p:spPr>
          <a:xfrm>
            <a:off x="7498079" y="1298448"/>
            <a:ext cx="4297680" cy="347472"/>
          </a:xfrm>
          <a:prstGeom prst="rect">
            <a:avLst/>
          </a:prstGeom>
          <a:noFill/>
        </p:spPr>
        <p:txBody>
          <a:bodyPr wrap="square">
            <a:spAutoFit/>
          </a:bodyPr>
          <a:lstStyle/>
          <a:p>
            <a:pPr algn="l"/>
            <a:r>
              <a:rPr sz="1400" b="1" i="0">
                <a:solidFill>
                  <a:srgbClr val="111827"/>
                </a:solidFill>
                <a:latin typeface="Segoe UI"/>
              </a:rPr>
              <a:t>Tabla maestra de iteraciones</a:t>
            </a:r>
          </a:p>
        </p:txBody>
      </p:sp>
      <p:sp>
        <p:nvSpPr>
          <p:cNvPr id="11" name="Rectangle 10"/>
          <p:cNvSpPr/>
          <p:nvPr/>
        </p:nvSpPr>
        <p:spPr>
          <a:xfrm>
            <a:off x="7498079" y="1719072"/>
            <a:ext cx="594360" cy="420624"/>
          </a:xfrm>
          <a:prstGeom prst="rect">
            <a:avLst/>
          </a:prstGeom>
          <a:solidFill>
            <a:srgbClr val="0F172A"/>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552943" y="1764792"/>
            <a:ext cx="521208" cy="384048"/>
          </a:xfrm>
          <a:prstGeom prst="rect">
            <a:avLst/>
          </a:prstGeom>
          <a:noFill/>
        </p:spPr>
        <p:txBody>
          <a:bodyPr wrap="square">
            <a:spAutoFit/>
          </a:bodyPr>
          <a:lstStyle/>
          <a:p>
            <a:pPr algn="l"/>
            <a:r>
              <a:rPr sz="900" b="1" i="0">
                <a:solidFill>
                  <a:srgbClr val="FFFFFF"/>
                </a:solidFill>
                <a:latin typeface="Segoe UI"/>
              </a:rPr>
              <a:t>It.</a:t>
            </a:r>
          </a:p>
        </p:txBody>
      </p:sp>
      <p:sp>
        <p:nvSpPr>
          <p:cNvPr id="13" name="Rectangle 12"/>
          <p:cNvSpPr/>
          <p:nvPr/>
        </p:nvSpPr>
        <p:spPr>
          <a:xfrm>
            <a:off x="8092440" y="1719072"/>
            <a:ext cx="2926080" cy="420624"/>
          </a:xfrm>
          <a:prstGeom prst="rect">
            <a:avLst/>
          </a:prstGeom>
          <a:solidFill>
            <a:srgbClr val="0F172A"/>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47304" y="1764792"/>
            <a:ext cx="2852928" cy="384048"/>
          </a:xfrm>
          <a:prstGeom prst="rect">
            <a:avLst/>
          </a:prstGeom>
          <a:noFill/>
        </p:spPr>
        <p:txBody>
          <a:bodyPr wrap="square">
            <a:spAutoFit/>
          </a:bodyPr>
          <a:lstStyle/>
          <a:p>
            <a:pPr algn="ctr"/>
            <a:r>
              <a:rPr sz="900" b="1" i="0">
                <a:solidFill>
                  <a:srgbClr val="FFFFFF"/>
                </a:solidFill>
                <a:latin typeface="Segoe UI"/>
              </a:rPr>
              <a:t>Experimento</a:t>
            </a:r>
          </a:p>
        </p:txBody>
      </p:sp>
      <p:sp>
        <p:nvSpPr>
          <p:cNvPr id="15" name="Rectangle 14"/>
          <p:cNvSpPr/>
          <p:nvPr/>
        </p:nvSpPr>
        <p:spPr>
          <a:xfrm>
            <a:off x="11018520" y="1719072"/>
            <a:ext cx="777240" cy="420624"/>
          </a:xfrm>
          <a:prstGeom prst="rect">
            <a:avLst/>
          </a:prstGeom>
          <a:solidFill>
            <a:srgbClr val="0F172A"/>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073384" y="1764792"/>
            <a:ext cx="704088" cy="384048"/>
          </a:xfrm>
          <a:prstGeom prst="rect">
            <a:avLst/>
          </a:prstGeom>
          <a:noFill/>
        </p:spPr>
        <p:txBody>
          <a:bodyPr wrap="square">
            <a:spAutoFit/>
          </a:bodyPr>
          <a:lstStyle/>
          <a:p>
            <a:pPr algn="ctr"/>
            <a:r>
              <a:rPr sz="900" b="1" i="0">
                <a:solidFill>
                  <a:srgbClr val="FFFFFF"/>
                </a:solidFill>
                <a:latin typeface="Segoe UI"/>
              </a:rPr>
              <a:t>F1 macro</a:t>
            </a:r>
          </a:p>
        </p:txBody>
      </p:sp>
      <p:sp>
        <p:nvSpPr>
          <p:cNvPr id="17" name="Rectangle 16"/>
          <p:cNvSpPr/>
          <p:nvPr/>
        </p:nvSpPr>
        <p:spPr>
          <a:xfrm>
            <a:off x="7498079" y="2139696"/>
            <a:ext cx="594360" cy="42062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552943" y="2185416"/>
            <a:ext cx="521208" cy="384048"/>
          </a:xfrm>
          <a:prstGeom prst="rect">
            <a:avLst/>
          </a:prstGeom>
          <a:noFill/>
        </p:spPr>
        <p:txBody>
          <a:bodyPr wrap="square">
            <a:spAutoFit/>
          </a:bodyPr>
          <a:lstStyle/>
          <a:p>
            <a:pPr algn="l"/>
            <a:r>
              <a:rPr sz="900" b="0" i="0">
                <a:solidFill>
                  <a:srgbClr val="111827"/>
                </a:solidFill>
                <a:latin typeface="Segoe UI"/>
              </a:rPr>
              <a:t>1</a:t>
            </a:r>
          </a:p>
        </p:txBody>
      </p:sp>
      <p:sp>
        <p:nvSpPr>
          <p:cNvPr id="19" name="Rectangle 18"/>
          <p:cNvSpPr/>
          <p:nvPr/>
        </p:nvSpPr>
        <p:spPr>
          <a:xfrm>
            <a:off x="8092440" y="2139696"/>
            <a:ext cx="2926080" cy="42062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147304" y="2185416"/>
            <a:ext cx="2852928" cy="384048"/>
          </a:xfrm>
          <a:prstGeom prst="rect">
            <a:avLst/>
          </a:prstGeom>
          <a:noFill/>
        </p:spPr>
        <p:txBody>
          <a:bodyPr wrap="square">
            <a:spAutoFit/>
          </a:bodyPr>
          <a:lstStyle/>
          <a:p>
            <a:pPr algn="ctr"/>
            <a:r>
              <a:rPr sz="900" b="0" i="0">
                <a:solidFill>
                  <a:srgbClr val="111827"/>
                </a:solidFill>
                <a:latin typeface="Segoe UI"/>
              </a:rPr>
              <a:t>Base (XGBoost)</a:t>
            </a:r>
          </a:p>
        </p:txBody>
      </p:sp>
      <p:sp>
        <p:nvSpPr>
          <p:cNvPr id="21" name="Rectangle 20"/>
          <p:cNvSpPr/>
          <p:nvPr/>
        </p:nvSpPr>
        <p:spPr>
          <a:xfrm>
            <a:off x="11018520" y="2139696"/>
            <a:ext cx="777240" cy="42062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1073384" y="2185416"/>
            <a:ext cx="704088" cy="384048"/>
          </a:xfrm>
          <a:prstGeom prst="rect">
            <a:avLst/>
          </a:prstGeom>
          <a:noFill/>
        </p:spPr>
        <p:txBody>
          <a:bodyPr wrap="square">
            <a:spAutoFit/>
          </a:bodyPr>
          <a:lstStyle/>
          <a:p>
            <a:pPr algn="ctr"/>
            <a:r>
              <a:rPr sz="900" b="0" i="0">
                <a:solidFill>
                  <a:srgbClr val="111827"/>
                </a:solidFill>
                <a:latin typeface="Segoe UI"/>
              </a:rPr>
              <a:t>0.9637</a:t>
            </a:r>
          </a:p>
        </p:txBody>
      </p:sp>
      <p:sp>
        <p:nvSpPr>
          <p:cNvPr id="23" name="Rectangle 22"/>
          <p:cNvSpPr/>
          <p:nvPr/>
        </p:nvSpPr>
        <p:spPr>
          <a:xfrm>
            <a:off x="7498079" y="2560320"/>
            <a:ext cx="594360" cy="420624"/>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552943" y="2606040"/>
            <a:ext cx="521208" cy="384048"/>
          </a:xfrm>
          <a:prstGeom prst="rect">
            <a:avLst/>
          </a:prstGeom>
          <a:noFill/>
        </p:spPr>
        <p:txBody>
          <a:bodyPr wrap="square">
            <a:spAutoFit/>
          </a:bodyPr>
          <a:lstStyle/>
          <a:p>
            <a:pPr algn="l"/>
            <a:r>
              <a:rPr sz="900" b="0" i="0">
                <a:solidFill>
                  <a:srgbClr val="111827"/>
                </a:solidFill>
                <a:latin typeface="Segoe UI"/>
              </a:rPr>
              <a:t>2</a:t>
            </a:r>
          </a:p>
        </p:txBody>
      </p:sp>
      <p:sp>
        <p:nvSpPr>
          <p:cNvPr id="25" name="Rectangle 24"/>
          <p:cNvSpPr/>
          <p:nvPr/>
        </p:nvSpPr>
        <p:spPr>
          <a:xfrm>
            <a:off x="8092440" y="2560320"/>
            <a:ext cx="2926080" cy="420624"/>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147304" y="2606040"/>
            <a:ext cx="2852928" cy="384048"/>
          </a:xfrm>
          <a:prstGeom prst="rect">
            <a:avLst/>
          </a:prstGeom>
          <a:noFill/>
        </p:spPr>
        <p:txBody>
          <a:bodyPr wrap="square">
            <a:spAutoFit/>
          </a:bodyPr>
          <a:lstStyle/>
          <a:p>
            <a:pPr algn="ctr"/>
            <a:r>
              <a:rPr sz="900" b="0" i="0">
                <a:solidFill>
                  <a:srgbClr val="111827"/>
                </a:solidFill>
                <a:latin typeface="Segoe UI"/>
              </a:rPr>
              <a:t>PCA (14 comps)</a:t>
            </a:r>
          </a:p>
        </p:txBody>
      </p:sp>
      <p:sp>
        <p:nvSpPr>
          <p:cNvPr id="27" name="Rectangle 26"/>
          <p:cNvSpPr/>
          <p:nvPr/>
        </p:nvSpPr>
        <p:spPr>
          <a:xfrm>
            <a:off x="11018520" y="2560320"/>
            <a:ext cx="777240" cy="420624"/>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1073384" y="2606040"/>
            <a:ext cx="704088" cy="384048"/>
          </a:xfrm>
          <a:prstGeom prst="rect">
            <a:avLst/>
          </a:prstGeom>
          <a:noFill/>
        </p:spPr>
        <p:txBody>
          <a:bodyPr wrap="square">
            <a:spAutoFit/>
          </a:bodyPr>
          <a:lstStyle/>
          <a:p>
            <a:pPr algn="ctr"/>
            <a:r>
              <a:rPr sz="900" b="0" i="0">
                <a:solidFill>
                  <a:srgbClr val="111827"/>
                </a:solidFill>
                <a:latin typeface="Segoe UI"/>
              </a:rPr>
              <a:t>0.8410</a:t>
            </a:r>
          </a:p>
        </p:txBody>
      </p:sp>
      <p:sp>
        <p:nvSpPr>
          <p:cNvPr id="29" name="Rectangle 28"/>
          <p:cNvSpPr/>
          <p:nvPr/>
        </p:nvSpPr>
        <p:spPr>
          <a:xfrm>
            <a:off x="7498079" y="2980944"/>
            <a:ext cx="594360" cy="42062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552943" y="3026664"/>
            <a:ext cx="521208" cy="384048"/>
          </a:xfrm>
          <a:prstGeom prst="rect">
            <a:avLst/>
          </a:prstGeom>
          <a:noFill/>
        </p:spPr>
        <p:txBody>
          <a:bodyPr wrap="square">
            <a:spAutoFit/>
          </a:bodyPr>
          <a:lstStyle/>
          <a:p>
            <a:pPr algn="l"/>
            <a:r>
              <a:rPr sz="900" b="0" i="0">
                <a:solidFill>
                  <a:srgbClr val="111827"/>
                </a:solidFill>
                <a:latin typeface="Segoe UI"/>
              </a:rPr>
              <a:t>2</a:t>
            </a:r>
          </a:p>
        </p:txBody>
      </p:sp>
      <p:sp>
        <p:nvSpPr>
          <p:cNvPr id="31" name="Rectangle 30"/>
          <p:cNvSpPr/>
          <p:nvPr/>
        </p:nvSpPr>
        <p:spPr>
          <a:xfrm>
            <a:off x="8092440" y="2980944"/>
            <a:ext cx="2926080" cy="42062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147304" y="3026664"/>
            <a:ext cx="2852928" cy="384048"/>
          </a:xfrm>
          <a:prstGeom prst="rect">
            <a:avLst/>
          </a:prstGeom>
          <a:noFill/>
        </p:spPr>
        <p:txBody>
          <a:bodyPr wrap="square">
            <a:spAutoFit/>
          </a:bodyPr>
          <a:lstStyle/>
          <a:p>
            <a:pPr algn="ctr"/>
            <a:r>
              <a:rPr sz="900" b="0" i="0">
                <a:solidFill>
                  <a:srgbClr val="111827"/>
                </a:solidFill>
                <a:latin typeface="Segoe UI"/>
              </a:rPr>
              <a:t>TruncatedSVD (11 comps)</a:t>
            </a:r>
          </a:p>
        </p:txBody>
      </p:sp>
      <p:sp>
        <p:nvSpPr>
          <p:cNvPr id="33" name="Rectangle 32"/>
          <p:cNvSpPr/>
          <p:nvPr/>
        </p:nvSpPr>
        <p:spPr>
          <a:xfrm>
            <a:off x="11018520" y="2980944"/>
            <a:ext cx="777240" cy="42062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1073384" y="3026664"/>
            <a:ext cx="704088" cy="384048"/>
          </a:xfrm>
          <a:prstGeom prst="rect">
            <a:avLst/>
          </a:prstGeom>
          <a:noFill/>
        </p:spPr>
        <p:txBody>
          <a:bodyPr wrap="square">
            <a:spAutoFit/>
          </a:bodyPr>
          <a:lstStyle/>
          <a:p>
            <a:pPr algn="ctr"/>
            <a:r>
              <a:rPr sz="900" b="0" i="0">
                <a:solidFill>
                  <a:srgbClr val="111827"/>
                </a:solidFill>
                <a:latin typeface="Segoe UI"/>
              </a:rPr>
              <a:t>0.8528</a:t>
            </a:r>
          </a:p>
        </p:txBody>
      </p:sp>
      <p:sp>
        <p:nvSpPr>
          <p:cNvPr id="35" name="Rectangle 34"/>
          <p:cNvSpPr/>
          <p:nvPr/>
        </p:nvSpPr>
        <p:spPr>
          <a:xfrm>
            <a:off x="7498079" y="3401568"/>
            <a:ext cx="594360" cy="420624"/>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552943" y="3447288"/>
            <a:ext cx="521208" cy="384048"/>
          </a:xfrm>
          <a:prstGeom prst="rect">
            <a:avLst/>
          </a:prstGeom>
          <a:noFill/>
        </p:spPr>
        <p:txBody>
          <a:bodyPr wrap="square">
            <a:spAutoFit/>
          </a:bodyPr>
          <a:lstStyle/>
          <a:p>
            <a:pPr algn="l"/>
            <a:r>
              <a:rPr sz="900" b="0" i="0">
                <a:solidFill>
                  <a:srgbClr val="111827"/>
                </a:solidFill>
                <a:latin typeface="Segoe UI"/>
              </a:rPr>
              <a:t>2</a:t>
            </a:r>
          </a:p>
        </p:txBody>
      </p:sp>
      <p:sp>
        <p:nvSpPr>
          <p:cNvPr id="37" name="Rectangle 36"/>
          <p:cNvSpPr/>
          <p:nvPr/>
        </p:nvSpPr>
        <p:spPr>
          <a:xfrm>
            <a:off x="8092440" y="3401568"/>
            <a:ext cx="2926080" cy="420624"/>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147304" y="3447288"/>
            <a:ext cx="2852928" cy="384048"/>
          </a:xfrm>
          <a:prstGeom prst="rect">
            <a:avLst/>
          </a:prstGeom>
          <a:noFill/>
        </p:spPr>
        <p:txBody>
          <a:bodyPr wrap="square">
            <a:spAutoFit/>
          </a:bodyPr>
          <a:lstStyle/>
          <a:p>
            <a:pPr algn="ctr"/>
            <a:r>
              <a:rPr sz="900" b="0" i="0">
                <a:solidFill>
                  <a:srgbClr val="111827"/>
                </a:solidFill>
                <a:latin typeface="Segoe UI"/>
              </a:rPr>
              <a:t>Feature Engineering inicial (+5 attrs)</a:t>
            </a:r>
          </a:p>
        </p:txBody>
      </p:sp>
      <p:sp>
        <p:nvSpPr>
          <p:cNvPr id="39" name="Rectangle 38"/>
          <p:cNvSpPr/>
          <p:nvPr/>
        </p:nvSpPr>
        <p:spPr>
          <a:xfrm>
            <a:off x="11018520" y="3401568"/>
            <a:ext cx="777240" cy="420624"/>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1073384" y="3447288"/>
            <a:ext cx="704088" cy="384048"/>
          </a:xfrm>
          <a:prstGeom prst="rect">
            <a:avLst/>
          </a:prstGeom>
          <a:noFill/>
        </p:spPr>
        <p:txBody>
          <a:bodyPr wrap="square">
            <a:spAutoFit/>
          </a:bodyPr>
          <a:lstStyle/>
          <a:p>
            <a:pPr algn="ctr"/>
            <a:r>
              <a:rPr sz="900" b="0" i="0">
                <a:solidFill>
                  <a:srgbClr val="111827"/>
                </a:solidFill>
                <a:latin typeface="Segoe UI"/>
              </a:rPr>
              <a:t>0.9834</a:t>
            </a:r>
          </a:p>
        </p:txBody>
      </p:sp>
      <p:sp>
        <p:nvSpPr>
          <p:cNvPr id="41" name="Rectangle 40"/>
          <p:cNvSpPr/>
          <p:nvPr/>
        </p:nvSpPr>
        <p:spPr>
          <a:xfrm>
            <a:off x="7498079" y="3822192"/>
            <a:ext cx="594360" cy="42062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552943" y="3867912"/>
            <a:ext cx="521208" cy="384048"/>
          </a:xfrm>
          <a:prstGeom prst="rect">
            <a:avLst/>
          </a:prstGeom>
          <a:noFill/>
        </p:spPr>
        <p:txBody>
          <a:bodyPr wrap="square">
            <a:spAutoFit/>
          </a:bodyPr>
          <a:lstStyle/>
          <a:p>
            <a:pPr algn="l"/>
            <a:r>
              <a:rPr sz="900" b="0" i="0">
                <a:solidFill>
                  <a:srgbClr val="111827"/>
                </a:solidFill>
                <a:latin typeface="Segoe UI"/>
              </a:rPr>
              <a:t>3</a:t>
            </a:r>
          </a:p>
        </p:txBody>
      </p:sp>
      <p:sp>
        <p:nvSpPr>
          <p:cNvPr id="43" name="Rectangle 42"/>
          <p:cNvSpPr/>
          <p:nvPr/>
        </p:nvSpPr>
        <p:spPr>
          <a:xfrm>
            <a:off x="8092440" y="3822192"/>
            <a:ext cx="2926080" cy="42062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147304" y="3867912"/>
            <a:ext cx="2852928" cy="384048"/>
          </a:xfrm>
          <a:prstGeom prst="rect">
            <a:avLst/>
          </a:prstGeom>
          <a:noFill/>
        </p:spPr>
        <p:txBody>
          <a:bodyPr wrap="square">
            <a:spAutoFit/>
          </a:bodyPr>
          <a:lstStyle/>
          <a:p>
            <a:pPr algn="ctr"/>
            <a:r>
              <a:rPr sz="900" b="0" i="0">
                <a:solidFill>
                  <a:srgbClr val="111827"/>
                </a:solidFill>
                <a:latin typeface="Segoe UI"/>
              </a:rPr>
              <a:t>Ordinal semántico (CAEC, CALC)</a:t>
            </a:r>
          </a:p>
        </p:txBody>
      </p:sp>
      <p:sp>
        <p:nvSpPr>
          <p:cNvPr id="45" name="Rectangle 44"/>
          <p:cNvSpPr/>
          <p:nvPr/>
        </p:nvSpPr>
        <p:spPr>
          <a:xfrm>
            <a:off x="11018520" y="3822192"/>
            <a:ext cx="777240" cy="42062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1073384" y="3867912"/>
            <a:ext cx="704088" cy="384048"/>
          </a:xfrm>
          <a:prstGeom prst="rect">
            <a:avLst/>
          </a:prstGeom>
          <a:noFill/>
        </p:spPr>
        <p:txBody>
          <a:bodyPr wrap="square">
            <a:spAutoFit/>
          </a:bodyPr>
          <a:lstStyle/>
          <a:p>
            <a:pPr algn="ctr"/>
            <a:r>
              <a:rPr sz="900" b="0" i="0">
                <a:solidFill>
                  <a:srgbClr val="111827"/>
                </a:solidFill>
                <a:latin typeface="Segoe UI"/>
              </a:rPr>
              <a:t>0.9637</a:t>
            </a:r>
          </a:p>
        </p:txBody>
      </p:sp>
      <p:sp>
        <p:nvSpPr>
          <p:cNvPr id="47" name="Rectangle 46"/>
          <p:cNvSpPr/>
          <p:nvPr/>
        </p:nvSpPr>
        <p:spPr>
          <a:xfrm>
            <a:off x="7498079" y="4242816"/>
            <a:ext cx="594360" cy="420624"/>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552943" y="4288536"/>
            <a:ext cx="521208" cy="384048"/>
          </a:xfrm>
          <a:prstGeom prst="rect">
            <a:avLst/>
          </a:prstGeom>
          <a:noFill/>
        </p:spPr>
        <p:txBody>
          <a:bodyPr wrap="square">
            <a:spAutoFit/>
          </a:bodyPr>
          <a:lstStyle/>
          <a:p>
            <a:pPr algn="l"/>
            <a:r>
              <a:rPr sz="900" b="0" i="0">
                <a:solidFill>
                  <a:srgbClr val="111827"/>
                </a:solidFill>
                <a:latin typeface="Segoe UI"/>
              </a:rPr>
              <a:t>3</a:t>
            </a:r>
          </a:p>
        </p:txBody>
      </p:sp>
      <p:sp>
        <p:nvSpPr>
          <p:cNvPr id="49" name="Rectangle 48"/>
          <p:cNvSpPr/>
          <p:nvPr/>
        </p:nvSpPr>
        <p:spPr>
          <a:xfrm>
            <a:off x="8092440" y="4242816"/>
            <a:ext cx="2926080" cy="420624"/>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147304" y="4288536"/>
            <a:ext cx="2852928" cy="384048"/>
          </a:xfrm>
          <a:prstGeom prst="rect">
            <a:avLst/>
          </a:prstGeom>
          <a:noFill/>
        </p:spPr>
        <p:txBody>
          <a:bodyPr wrap="square">
            <a:spAutoFit/>
          </a:bodyPr>
          <a:lstStyle/>
          <a:p>
            <a:pPr algn="ctr"/>
            <a:r>
              <a:rPr sz="900" b="0" i="0">
                <a:solidFill>
                  <a:srgbClr val="111827"/>
                </a:solidFill>
                <a:latin typeface="Segoe UI"/>
              </a:rPr>
              <a:t>FE ampliada + ordinal (6 attrs)</a:t>
            </a:r>
          </a:p>
        </p:txBody>
      </p:sp>
      <p:sp>
        <p:nvSpPr>
          <p:cNvPr id="51" name="Rectangle 50"/>
          <p:cNvSpPr/>
          <p:nvPr/>
        </p:nvSpPr>
        <p:spPr>
          <a:xfrm>
            <a:off x="11018520" y="4242816"/>
            <a:ext cx="777240" cy="420624"/>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1073384" y="4288536"/>
            <a:ext cx="704088" cy="384048"/>
          </a:xfrm>
          <a:prstGeom prst="rect">
            <a:avLst/>
          </a:prstGeom>
          <a:noFill/>
        </p:spPr>
        <p:txBody>
          <a:bodyPr wrap="square">
            <a:spAutoFit/>
          </a:bodyPr>
          <a:lstStyle/>
          <a:p>
            <a:pPr algn="ctr"/>
            <a:r>
              <a:rPr sz="900" b="0" i="0">
                <a:solidFill>
                  <a:srgbClr val="111827"/>
                </a:solidFill>
                <a:latin typeface="Segoe UI"/>
              </a:rPr>
              <a:t>0.9858</a:t>
            </a:r>
          </a:p>
        </p:txBody>
      </p:sp>
      <p:sp>
        <p:nvSpPr>
          <p:cNvPr id="53" name="Rectangle 52"/>
          <p:cNvSpPr/>
          <p:nvPr/>
        </p:nvSpPr>
        <p:spPr>
          <a:xfrm>
            <a:off x="7498079" y="4663440"/>
            <a:ext cx="594360" cy="42062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552943" y="4709160"/>
            <a:ext cx="521208" cy="384048"/>
          </a:xfrm>
          <a:prstGeom prst="rect">
            <a:avLst/>
          </a:prstGeom>
          <a:noFill/>
        </p:spPr>
        <p:txBody>
          <a:bodyPr wrap="square">
            <a:spAutoFit/>
          </a:bodyPr>
          <a:lstStyle/>
          <a:p>
            <a:pPr algn="l"/>
            <a:r>
              <a:rPr sz="900" b="0" i="0">
                <a:solidFill>
                  <a:srgbClr val="111827"/>
                </a:solidFill>
                <a:latin typeface="Segoe UI"/>
              </a:rPr>
              <a:t>3</a:t>
            </a:r>
          </a:p>
        </p:txBody>
      </p:sp>
      <p:sp>
        <p:nvSpPr>
          <p:cNvPr id="55" name="Rectangle 54"/>
          <p:cNvSpPr/>
          <p:nvPr/>
        </p:nvSpPr>
        <p:spPr>
          <a:xfrm>
            <a:off x="8092440" y="4663440"/>
            <a:ext cx="2926080" cy="42062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8147304" y="4709160"/>
            <a:ext cx="2852928" cy="384048"/>
          </a:xfrm>
          <a:prstGeom prst="rect">
            <a:avLst/>
          </a:prstGeom>
          <a:noFill/>
        </p:spPr>
        <p:txBody>
          <a:bodyPr wrap="square">
            <a:spAutoFit/>
          </a:bodyPr>
          <a:lstStyle/>
          <a:p>
            <a:pPr algn="ctr"/>
            <a:r>
              <a:rPr sz="900" b="0" i="0">
                <a:solidFill>
                  <a:srgbClr val="111827"/>
                </a:solidFill>
                <a:latin typeface="Segoe UI"/>
              </a:rPr>
              <a:t>Validación cruzada estratificada k=5</a:t>
            </a:r>
          </a:p>
        </p:txBody>
      </p:sp>
      <p:sp>
        <p:nvSpPr>
          <p:cNvPr id="57" name="Rectangle 56"/>
          <p:cNvSpPr/>
          <p:nvPr/>
        </p:nvSpPr>
        <p:spPr>
          <a:xfrm>
            <a:off x="11018520" y="4663440"/>
            <a:ext cx="777240" cy="42062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11073384" y="4709160"/>
            <a:ext cx="704088" cy="384048"/>
          </a:xfrm>
          <a:prstGeom prst="rect">
            <a:avLst/>
          </a:prstGeom>
          <a:noFill/>
        </p:spPr>
        <p:txBody>
          <a:bodyPr wrap="square">
            <a:spAutoFit/>
          </a:bodyPr>
          <a:lstStyle/>
          <a:p>
            <a:pPr algn="ctr"/>
            <a:r>
              <a:rPr sz="900" b="0" i="0">
                <a:solidFill>
                  <a:srgbClr val="111827"/>
                </a:solidFill>
                <a:latin typeface="Segoe UI"/>
              </a:rPr>
              <a:t>0.9863</a:t>
            </a:r>
          </a:p>
        </p:txBody>
      </p:sp>
      <p:sp>
        <p:nvSpPr>
          <p:cNvPr id="59" name="Rectangle 58"/>
          <p:cNvSpPr/>
          <p:nvPr/>
        </p:nvSpPr>
        <p:spPr>
          <a:xfrm>
            <a:off x="7498079" y="5084064"/>
            <a:ext cx="594360" cy="420624"/>
          </a:xfrm>
          <a:prstGeom prst="rect">
            <a:avLst/>
          </a:prstGeom>
          <a:solidFill>
            <a:srgbClr val="DCFCE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7552943" y="5129784"/>
            <a:ext cx="521208" cy="384048"/>
          </a:xfrm>
          <a:prstGeom prst="rect">
            <a:avLst/>
          </a:prstGeom>
          <a:noFill/>
        </p:spPr>
        <p:txBody>
          <a:bodyPr wrap="square">
            <a:spAutoFit/>
          </a:bodyPr>
          <a:lstStyle/>
          <a:p>
            <a:pPr algn="l"/>
            <a:r>
              <a:rPr sz="900" b="1" i="0">
                <a:solidFill>
                  <a:srgbClr val="16A34A"/>
                </a:solidFill>
                <a:latin typeface="Segoe UI"/>
              </a:rPr>
              <a:t>3</a:t>
            </a:r>
          </a:p>
        </p:txBody>
      </p:sp>
      <p:sp>
        <p:nvSpPr>
          <p:cNvPr id="61" name="Rectangle 60"/>
          <p:cNvSpPr/>
          <p:nvPr/>
        </p:nvSpPr>
        <p:spPr>
          <a:xfrm>
            <a:off x="8092440" y="5084064"/>
            <a:ext cx="2926080" cy="420624"/>
          </a:xfrm>
          <a:prstGeom prst="rect">
            <a:avLst/>
          </a:prstGeom>
          <a:solidFill>
            <a:srgbClr val="DCFCE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8147304" y="5129784"/>
            <a:ext cx="2852928" cy="384048"/>
          </a:xfrm>
          <a:prstGeom prst="rect">
            <a:avLst/>
          </a:prstGeom>
          <a:noFill/>
        </p:spPr>
        <p:txBody>
          <a:bodyPr wrap="square">
            <a:spAutoFit/>
          </a:bodyPr>
          <a:lstStyle/>
          <a:p>
            <a:pPr algn="ctr"/>
            <a:r>
              <a:rPr sz="900" b="1" i="0">
                <a:solidFill>
                  <a:srgbClr val="16A34A"/>
                </a:solidFill>
                <a:latin typeface="Segoe UI"/>
              </a:rPr>
              <a:t>RF optimizado (RandomizedSearchCV)</a:t>
            </a:r>
          </a:p>
        </p:txBody>
      </p:sp>
      <p:sp>
        <p:nvSpPr>
          <p:cNvPr id="63" name="Rectangle 62"/>
          <p:cNvSpPr/>
          <p:nvPr/>
        </p:nvSpPr>
        <p:spPr>
          <a:xfrm>
            <a:off x="11018520" y="5084064"/>
            <a:ext cx="777240" cy="420624"/>
          </a:xfrm>
          <a:prstGeom prst="rect">
            <a:avLst/>
          </a:prstGeom>
          <a:solidFill>
            <a:srgbClr val="DCFCE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11073384" y="5129784"/>
            <a:ext cx="704088" cy="384048"/>
          </a:xfrm>
          <a:prstGeom prst="rect">
            <a:avLst/>
          </a:prstGeom>
          <a:noFill/>
        </p:spPr>
        <p:txBody>
          <a:bodyPr wrap="square">
            <a:spAutoFit/>
          </a:bodyPr>
          <a:lstStyle/>
          <a:p>
            <a:pPr algn="ctr"/>
            <a:r>
              <a:rPr sz="900" b="1" i="0">
                <a:solidFill>
                  <a:srgbClr val="16A34A"/>
                </a:solidFill>
                <a:latin typeface="Segoe UI"/>
              </a:rPr>
              <a:t>0.9904</a:t>
            </a:r>
          </a:p>
        </p:txBody>
      </p:sp>
      <p:sp>
        <p:nvSpPr>
          <p:cNvPr id="65" name="Rounded Rectangle 64"/>
          <p:cNvSpPr/>
          <p:nvPr/>
        </p:nvSpPr>
        <p:spPr>
          <a:xfrm>
            <a:off x="7498079" y="5760720"/>
            <a:ext cx="4297680" cy="1115568"/>
          </a:xfrm>
          <a:prstGeom prst="roundRect">
            <a:avLst>
              <a:gd name="adj" fmla="val 7000"/>
            </a:avLst>
          </a:prstGeom>
          <a:solidFill>
            <a:srgbClr val="F0FDF4"/>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ounded Rectangle 65"/>
          <p:cNvSpPr/>
          <p:nvPr/>
        </p:nvSpPr>
        <p:spPr>
          <a:xfrm>
            <a:off x="7498079" y="5760720"/>
            <a:ext cx="109728" cy="1115568"/>
          </a:xfrm>
          <a:prstGeom prst="roundRect">
            <a:avLst>
              <a:gd name="adj" fmla="val 7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7772400" y="5897880"/>
            <a:ext cx="3931920" cy="932688"/>
          </a:xfrm>
          <a:prstGeom prst="rect">
            <a:avLst/>
          </a:prstGeom>
          <a:noFill/>
        </p:spPr>
        <p:txBody>
          <a:bodyPr wrap="square">
            <a:spAutoFit/>
          </a:bodyPr>
          <a:lstStyle/>
          <a:p>
            <a:pPr algn="l"/>
            <a:r>
              <a:rPr sz="1200" b="0" i="0">
                <a:solidFill>
                  <a:srgbClr val="111827"/>
                </a:solidFill>
                <a:latin typeface="Segoe UI"/>
              </a:rPr>
              <a:t>Mejor resultado: RF optimizado → F1 0.9904
Peor resultado: TruncatedSVD → F1 0.8528
Conclusión: más complejidad NO implica mejor resultado.</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11480" y="256032"/>
            <a:ext cx="146304" cy="59436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182880"/>
            <a:ext cx="10881360" cy="830997"/>
          </a:xfrm>
          <a:prstGeom prst="rect">
            <a:avLst/>
          </a:prstGeom>
          <a:noFill/>
        </p:spPr>
        <p:txBody>
          <a:bodyPr wrap="square">
            <a:spAutoFit/>
          </a:bodyPr>
          <a:lstStyle/>
          <a:p>
            <a:pPr algn="l"/>
            <a:r>
              <a:rPr sz="2400" b="1" i="0" dirty="0">
                <a:solidFill>
                  <a:srgbClr val="111827"/>
                </a:solidFill>
                <a:latin typeface="Segoe UI"/>
              </a:rPr>
              <a:t>FP-Growth </a:t>
            </a:r>
            <a:r>
              <a:rPr sz="2400" b="1" i="0" dirty="0" err="1">
                <a:solidFill>
                  <a:srgbClr val="111827"/>
                </a:solidFill>
                <a:latin typeface="Segoe UI"/>
              </a:rPr>
              <a:t>descubrió</a:t>
            </a:r>
            <a:r>
              <a:rPr sz="2400" b="1" i="0" dirty="0">
                <a:solidFill>
                  <a:srgbClr val="111827"/>
                </a:solidFill>
                <a:latin typeface="Segoe UI"/>
              </a:rPr>
              <a:t> </a:t>
            </a:r>
            <a:r>
              <a:rPr sz="2400" b="1" i="0" dirty="0" err="1">
                <a:solidFill>
                  <a:srgbClr val="111827"/>
                </a:solidFill>
                <a:latin typeface="Segoe UI"/>
              </a:rPr>
              <a:t>que</a:t>
            </a:r>
            <a:r>
              <a:rPr sz="2400" b="1" i="0" dirty="0">
                <a:solidFill>
                  <a:srgbClr val="111827"/>
                </a:solidFill>
                <a:latin typeface="Segoe UI"/>
              </a:rPr>
              <a:t> la </a:t>
            </a:r>
            <a:r>
              <a:rPr sz="2400" b="1" i="0" dirty="0" err="1">
                <a:solidFill>
                  <a:srgbClr val="111827"/>
                </a:solidFill>
                <a:latin typeface="Segoe UI"/>
              </a:rPr>
              <a:t>historia</a:t>
            </a:r>
            <a:r>
              <a:rPr sz="2400" b="1" i="0" dirty="0">
                <a:solidFill>
                  <a:srgbClr val="111827"/>
                </a:solidFill>
                <a:latin typeface="Segoe UI"/>
              </a:rPr>
              <a:t> familiar + </a:t>
            </a:r>
            <a:r>
              <a:rPr sz="2400" b="1" i="0" dirty="0" err="1">
                <a:solidFill>
                  <a:srgbClr val="111827"/>
                </a:solidFill>
                <a:latin typeface="Segoe UI"/>
              </a:rPr>
              <a:t>hábitos</a:t>
            </a:r>
            <a:r>
              <a:rPr sz="2400" b="1" i="0" dirty="0">
                <a:solidFill>
                  <a:srgbClr val="111827"/>
                </a:solidFill>
                <a:latin typeface="Segoe UI"/>
              </a:rPr>
              <a:t> </a:t>
            </a:r>
            <a:r>
              <a:rPr sz="2400" b="1" i="0" dirty="0" err="1">
                <a:solidFill>
                  <a:srgbClr val="111827"/>
                </a:solidFill>
                <a:latin typeface="Segoe UI"/>
              </a:rPr>
              <a:t>predice</a:t>
            </a:r>
            <a:r>
              <a:rPr sz="2400" b="1" i="0" dirty="0">
                <a:solidFill>
                  <a:srgbClr val="111827"/>
                </a:solidFill>
                <a:latin typeface="Segoe UI"/>
              </a:rPr>
              <a:t> </a:t>
            </a:r>
            <a:r>
              <a:rPr sz="2400" b="1" i="0" dirty="0" err="1">
                <a:solidFill>
                  <a:srgbClr val="111827"/>
                </a:solidFill>
                <a:latin typeface="Segoe UI"/>
              </a:rPr>
              <a:t>obesidad</a:t>
            </a:r>
            <a:r>
              <a:rPr sz="2400" b="1" i="0" dirty="0">
                <a:solidFill>
                  <a:srgbClr val="111827"/>
                </a:solidFill>
                <a:latin typeface="Segoe UI"/>
              </a:rPr>
              <a:t> </a:t>
            </a:r>
            <a:r>
              <a:rPr sz="2400" b="1" i="0" dirty="0" err="1">
                <a:solidFill>
                  <a:srgbClr val="111827"/>
                </a:solidFill>
                <a:latin typeface="Segoe UI"/>
              </a:rPr>
              <a:t>severa</a:t>
            </a:r>
            <a:r>
              <a:rPr sz="2400" b="1" i="0" dirty="0">
                <a:solidFill>
                  <a:srgbClr val="111827"/>
                </a:solidFill>
                <a:latin typeface="Segoe UI"/>
              </a:rPr>
              <a:t> con Lift &gt; 6</a:t>
            </a:r>
          </a:p>
        </p:txBody>
      </p:sp>
      <p:sp>
        <p:nvSpPr>
          <p:cNvPr id="5" name="TextBox 4"/>
          <p:cNvSpPr txBox="1"/>
          <p:nvPr/>
        </p:nvSpPr>
        <p:spPr>
          <a:xfrm>
            <a:off x="3721608" y="659130"/>
            <a:ext cx="10881360" cy="347472"/>
          </a:xfrm>
          <a:prstGeom prst="rect">
            <a:avLst/>
          </a:prstGeom>
          <a:noFill/>
        </p:spPr>
        <p:txBody>
          <a:bodyPr wrap="square">
            <a:spAutoFit/>
          </a:bodyPr>
          <a:lstStyle/>
          <a:p>
            <a:pPr algn="l"/>
            <a:r>
              <a:rPr sz="1400" b="0" i="0" dirty="0">
                <a:solidFill>
                  <a:srgbClr val="64748B"/>
                </a:solidFill>
                <a:latin typeface="Segoe UI"/>
              </a:rPr>
              <a:t>Reglas de </a:t>
            </a:r>
            <a:r>
              <a:rPr sz="1400" b="0" i="0" dirty="0" err="1">
                <a:solidFill>
                  <a:srgbClr val="64748B"/>
                </a:solidFill>
                <a:latin typeface="Segoe UI"/>
              </a:rPr>
              <a:t>asociación</a:t>
            </a:r>
            <a:r>
              <a:rPr sz="1400" b="0" i="0" dirty="0">
                <a:solidFill>
                  <a:srgbClr val="64748B"/>
                </a:solidFill>
                <a:latin typeface="Segoe UI"/>
              </a:rPr>
              <a:t> — FP-Growth con support ≥ 0.15 · confidence ≥ 0.70</a:t>
            </a:r>
          </a:p>
        </p:txBody>
      </p:sp>
      <p:sp>
        <p:nvSpPr>
          <p:cNvPr id="6" name="Rectangle 5"/>
          <p:cNvSpPr/>
          <p:nvPr/>
        </p:nvSpPr>
        <p:spPr>
          <a:xfrm>
            <a:off x="411480" y="1133856"/>
            <a:ext cx="11365992"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55680" y="6510528"/>
            <a:ext cx="914400" cy="274320"/>
          </a:xfrm>
          <a:prstGeom prst="rect">
            <a:avLst/>
          </a:prstGeom>
          <a:noFill/>
        </p:spPr>
        <p:txBody>
          <a:bodyPr wrap="square">
            <a:spAutoFit/>
          </a:bodyPr>
          <a:lstStyle/>
          <a:p>
            <a:pPr algn="r"/>
            <a:r>
              <a:rPr sz="900" b="0" i="0">
                <a:solidFill>
                  <a:srgbClr val="64748B"/>
                </a:solidFill>
                <a:latin typeface="Segoe UI"/>
              </a:rPr>
              <a:t>16 / 20</a:t>
            </a:r>
          </a:p>
        </p:txBody>
      </p:sp>
      <p:sp>
        <p:nvSpPr>
          <p:cNvPr id="9" name="Rounded Rectangle 8"/>
          <p:cNvSpPr/>
          <p:nvPr/>
        </p:nvSpPr>
        <p:spPr>
          <a:xfrm>
            <a:off x="411480" y="1298448"/>
            <a:ext cx="5394960" cy="2187526"/>
          </a:xfrm>
          <a:prstGeom prst="roundRect">
            <a:avLst>
              <a:gd name="adj" fmla="val 7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10_reglas_asociacion.png"/>
          <p:cNvPicPr>
            <a:picLocks noChangeAspect="1"/>
          </p:cNvPicPr>
          <p:nvPr/>
        </p:nvPicPr>
        <p:blipFill>
          <a:blip r:embed="rId2"/>
          <a:stretch>
            <a:fillRect/>
          </a:stretch>
        </p:blipFill>
        <p:spPr>
          <a:xfrm>
            <a:off x="502920" y="1389888"/>
            <a:ext cx="5212080" cy="2004646"/>
          </a:xfrm>
          <a:prstGeom prst="rect">
            <a:avLst/>
          </a:prstGeom>
        </p:spPr>
      </p:pic>
      <p:sp>
        <p:nvSpPr>
          <p:cNvPr id="10" name="TextBox 9"/>
          <p:cNvSpPr txBox="1"/>
          <p:nvPr/>
        </p:nvSpPr>
        <p:spPr>
          <a:xfrm>
            <a:off x="6080760" y="1298448"/>
            <a:ext cx="5806440" cy="347472"/>
          </a:xfrm>
          <a:prstGeom prst="rect">
            <a:avLst/>
          </a:prstGeom>
          <a:noFill/>
        </p:spPr>
        <p:txBody>
          <a:bodyPr wrap="square">
            <a:spAutoFit/>
          </a:bodyPr>
          <a:lstStyle/>
          <a:p>
            <a:pPr algn="l"/>
            <a:r>
              <a:rPr sz="1500" b="1" i="0">
                <a:solidFill>
                  <a:srgbClr val="111827"/>
                </a:solidFill>
                <a:latin typeface="Segoe UI"/>
              </a:rPr>
              <a:t>Seis reglas novedosas</a:t>
            </a:r>
          </a:p>
        </p:txBody>
      </p:sp>
      <p:sp>
        <p:nvSpPr>
          <p:cNvPr id="11" name="Rounded Rectangle 10"/>
          <p:cNvSpPr/>
          <p:nvPr/>
        </p:nvSpPr>
        <p:spPr>
          <a:xfrm>
            <a:off x="6080760" y="1737360"/>
            <a:ext cx="2834640" cy="1508760"/>
          </a:xfrm>
          <a:prstGeom prst="roundRect">
            <a:avLst>
              <a:gd name="adj" fmla="val 7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080760" y="1737360"/>
            <a:ext cx="2834640" cy="384048"/>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190488" y="1792224"/>
            <a:ext cx="1645920" cy="274320"/>
          </a:xfrm>
          <a:prstGeom prst="rect">
            <a:avLst/>
          </a:prstGeom>
          <a:noFill/>
        </p:spPr>
        <p:txBody>
          <a:bodyPr wrap="square">
            <a:spAutoFit/>
          </a:bodyPr>
          <a:lstStyle/>
          <a:p>
            <a:pPr algn="l"/>
            <a:r>
              <a:rPr sz="1200" b="1" i="0">
                <a:solidFill>
                  <a:srgbClr val="FFFFFF"/>
                </a:solidFill>
                <a:latin typeface="Segoe UI"/>
              </a:rPr>
              <a:t>Regla 1</a:t>
            </a:r>
          </a:p>
        </p:txBody>
      </p:sp>
      <p:sp>
        <p:nvSpPr>
          <p:cNvPr id="14" name="TextBox 13"/>
          <p:cNvSpPr txBox="1"/>
          <p:nvPr/>
        </p:nvSpPr>
        <p:spPr>
          <a:xfrm>
            <a:off x="7818120" y="1810512"/>
            <a:ext cx="987552" cy="256032"/>
          </a:xfrm>
          <a:prstGeom prst="rect">
            <a:avLst/>
          </a:prstGeom>
          <a:noFill/>
        </p:spPr>
        <p:txBody>
          <a:bodyPr wrap="square">
            <a:spAutoFit/>
          </a:bodyPr>
          <a:lstStyle/>
          <a:p>
            <a:pPr algn="r"/>
            <a:r>
              <a:rPr sz="1100" b="1" i="0">
                <a:solidFill>
                  <a:srgbClr val="2563EB"/>
                </a:solidFill>
                <a:latin typeface="Segoe UI"/>
              </a:rPr>
              <a:t>Lift 6.38</a:t>
            </a:r>
          </a:p>
        </p:txBody>
      </p:sp>
      <p:sp>
        <p:nvSpPr>
          <p:cNvPr id="15" name="TextBox 14"/>
          <p:cNvSpPr txBox="1"/>
          <p:nvPr/>
        </p:nvSpPr>
        <p:spPr>
          <a:xfrm>
            <a:off x="6190488" y="2176272"/>
            <a:ext cx="2606040" cy="228600"/>
          </a:xfrm>
          <a:prstGeom prst="rect">
            <a:avLst/>
          </a:prstGeom>
          <a:noFill/>
        </p:spPr>
        <p:txBody>
          <a:bodyPr wrap="square">
            <a:spAutoFit/>
          </a:bodyPr>
          <a:lstStyle/>
          <a:p>
            <a:pPr algn="l"/>
            <a:r>
              <a:rPr sz="900" b="0" i="0">
                <a:solidFill>
                  <a:srgbClr val="64748B"/>
                </a:solidFill>
                <a:latin typeface="Segoe UI"/>
              </a:rPr>
              <a:t>Conf. 0.979  ·  Sup. 0.153</a:t>
            </a:r>
          </a:p>
        </p:txBody>
      </p:sp>
      <p:sp>
        <p:nvSpPr>
          <p:cNvPr id="16" name="TextBox 15"/>
          <p:cNvSpPr txBox="1"/>
          <p:nvPr/>
        </p:nvSpPr>
        <p:spPr>
          <a:xfrm>
            <a:off x="6190488" y="2432304"/>
            <a:ext cx="2606040" cy="749808"/>
          </a:xfrm>
          <a:prstGeom prst="rect">
            <a:avLst/>
          </a:prstGeom>
          <a:noFill/>
        </p:spPr>
        <p:txBody>
          <a:bodyPr wrap="square">
            <a:spAutoFit/>
          </a:bodyPr>
          <a:lstStyle/>
          <a:p>
            <a:pPr algn="l"/>
            <a:r>
              <a:rPr sz="1000" b="0" i="1">
                <a:solidFill>
                  <a:srgbClr val="2563EB"/>
                </a:solidFill>
                <a:latin typeface="Segoe UI"/>
              </a:rPr>
              <a:t>Genética + dieta hipercalórica + sedentarismo → Obesity_III</a:t>
            </a:r>
          </a:p>
        </p:txBody>
      </p:sp>
      <p:sp>
        <p:nvSpPr>
          <p:cNvPr id="17" name="Rounded Rectangle 16"/>
          <p:cNvSpPr/>
          <p:nvPr/>
        </p:nvSpPr>
        <p:spPr>
          <a:xfrm>
            <a:off x="9052560" y="1737360"/>
            <a:ext cx="2834640" cy="1508760"/>
          </a:xfrm>
          <a:prstGeom prst="roundRect">
            <a:avLst>
              <a:gd name="adj" fmla="val 7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052560" y="1737360"/>
            <a:ext cx="2834640" cy="384048"/>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62288" y="1792224"/>
            <a:ext cx="1645920" cy="274320"/>
          </a:xfrm>
          <a:prstGeom prst="rect">
            <a:avLst/>
          </a:prstGeom>
          <a:noFill/>
        </p:spPr>
        <p:txBody>
          <a:bodyPr wrap="square">
            <a:spAutoFit/>
          </a:bodyPr>
          <a:lstStyle/>
          <a:p>
            <a:pPr algn="l"/>
            <a:r>
              <a:rPr sz="1200" b="1" i="0">
                <a:solidFill>
                  <a:srgbClr val="FFFFFF"/>
                </a:solidFill>
                <a:latin typeface="Segoe UI"/>
              </a:rPr>
              <a:t>Regla 2</a:t>
            </a:r>
          </a:p>
        </p:txBody>
      </p:sp>
      <p:sp>
        <p:nvSpPr>
          <p:cNvPr id="20" name="TextBox 19"/>
          <p:cNvSpPr txBox="1"/>
          <p:nvPr/>
        </p:nvSpPr>
        <p:spPr>
          <a:xfrm>
            <a:off x="10789920" y="1810512"/>
            <a:ext cx="987552" cy="256032"/>
          </a:xfrm>
          <a:prstGeom prst="rect">
            <a:avLst/>
          </a:prstGeom>
          <a:noFill/>
        </p:spPr>
        <p:txBody>
          <a:bodyPr wrap="square">
            <a:spAutoFit/>
          </a:bodyPr>
          <a:lstStyle/>
          <a:p>
            <a:pPr algn="r"/>
            <a:r>
              <a:rPr sz="1100" b="1" i="0">
                <a:solidFill>
                  <a:srgbClr val="2563EB"/>
                </a:solidFill>
                <a:latin typeface="Segoe UI"/>
              </a:rPr>
              <a:t>Lift 6.38</a:t>
            </a:r>
          </a:p>
        </p:txBody>
      </p:sp>
      <p:sp>
        <p:nvSpPr>
          <p:cNvPr id="21" name="TextBox 20"/>
          <p:cNvSpPr txBox="1"/>
          <p:nvPr/>
        </p:nvSpPr>
        <p:spPr>
          <a:xfrm>
            <a:off x="9162288" y="2176272"/>
            <a:ext cx="2606040" cy="228600"/>
          </a:xfrm>
          <a:prstGeom prst="rect">
            <a:avLst/>
          </a:prstGeom>
          <a:noFill/>
        </p:spPr>
        <p:txBody>
          <a:bodyPr wrap="square">
            <a:spAutoFit/>
          </a:bodyPr>
          <a:lstStyle/>
          <a:p>
            <a:pPr algn="l"/>
            <a:r>
              <a:rPr sz="900" b="0" i="0">
                <a:solidFill>
                  <a:srgbClr val="64748B"/>
                </a:solidFill>
                <a:latin typeface="Segoe UI"/>
              </a:rPr>
              <a:t>Conf. 0.976  ·  Sup. 0.152</a:t>
            </a:r>
          </a:p>
        </p:txBody>
      </p:sp>
      <p:sp>
        <p:nvSpPr>
          <p:cNvPr id="22" name="TextBox 21"/>
          <p:cNvSpPr txBox="1"/>
          <p:nvPr/>
        </p:nvSpPr>
        <p:spPr>
          <a:xfrm>
            <a:off x="9162288" y="2432304"/>
            <a:ext cx="2606040" cy="749808"/>
          </a:xfrm>
          <a:prstGeom prst="rect">
            <a:avLst/>
          </a:prstGeom>
          <a:noFill/>
        </p:spPr>
        <p:txBody>
          <a:bodyPr wrap="square">
            <a:spAutoFit/>
          </a:bodyPr>
          <a:lstStyle/>
          <a:p>
            <a:pPr algn="l"/>
            <a:r>
              <a:rPr sz="1000" b="0" i="1">
                <a:solidFill>
                  <a:srgbClr val="2563EB"/>
                </a:solidFill>
                <a:latin typeface="Segoe UI"/>
              </a:rPr>
              <a:t>Antecedentes + dieta + alcohol ocasional + transporte → Obesity_III</a:t>
            </a:r>
          </a:p>
        </p:txBody>
      </p:sp>
      <p:sp>
        <p:nvSpPr>
          <p:cNvPr id="23" name="Rounded Rectangle 22"/>
          <p:cNvSpPr/>
          <p:nvPr/>
        </p:nvSpPr>
        <p:spPr>
          <a:xfrm>
            <a:off x="6080760" y="3383280"/>
            <a:ext cx="2834640" cy="1508760"/>
          </a:xfrm>
          <a:prstGeom prst="roundRect">
            <a:avLst>
              <a:gd name="adj" fmla="val 7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080760" y="3383280"/>
            <a:ext cx="2834640" cy="384048"/>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190488" y="3438144"/>
            <a:ext cx="1645920" cy="274320"/>
          </a:xfrm>
          <a:prstGeom prst="rect">
            <a:avLst/>
          </a:prstGeom>
          <a:noFill/>
        </p:spPr>
        <p:txBody>
          <a:bodyPr wrap="square">
            <a:spAutoFit/>
          </a:bodyPr>
          <a:lstStyle/>
          <a:p>
            <a:pPr algn="l"/>
            <a:r>
              <a:rPr sz="1200" b="1" i="0">
                <a:solidFill>
                  <a:srgbClr val="FFFFFF"/>
                </a:solidFill>
                <a:latin typeface="Segoe UI"/>
              </a:rPr>
              <a:t>Regla 3</a:t>
            </a:r>
          </a:p>
        </p:txBody>
      </p:sp>
      <p:sp>
        <p:nvSpPr>
          <p:cNvPr id="26" name="TextBox 25"/>
          <p:cNvSpPr txBox="1"/>
          <p:nvPr/>
        </p:nvSpPr>
        <p:spPr>
          <a:xfrm>
            <a:off x="7818120" y="3456432"/>
            <a:ext cx="987552" cy="256032"/>
          </a:xfrm>
          <a:prstGeom prst="rect">
            <a:avLst/>
          </a:prstGeom>
          <a:noFill/>
        </p:spPr>
        <p:txBody>
          <a:bodyPr wrap="square">
            <a:spAutoFit/>
          </a:bodyPr>
          <a:lstStyle/>
          <a:p>
            <a:pPr algn="r"/>
            <a:r>
              <a:rPr sz="1100" b="1" i="0">
                <a:solidFill>
                  <a:srgbClr val="2563EB"/>
                </a:solidFill>
                <a:latin typeface="Segoe UI"/>
              </a:rPr>
              <a:t>Lift 6.38</a:t>
            </a:r>
          </a:p>
        </p:txBody>
      </p:sp>
      <p:sp>
        <p:nvSpPr>
          <p:cNvPr id="27" name="TextBox 26"/>
          <p:cNvSpPr txBox="1"/>
          <p:nvPr/>
        </p:nvSpPr>
        <p:spPr>
          <a:xfrm>
            <a:off x="6190488" y="3822192"/>
            <a:ext cx="2606040" cy="228600"/>
          </a:xfrm>
          <a:prstGeom prst="rect">
            <a:avLst/>
          </a:prstGeom>
          <a:noFill/>
        </p:spPr>
        <p:txBody>
          <a:bodyPr wrap="square">
            <a:spAutoFit/>
          </a:bodyPr>
          <a:lstStyle/>
          <a:p>
            <a:pPr algn="l"/>
            <a:r>
              <a:rPr sz="900" b="0" i="0">
                <a:solidFill>
                  <a:srgbClr val="64748B"/>
                </a:solidFill>
                <a:latin typeface="Segoe UI"/>
              </a:rPr>
              <a:t>Conf. 0.976  ·  Sup. 0.152</a:t>
            </a:r>
          </a:p>
        </p:txBody>
      </p:sp>
      <p:sp>
        <p:nvSpPr>
          <p:cNvPr id="28" name="TextBox 27"/>
          <p:cNvSpPr txBox="1"/>
          <p:nvPr/>
        </p:nvSpPr>
        <p:spPr>
          <a:xfrm>
            <a:off x="6190488" y="4078224"/>
            <a:ext cx="2606040" cy="749808"/>
          </a:xfrm>
          <a:prstGeom prst="rect">
            <a:avLst/>
          </a:prstGeom>
          <a:noFill/>
        </p:spPr>
        <p:txBody>
          <a:bodyPr wrap="square">
            <a:spAutoFit/>
          </a:bodyPr>
          <a:lstStyle/>
          <a:p>
            <a:pPr algn="l"/>
            <a:r>
              <a:rPr sz="1000" b="0" i="1">
                <a:solidFill>
                  <a:srgbClr val="2563EB"/>
                </a:solidFill>
                <a:latin typeface="Segoe UI"/>
              </a:rPr>
              <a:t>No fumar NO protege cuando los hábitos alimentarios son malos</a:t>
            </a:r>
          </a:p>
        </p:txBody>
      </p:sp>
      <p:sp>
        <p:nvSpPr>
          <p:cNvPr id="29" name="Rounded Rectangle 28"/>
          <p:cNvSpPr/>
          <p:nvPr/>
        </p:nvSpPr>
        <p:spPr>
          <a:xfrm>
            <a:off x="9052560" y="3383280"/>
            <a:ext cx="2834640" cy="1508760"/>
          </a:xfrm>
          <a:prstGeom prst="roundRect">
            <a:avLst>
              <a:gd name="adj" fmla="val 7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9052560" y="3383280"/>
            <a:ext cx="2834640" cy="384048"/>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162288" y="3438144"/>
            <a:ext cx="1645920" cy="274320"/>
          </a:xfrm>
          <a:prstGeom prst="rect">
            <a:avLst/>
          </a:prstGeom>
          <a:noFill/>
        </p:spPr>
        <p:txBody>
          <a:bodyPr wrap="square">
            <a:spAutoFit/>
          </a:bodyPr>
          <a:lstStyle/>
          <a:p>
            <a:pPr algn="l"/>
            <a:r>
              <a:rPr sz="1200" b="1" i="0">
                <a:solidFill>
                  <a:srgbClr val="FFFFFF"/>
                </a:solidFill>
                <a:latin typeface="Segoe UI"/>
              </a:rPr>
              <a:t>Regla 4</a:t>
            </a:r>
          </a:p>
        </p:txBody>
      </p:sp>
      <p:sp>
        <p:nvSpPr>
          <p:cNvPr id="32" name="TextBox 31"/>
          <p:cNvSpPr txBox="1"/>
          <p:nvPr/>
        </p:nvSpPr>
        <p:spPr>
          <a:xfrm>
            <a:off x="10789920" y="3456432"/>
            <a:ext cx="987552" cy="256032"/>
          </a:xfrm>
          <a:prstGeom prst="rect">
            <a:avLst/>
          </a:prstGeom>
          <a:noFill/>
        </p:spPr>
        <p:txBody>
          <a:bodyPr wrap="square">
            <a:spAutoFit/>
          </a:bodyPr>
          <a:lstStyle/>
          <a:p>
            <a:pPr algn="r"/>
            <a:r>
              <a:rPr sz="1100" b="1" i="0">
                <a:solidFill>
                  <a:srgbClr val="2563EB"/>
                </a:solidFill>
                <a:latin typeface="Segoe UI"/>
              </a:rPr>
              <a:t>Lift 6.36</a:t>
            </a:r>
          </a:p>
        </p:txBody>
      </p:sp>
      <p:sp>
        <p:nvSpPr>
          <p:cNvPr id="33" name="TextBox 32"/>
          <p:cNvSpPr txBox="1"/>
          <p:nvPr/>
        </p:nvSpPr>
        <p:spPr>
          <a:xfrm>
            <a:off x="9162288" y="3822192"/>
            <a:ext cx="2606040" cy="228600"/>
          </a:xfrm>
          <a:prstGeom prst="rect">
            <a:avLst/>
          </a:prstGeom>
          <a:noFill/>
        </p:spPr>
        <p:txBody>
          <a:bodyPr wrap="square">
            <a:spAutoFit/>
          </a:bodyPr>
          <a:lstStyle/>
          <a:p>
            <a:pPr algn="l"/>
            <a:r>
              <a:rPr sz="900" b="0" i="0">
                <a:solidFill>
                  <a:srgbClr val="64748B"/>
                </a:solidFill>
                <a:latin typeface="Segoe UI"/>
              </a:rPr>
              <a:t>Conf. 0.970  ·  Sup. 0.152</a:t>
            </a:r>
          </a:p>
        </p:txBody>
      </p:sp>
      <p:sp>
        <p:nvSpPr>
          <p:cNvPr id="34" name="TextBox 33"/>
          <p:cNvSpPr txBox="1"/>
          <p:nvPr/>
        </p:nvSpPr>
        <p:spPr>
          <a:xfrm>
            <a:off x="9162288" y="4078224"/>
            <a:ext cx="2606040" cy="749808"/>
          </a:xfrm>
          <a:prstGeom prst="rect">
            <a:avLst/>
          </a:prstGeom>
          <a:noFill/>
        </p:spPr>
        <p:txBody>
          <a:bodyPr wrap="square">
            <a:spAutoFit/>
          </a:bodyPr>
          <a:lstStyle/>
          <a:p>
            <a:pPr algn="l"/>
            <a:r>
              <a:rPr sz="1000" b="0" i="1">
                <a:solidFill>
                  <a:srgbClr val="2563EB"/>
                </a:solidFill>
                <a:latin typeface="Segoe UI"/>
              </a:rPr>
              <a:t>Snacking + alcohol moderado → patrón multivariado de riesgo</a:t>
            </a:r>
          </a:p>
        </p:txBody>
      </p:sp>
      <p:sp>
        <p:nvSpPr>
          <p:cNvPr id="35" name="Rounded Rectangle 34"/>
          <p:cNvSpPr/>
          <p:nvPr/>
        </p:nvSpPr>
        <p:spPr>
          <a:xfrm>
            <a:off x="6080760" y="5029200"/>
            <a:ext cx="2834640" cy="1508760"/>
          </a:xfrm>
          <a:prstGeom prst="roundRect">
            <a:avLst>
              <a:gd name="adj" fmla="val 7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6080760" y="5029200"/>
            <a:ext cx="2834640" cy="384048"/>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190488" y="5084064"/>
            <a:ext cx="1645920" cy="274320"/>
          </a:xfrm>
          <a:prstGeom prst="rect">
            <a:avLst/>
          </a:prstGeom>
          <a:noFill/>
        </p:spPr>
        <p:txBody>
          <a:bodyPr wrap="square">
            <a:spAutoFit/>
          </a:bodyPr>
          <a:lstStyle/>
          <a:p>
            <a:pPr algn="l"/>
            <a:r>
              <a:rPr sz="1200" b="1" i="0">
                <a:solidFill>
                  <a:srgbClr val="FFFFFF"/>
                </a:solidFill>
                <a:latin typeface="Segoe UI"/>
              </a:rPr>
              <a:t>Regla 5</a:t>
            </a:r>
          </a:p>
        </p:txBody>
      </p:sp>
      <p:sp>
        <p:nvSpPr>
          <p:cNvPr id="38" name="TextBox 37"/>
          <p:cNvSpPr txBox="1"/>
          <p:nvPr/>
        </p:nvSpPr>
        <p:spPr>
          <a:xfrm>
            <a:off x="7818120" y="5102352"/>
            <a:ext cx="987552" cy="256032"/>
          </a:xfrm>
          <a:prstGeom prst="rect">
            <a:avLst/>
          </a:prstGeom>
          <a:noFill/>
        </p:spPr>
        <p:txBody>
          <a:bodyPr wrap="square">
            <a:spAutoFit/>
          </a:bodyPr>
          <a:lstStyle/>
          <a:p>
            <a:pPr algn="r"/>
            <a:r>
              <a:rPr sz="1100" b="1" i="0">
                <a:solidFill>
                  <a:srgbClr val="2563EB"/>
                </a:solidFill>
                <a:latin typeface="Segoe UI"/>
              </a:rPr>
              <a:t>Lift 6.34</a:t>
            </a:r>
          </a:p>
        </p:txBody>
      </p:sp>
      <p:sp>
        <p:nvSpPr>
          <p:cNvPr id="39" name="TextBox 38"/>
          <p:cNvSpPr txBox="1"/>
          <p:nvPr/>
        </p:nvSpPr>
        <p:spPr>
          <a:xfrm>
            <a:off x="6190488" y="5468112"/>
            <a:ext cx="2606040" cy="228600"/>
          </a:xfrm>
          <a:prstGeom prst="rect">
            <a:avLst/>
          </a:prstGeom>
          <a:noFill/>
        </p:spPr>
        <p:txBody>
          <a:bodyPr wrap="square">
            <a:spAutoFit/>
          </a:bodyPr>
          <a:lstStyle/>
          <a:p>
            <a:pPr algn="l"/>
            <a:r>
              <a:rPr sz="900" b="0" i="0">
                <a:solidFill>
                  <a:srgbClr val="64748B"/>
                </a:solidFill>
                <a:latin typeface="Segoe UI"/>
              </a:rPr>
              <a:t>Conf. 0.970  ·  Sup. 0.153</a:t>
            </a:r>
          </a:p>
        </p:txBody>
      </p:sp>
      <p:sp>
        <p:nvSpPr>
          <p:cNvPr id="40" name="TextBox 39"/>
          <p:cNvSpPr txBox="1"/>
          <p:nvPr/>
        </p:nvSpPr>
        <p:spPr>
          <a:xfrm>
            <a:off x="6190488" y="5724144"/>
            <a:ext cx="2606040" cy="749808"/>
          </a:xfrm>
          <a:prstGeom prst="rect">
            <a:avLst/>
          </a:prstGeom>
          <a:noFill/>
        </p:spPr>
        <p:txBody>
          <a:bodyPr wrap="square">
            <a:spAutoFit/>
          </a:bodyPr>
          <a:lstStyle/>
          <a:p>
            <a:pPr algn="l"/>
            <a:r>
              <a:rPr sz="1000" b="0" i="1">
                <a:solidFill>
                  <a:srgbClr val="2563EB"/>
                </a:solidFill>
                <a:latin typeface="Segoe UI"/>
              </a:rPr>
              <a:t>Predice conducta (FAVC) además del nivel de obesidad</a:t>
            </a:r>
          </a:p>
        </p:txBody>
      </p:sp>
      <p:sp>
        <p:nvSpPr>
          <p:cNvPr id="41" name="Rounded Rectangle 40"/>
          <p:cNvSpPr/>
          <p:nvPr/>
        </p:nvSpPr>
        <p:spPr>
          <a:xfrm>
            <a:off x="9052560" y="5029200"/>
            <a:ext cx="2834640" cy="1508760"/>
          </a:xfrm>
          <a:prstGeom prst="roundRect">
            <a:avLst>
              <a:gd name="adj" fmla="val 7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9052560" y="5029200"/>
            <a:ext cx="2834640" cy="384048"/>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162288" y="5084064"/>
            <a:ext cx="1645920" cy="274320"/>
          </a:xfrm>
          <a:prstGeom prst="rect">
            <a:avLst/>
          </a:prstGeom>
          <a:noFill/>
        </p:spPr>
        <p:txBody>
          <a:bodyPr wrap="square">
            <a:spAutoFit/>
          </a:bodyPr>
          <a:lstStyle/>
          <a:p>
            <a:pPr algn="l"/>
            <a:r>
              <a:rPr sz="1200" b="1" i="0">
                <a:solidFill>
                  <a:srgbClr val="FFFFFF"/>
                </a:solidFill>
                <a:latin typeface="Segoe UI"/>
              </a:rPr>
              <a:t>Regla 6</a:t>
            </a:r>
          </a:p>
        </p:txBody>
      </p:sp>
      <p:sp>
        <p:nvSpPr>
          <p:cNvPr id="44" name="TextBox 43"/>
          <p:cNvSpPr txBox="1"/>
          <p:nvPr/>
        </p:nvSpPr>
        <p:spPr>
          <a:xfrm>
            <a:off x="10789920" y="5102352"/>
            <a:ext cx="987552" cy="256032"/>
          </a:xfrm>
          <a:prstGeom prst="rect">
            <a:avLst/>
          </a:prstGeom>
          <a:noFill/>
        </p:spPr>
        <p:txBody>
          <a:bodyPr wrap="square">
            <a:spAutoFit/>
          </a:bodyPr>
          <a:lstStyle/>
          <a:p>
            <a:pPr algn="r"/>
            <a:r>
              <a:rPr sz="1100" b="1" i="0">
                <a:solidFill>
                  <a:srgbClr val="2563EB"/>
                </a:solidFill>
                <a:latin typeface="Segoe UI"/>
              </a:rPr>
              <a:t>Lift 6.34</a:t>
            </a:r>
          </a:p>
        </p:txBody>
      </p:sp>
      <p:sp>
        <p:nvSpPr>
          <p:cNvPr id="45" name="TextBox 44"/>
          <p:cNvSpPr txBox="1"/>
          <p:nvPr/>
        </p:nvSpPr>
        <p:spPr>
          <a:xfrm>
            <a:off x="9162288" y="5468112"/>
            <a:ext cx="2606040" cy="228600"/>
          </a:xfrm>
          <a:prstGeom prst="rect">
            <a:avLst/>
          </a:prstGeom>
          <a:noFill/>
        </p:spPr>
        <p:txBody>
          <a:bodyPr wrap="square">
            <a:spAutoFit/>
          </a:bodyPr>
          <a:lstStyle/>
          <a:p>
            <a:pPr algn="l"/>
            <a:r>
              <a:rPr sz="900" b="0" i="0">
                <a:solidFill>
                  <a:srgbClr val="64748B"/>
                </a:solidFill>
                <a:latin typeface="Segoe UI"/>
              </a:rPr>
              <a:t>Conf. 0.967  ·  Sup. 0.152</a:t>
            </a:r>
          </a:p>
        </p:txBody>
      </p:sp>
      <p:sp>
        <p:nvSpPr>
          <p:cNvPr id="46" name="TextBox 45"/>
          <p:cNvSpPr txBox="1"/>
          <p:nvPr/>
        </p:nvSpPr>
        <p:spPr>
          <a:xfrm>
            <a:off x="9162288" y="5724144"/>
            <a:ext cx="2606040" cy="749808"/>
          </a:xfrm>
          <a:prstGeom prst="rect">
            <a:avLst/>
          </a:prstGeom>
          <a:noFill/>
        </p:spPr>
        <p:txBody>
          <a:bodyPr wrap="square">
            <a:spAutoFit/>
          </a:bodyPr>
          <a:lstStyle/>
          <a:p>
            <a:pPr algn="l"/>
            <a:r>
              <a:rPr sz="1000" b="0" i="1">
                <a:solidFill>
                  <a:srgbClr val="2563EB"/>
                </a:solidFill>
                <a:latin typeface="Segoe UI"/>
              </a:rPr>
              <a:t>Alcohol + antecedentes familiares + mujer → Obesity_III</a:t>
            </a:r>
          </a:p>
        </p:txBody>
      </p:sp>
      <p:sp>
        <p:nvSpPr>
          <p:cNvPr id="47" name="Rounded Rectangle 46"/>
          <p:cNvSpPr/>
          <p:nvPr/>
        </p:nvSpPr>
        <p:spPr>
          <a:xfrm>
            <a:off x="411480" y="6263640"/>
            <a:ext cx="5394960" cy="502920"/>
          </a:xfrm>
          <a:prstGeom prst="roundRect">
            <a:avLst>
              <a:gd name="adj" fmla="val 7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411480" y="6263640"/>
            <a:ext cx="109728" cy="502920"/>
          </a:xfrm>
          <a:prstGeom prst="roundRect">
            <a:avLst>
              <a:gd name="adj" fmla="val 7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13232" y="6400800"/>
            <a:ext cx="5120640" cy="274320"/>
          </a:xfrm>
          <a:prstGeom prst="rect">
            <a:avLst/>
          </a:prstGeom>
          <a:noFill/>
        </p:spPr>
        <p:txBody>
          <a:bodyPr wrap="square">
            <a:spAutoFit/>
          </a:bodyPr>
          <a:lstStyle/>
          <a:p>
            <a:pPr algn="l"/>
            <a:r>
              <a:rPr sz="1100" b="1" i="0">
                <a:solidFill>
                  <a:srgbClr val="111827"/>
                </a:solidFill>
                <a:latin typeface="Segoe UI"/>
              </a:rPr>
              <a:t>7.312 itemsets frecuentes · 134.739 reglas generadas · Lift &gt; 6 → 6× más probable que el azar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11480" y="256032"/>
            <a:ext cx="146304" cy="59436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182880"/>
            <a:ext cx="10881360" cy="830997"/>
          </a:xfrm>
          <a:prstGeom prst="rect">
            <a:avLst/>
          </a:prstGeom>
          <a:noFill/>
        </p:spPr>
        <p:txBody>
          <a:bodyPr wrap="square">
            <a:spAutoFit/>
          </a:bodyPr>
          <a:lstStyle/>
          <a:p>
            <a:pPr algn="l"/>
            <a:r>
              <a:rPr sz="2400" b="1" i="0" dirty="0">
                <a:solidFill>
                  <a:srgbClr val="111827"/>
                </a:solidFill>
                <a:latin typeface="Segoe UI"/>
              </a:rPr>
              <a:t>Tres </a:t>
            </a:r>
            <a:r>
              <a:rPr sz="2400" b="1" i="0" dirty="0" err="1">
                <a:solidFill>
                  <a:srgbClr val="111827"/>
                </a:solidFill>
                <a:latin typeface="Segoe UI"/>
              </a:rPr>
              <a:t>descubrimientos</a:t>
            </a:r>
            <a:r>
              <a:rPr sz="2400" b="1" i="0" dirty="0">
                <a:solidFill>
                  <a:srgbClr val="111827"/>
                </a:solidFill>
                <a:latin typeface="Segoe UI"/>
              </a:rPr>
              <a:t> clave </a:t>
            </a:r>
            <a:r>
              <a:rPr sz="2400" b="1" i="0" dirty="0" err="1">
                <a:solidFill>
                  <a:srgbClr val="111827"/>
                </a:solidFill>
                <a:latin typeface="Segoe UI"/>
              </a:rPr>
              <a:t>respaldados</a:t>
            </a:r>
            <a:r>
              <a:rPr sz="2400" b="1" i="0" dirty="0">
                <a:solidFill>
                  <a:srgbClr val="111827"/>
                </a:solidFill>
                <a:latin typeface="Segoe UI"/>
              </a:rPr>
              <a:t> </a:t>
            </a:r>
            <a:r>
              <a:rPr sz="2400" b="1" i="0" dirty="0" err="1">
                <a:solidFill>
                  <a:srgbClr val="111827"/>
                </a:solidFill>
                <a:latin typeface="Segoe UI"/>
              </a:rPr>
              <a:t>por</a:t>
            </a:r>
            <a:r>
              <a:rPr sz="2400" b="1" i="0" dirty="0">
                <a:solidFill>
                  <a:srgbClr val="111827"/>
                </a:solidFill>
                <a:latin typeface="Segoe UI"/>
              </a:rPr>
              <a:t> </a:t>
            </a:r>
            <a:r>
              <a:rPr sz="2400" b="1" i="0" dirty="0" err="1">
                <a:solidFill>
                  <a:srgbClr val="111827"/>
                </a:solidFill>
                <a:latin typeface="Segoe UI"/>
              </a:rPr>
              <a:t>métricas</a:t>
            </a:r>
            <a:r>
              <a:rPr sz="2400" b="1" i="0" dirty="0">
                <a:solidFill>
                  <a:srgbClr val="111827"/>
                </a:solidFill>
                <a:latin typeface="Segoe UI"/>
              </a:rPr>
              <a:t> y </a:t>
            </a:r>
            <a:r>
              <a:rPr sz="2400" b="1" i="0" dirty="0" err="1">
                <a:solidFill>
                  <a:srgbClr val="111827"/>
                </a:solidFill>
                <a:latin typeface="Segoe UI"/>
              </a:rPr>
              <a:t>contrastados</a:t>
            </a:r>
            <a:r>
              <a:rPr sz="2400" b="1" i="0" dirty="0">
                <a:solidFill>
                  <a:srgbClr val="111827"/>
                </a:solidFill>
                <a:latin typeface="Segoe UI"/>
              </a:rPr>
              <a:t> con </a:t>
            </a:r>
            <a:r>
              <a:rPr sz="2400" b="1" i="0" dirty="0" err="1">
                <a:solidFill>
                  <a:srgbClr val="111827"/>
                </a:solidFill>
                <a:latin typeface="Segoe UI"/>
              </a:rPr>
              <a:t>bibliografía</a:t>
            </a:r>
            <a:endParaRPr sz="2400" b="1" i="0" dirty="0">
              <a:solidFill>
                <a:srgbClr val="111827"/>
              </a:solidFill>
              <a:latin typeface="Segoe UI"/>
            </a:endParaRPr>
          </a:p>
        </p:txBody>
      </p:sp>
      <p:sp>
        <p:nvSpPr>
          <p:cNvPr id="5" name="TextBox 4"/>
          <p:cNvSpPr txBox="1"/>
          <p:nvPr/>
        </p:nvSpPr>
        <p:spPr>
          <a:xfrm>
            <a:off x="2934761" y="694944"/>
            <a:ext cx="10881360" cy="347472"/>
          </a:xfrm>
          <a:prstGeom prst="rect">
            <a:avLst/>
          </a:prstGeom>
          <a:noFill/>
        </p:spPr>
        <p:txBody>
          <a:bodyPr wrap="square">
            <a:spAutoFit/>
          </a:bodyPr>
          <a:lstStyle/>
          <a:p>
            <a:pPr algn="l"/>
            <a:r>
              <a:rPr sz="1400" b="0" i="0" dirty="0" err="1">
                <a:solidFill>
                  <a:srgbClr val="64748B"/>
                </a:solidFill>
                <a:latin typeface="Segoe UI"/>
              </a:rPr>
              <a:t>Hallazgos</a:t>
            </a:r>
            <a:r>
              <a:rPr sz="1400" b="0" i="0" dirty="0">
                <a:solidFill>
                  <a:srgbClr val="64748B"/>
                </a:solidFill>
                <a:latin typeface="Segoe UI"/>
              </a:rPr>
              <a:t> </a:t>
            </a:r>
            <a:r>
              <a:rPr sz="1400" b="0" i="0" dirty="0" err="1">
                <a:solidFill>
                  <a:srgbClr val="64748B"/>
                </a:solidFill>
                <a:latin typeface="Segoe UI"/>
              </a:rPr>
              <a:t>principales</a:t>
            </a:r>
            <a:r>
              <a:rPr sz="1400" b="0" i="0" dirty="0">
                <a:solidFill>
                  <a:srgbClr val="64748B"/>
                </a:solidFill>
                <a:latin typeface="Segoe UI"/>
              </a:rPr>
              <a:t> — Mendoza </a:t>
            </a:r>
            <a:r>
              <a:rPr sz="1400" b="0" i="0" dirty="0" err="1">
                <a:solidFill>
                  <a:srgbClr val="64748B"/>
                </a:solidFill>
                <a:latin typeface="Segoe UI"/>
              </a:rPr>
              <a:t>Palechor</a:t>
            </a:r>
            <a:r>
              <a:rPr sz="1400" b="0" i="0" dirty="0">
                <a:solidFill>
                  <a:srgbClr val="64748B"/>
                </a:solidFill>
                <a:latin typeface="Segoe UI"/>
              </a:rPr>
              <a:t> &amp; De la Hoz Manotas (2019)</a:t>
            </a:r>
          </a:p>
        </p:txBody>
      </p:sp>
      <p:sp>
        <p:nvSpPr>
          <p:cNvPr id="6" name="Rectangle 5"/>
          <p:cNvSpPr/>
          <p:nvPr/>
        </p:nvSpPr>
        <p:spPr>
          <a:xfrm>
            <a:off x="411480" y="1133856"/>
            <a:ext cx="11365992"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55680" y="6510528"/>
            <a:ext cx="914400" cy="274320"/>
          </a:xfrm>
          <a:prstGeom prst="rect">
            <a:avLst/>
          </a:prstGeom>
          <a:noFill/>
        </p:spPr>
        <p:txBody>
          <a:bodyPr wrap="square">
            <a:spAutoFit/>
          </a:bodyPr>
          <a:lstStyle/>
          <a:p>
            <a:pPr algn="r"/>
            <a:r>
              <a:rPr sz="900" b="0" i="0">
                <a:solidFill>
                  <a:srgbClr val="64748B"/>
                </a:solidFill>
                <a:latin typeface="Segoe UI"/>
              </a:rPr>
              <a:t>17 / 20</a:t>
            </a:r>
          </a:p>
        </p:txBody>
      </p:sp>
      <p:sp>
        <p:nvSpPr>
          <p:cNvPr id="8" name="Rounded Rectangle 7"/>
          <p:cNvSpPr/>
          <p:nvPr/>
        </p:nvSpPr>
        <p:spPr>
          <a:xfrm>
            <a:off x="411480" y="1298448"/>
            <a:ext cx="11384280" cy="1444752"/>
          </a:xfrm>
          <a:prstGeom prst="roundRect">
            <a:avLst>
              <a:gd name="adj" fmla="val 7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11480" y="1298448"/>
            <a:ext cx="109728" cy="1444752"/>
          </a:xfrm>
          <a:prstGeom prst="roundRect">
            <a:avLst>
              <a:gd name="adj" fmla="val 7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1371600"/>
            <a:ext cx="10881360" cy="347472"/>
          </a:xfrm>
          <a:prstGeom prst="rect">
            <a:avLst/>
          </a:prstGeom>
          <a:noFill/>
        </p:spPr>
        <p:txBody>
          <a:bodyPr wrap="square">
            <a:spAutoFit/>
          </a:bodyPr>
          <a:lstStyle/>
          <a:p>
            <a:pPr algn="l"/>
            <a:r>
              <a:rPr sz="1500" b="1" i="0">
                <a:solidFill>
                  <a:srgbClr val="2563EB"/>
                </a:solidFill>
                <a:latin typeface="Segoe UI"/>
              </a:rPr>
              <a:t>1 · XGBoost: mejor clasificador en test (F1 = 0.9637)</a:t>
            </a:r>
          </a:p>
        </p:txBody>
      </p:sp>
      <p:sp>
        <p:nvSpPr>
          <p:cNvPr id="11" name="TextBox 10"/>
          <p:cNvSpPr txBox="1"/>
          <p:nvPr/>
        </p:nvSpPr>
        <p:spPr>
          <a:xfrm>
            <a:off x="713232" y="1755648"/>
            <a:ext cx="10881360" cy="914400"/>
          </a:xfrm>
          <a:prstGeom prst="rect">
            <a:avLst/>
          </a:prstGeom>
          <a:noFill/>
        </p:spPr>
        <p:txBody>
          <a:bodyPr wrap="square">
            <a:spAutoFit/>
          </a:bodyPr>
          <a:lstStyle/>
          <a:p>
            <a:pPr algn="l"/>
            <a:r>
              <a:rPr sz="1200" b="0" i="0">
                <a:solidFill>
                  <a:srgbClr val="111827"/>
                </a:solidFill>
                <a:latin typeface="Segoe UI"/>
              </a:rPr>
              <a:t>Se compararon 6 algoritmos. XGBoost obtuvo el mejor F1 macro en test (0.9637, accuracy 0.9645). La validación cruzada k=5 confirma a Random Forest como el más estable (F1 0.9863), por lo que se optimizó ese modelo, alcanzando 0.9904. Das et al. (2026) reportan resultados comparables con ensembles sobre el mismo dataset (F1 ≈ 0.97).</a:t>
            </a:r>
          </a:p>
        </p:txBody>
      </p:sp>
      <p:sp>
        <p:nvSpPr>
          <p:cNvPr id="12" name="Rounded Rectangle 11"/>
          <p:cNvSpPr/>
          <p:nvPr/>
        </p:nvSpPr>
        <p:spPr>
          <a:xfrm>
            <a:off x="411480" y="2852928"/>
            <a:ext cx="11384280" cy="1444752"/>
          </a:xfrm>
          <a:prstGeom prst="roundRect">
            <a:avLst>
              <a:gd name="adj" fmla="val 7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11480" y="2852928"/>
            <a:ext cx="109728" cy="1444752"/>
          </a:xfrm>
          <a:prstGeom prst="roundRect">
            <a:avLst>
              <a:gd name="adj" fmla="val 7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2926080"/>
            <a:ext cx="10881360" cy="347472"/>
          </a:xfrm>
          <a:prstGeom prst="rect">
            <a:avLst/>
          </a:prstGeom>
          <a:noFill/>
        </p:spPr>
        <p:txBody>
          <a:bodyPr wrap="square">
            <a:spAutoFit/>
          </a:bodyPr>
          <a:lstStyle/>
          <a:p>
            <a:pPr algn="l"/>
            <a:r>
              <a:rPr sz="1500" b="1" i="0">
                <a:solidFill>
                  <a:srgbClr val="DC2626"/>
                </a:solidFill>
                <a:latin typeface="Segoe UI"/>
              </a:rPr>
              <a:t>2 · Historia familiar domina el riesgo severo (Lift &gt; 6)</a:t>
            </a:r>
          </a:p>
        </p:txBody>
      </p:sp>
      <p:sp>
        <p:nvSpPr>
          <p:cNvPr id="15" name="TextBox 14"/>
          <p:cNvSpPr txBox="1"/>
          <p:nvPr/>
        </p:nvSpPr>
        <p:spPr>
          <a:xfrm>
            <a:off x="713232" y="3310128"/>
            <a:ext cx="10881360" cy="914400"/>
          </a:xfrm>
          <a:prstGeom prst="rect">
            <a:avLst/>
          </a:prstGeom>
          <a:noFill/>
        </p:spPr>
        <p:txBody>
          <a:bodyPr wrap="square">
            <a:spAutoFit/>
          </a:bodyPr>
          <a:lstStyle/>
          <a:p>
            <a:pPr algn="l"/>
            <a:r>
              <a:rPr sz="1200" b="0" i="0">
                <a:solidFill>
                  <a:srgbClr val="111827"/>
                </a:solidFill>
                <a:latin typeface="Segoe UI"/>
              </a:rPr>
              <a:t>Las 6 reglas con mayor Lift incluyen family_history=yes. Los clusters de mayor IMC concentran 90–100% de antecedentes familiares. Coincide con el estudio HUNT (Næss et al., 2016): dos padres con sobrepeso → IMC z-score +0.76 en hijos.</a:t>
            </a:r>
          </a:p>
        </p:txBody>
      </p:sp>
      <p:sp>
        <p:nvSpPr>
          <p:cNvPr id="16" name="Rounded Rectangle 15"/>
          <p:cNvSpPr/>
          <p:nvPr/>
        </p:nvSpPr>
        <p:spPr>
          <a:xfrm>
            <a:off x="411480" y="4407408"/>
            <a:ext cx="11384280" cy="1444752"/>
          </a:xfrm>
          <a:prstGeom prst="roundRect">
            <a:avLst>
              <a:gd name="adj" fmla="val 7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411480" y="4407408"/>
            <a:ext cx="109728" cy="1444752"/>
          </a:xfrm>
          <a:prstGeom prst="roundRect">
            <a:avLst>
              <a:gd name="adj" fmla="val 7000"/>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13232" y="4480560"/>
            <a:ext cx="10881360" cy="347472"/>
          </a:xfrm>
          <a:prstGeom prst="rect">
            <a:avLst/>
          </a:prstGeom>
          <a:noFill/>
        </p:spPr>
        <p:txBody>
          <a:bodyPr wrap="square">
            <a:spAutoFit/>
          </a:bodyPr>
          <a:lstStyle/>
          <a:p>
            <a:pPr algn="l"/>
            <a:r>
              <a:rPr sz="1500" b="1" i="0">
                <a:solidFill>
                  <a:srgbClr val="F97316"/>
                </a:solidFill>
                <a:latin typeface="Segoe UI"/>
              </a:rPr>
              <a:t>3 · IMC infla métricas — el modelo práctico debe usar solo hábitos</a:t>
            </a:r>
          </a:p>
        </p:txBody>
      </p:sp>
      <p:sp>
        <p:nvSpPr>
          <p:cNvPr id="19" name="TextBox 18"/>
          <p:cNvSpPr txBox="1"/>
          <p:nvPr/>
        </p:nvSpPr>
        <p:spPr>
          <a:xfrm>
            <a:off x="713232" y="4864608"/>
            <a:ext cx="10881360" cy="914400"/>
          </a:xfrm>
          <a:prstGeom prst="rect">
            <a:avLst/>
          </a:prstGeom>
          <a:noFill/>
        </p:spPr>
        <p:txBody>
          <a:bodyPr wrap="square">
            <a:spAutoFit/>
          </a:bodyPr>
          <a:lstStyle/>
          <a:p>
            <a:pPr algn="l"/>
            <a:r>
              <a:rPr sz="1200" b="0" i="0">
                <a:solidFill>
                  <a:srgbClr val="111827"/>
                </a:solidFill>
                <a:latin typeface="Segoe UI"/>
              </a:rPr>
              <a:t>Con BMI como atributo, F1 sube de 0.9637 a 0.9834. El target NObeyesdad fue construido desde el IMC (Mendoza Palechor, 2019): incluirlo crea circularidad. Un modelo sin antropometría directa es más valioso en la práctica.</a:t>
            </a:r>
          </a:p>
        </p:txBody>
      </p:sp>
      <p:sp>
        <p:nvSpPr>
          <p:cNvPr id="20" name="Rounded Rectangle 19"/>
          <p:cNvSpPr/>
          <p:nvPr/>
        </p:nvSpPr>
        <p:spPr>
          <a:xfrm>
            <a:off x="411480" y="6035040"/>
            <a:ext cx="11384280" cy="713232"/>
          </a:xfrm>
          <a:prstGeom prst="roundRect">
            <a:avLst>
              <a:gd name="adj" fmla="val 7000"/>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411480" y="6035040"/>
            <a:ext cx="109728" cy="713232"/>
          </a:xfrm>
          <a:prstGeom prst="roundRect">
            <a:avLst>
              <a:gd name="adj" fmla="val 7000"/>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13232" y="6080760"/>
            <a:ext cx="1828800" cy="256032"/>
          </a:xfrm>
          <a:prstGeom prst="rect">
            <a:avLst/>
          </a:prstGeom>
          <a:noFill/>
        </p:spPr>
        <p:txBody>
          <a:bodyPr wrap="square">
            <a:spAutoFit/>
          </a:bodyPr>
          <a:lstStyle/>
          <a:p>
            <a:pPr algn="l"/>
            <a:r>
              <a:rPr sz="1000" b="1" i="0">
                <a:solidFill>
                  <a:srgbClr val="111827"/>
                </a:solidFill>
                <a:latin typeface="Segoe UI"/>
              </a:rPr>
              <a:t>Bibliografía principal:</a:t>
            </a:r>
          </a:p>
        </p:txBody>
      </p:sp>
      <p:sp>
        <p:nvSpPr>
          <p:cNvPr id="23" name="TextBox 22"/>
          <p:cNvSpPr txBox="1"/>
          <p:nvPr/>
        </p:nvSpPr>
        <p:spPr>
          <a:xfrm>
            <a:off x="2468880" y="6080760"/>
            <a:ext cx="8869680" cy="621792"/>
          </a:xfrm>
          <a:prstGeom prst="rect">
            <a:avLst/>
          </a:prstGeom>
          <a:noFill/>
        </p:spPr>
        <p:txBody>
          <a:bodyPr wrap="square">
            <a:spAutoFit/>
          </a:bodyPr>
          <a:lstStyle/>
          <a:p>
            <a:pPr algn="l"/>
            <a:r>
              <a:rPr sz="1000" b="0" i="1">
                <a:solidFill>
                  <a:srgbClr val="64748B"/>
                </a:solidFill>
                <a:latin typeface="Segoe UI"/>
              </a:rPr>
              <a:t>Mendoza Palechor &amp; De la Hoz Manotas (2019). Dataset for estimation of obesity levels. Data in Brief, 25, 104344. doi:10.1016/j.dib.2019.104344  ·  Das et al. (2026). GBWOEM. F1000Research, 14, 1161.  ·  Næss et al. (2016). Intergenerational Transmission. PLoS ONE, 11(11), e0166585.</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11480" y="256032"/>
            <a:ext cx="146304" cy="59436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182880"/>
            <a:ext cx="10881360" cy="830997"/>
          </a:xfrm>
          <a:prstGeom prst="rect">
            <a:avLst/>
          </a:prstGeom>
          <a:noFill/>
        </p:spPr>
        <p:txBody>
          <a:bodyPr wrap="square">
            <a:spAutoFit/>
          </a:bodyPr>
          <a:lstStyle/>
          <a:p>
            <a:pPr algn="l"/>
            <a:r>
              <a:rPr sz="2400" b="1" i="0" dirty="0">
                <a:solidFill>
                  <a:srgbClr val="111827"/>
                </a:solidFill>
                <a:latin typeface="Segoe UI"/>
              </a:rPr>
              <a:t>El </a:t>
            </a:r>
            <a:r>
              <a:rPr sz="2400" b="1" i="0" dirty="0" err="1">
                <a:solidFill>
                  <a:srgbClr val="111827"/>
                </a:solidFill>
                <a:latin typeface="Segoe UI"/>
              </a:rPr>
              <a:t>análisis</a:t>
            </a:r>
            <a:r>
              <a:rPr sz="2400" b="1" i="0" dirty="0">
                <a:solidFill>
                  <a:srgbClr val="111827"/>
                </a:solidFill>
                <a:latin typeface="Segoe UI"/>
              </a:rPr>
              <a:t> </a:t>
            </a:r>
            <a:r>
              <a:rPr sz="2400" b="1" i="0" dirty="0" err="1">
                <a:solidFill>
                  <a:srgbClr val="111827"/>
                </a:solidFill>
                <a:latin typeface="Segoe UI"/>
              </a:rPr>
              <a:t>tiene</a:t>
            </a:r>
            <a:r>
              <a:rPr sz="2400" b="1" i="0" dirty="0">
                <a:solidFill>
                  <a:srgbClr val="111827"/>
                </a:solidFill>
                <a:latin typeface="Segoe UI"/>
              </a:rPr>
              <a:t> </a:t>
            </a:r>
            <a:r>
              <a:rPr sz="2400" b="1" i="0" dirty="0" err="1">
                <a:solidFill>
                  <a:srgbClr val="111827"/>
                </a:solidFill>
                <a:latin typeface="Segoe UI"/>
              </a:rPr>
              <a:t>limitaciones</a:t>
            </a:r>
            <a:r>
              <a:rPr sz="2400" b="1" i="0" dirty="0">
                <a:solidFill>
                  <a:srgbClr val="111827"/>
                </a:solidFill>
                <a:latin typeface="Segoe UI"/>
              </a:rPr>
              <a:t> </a:t>
            </a:r>
            <a:r>
              <a:rPr sz="2400" b="1" i="0" dirty="0" err="1">
                <a:solidFill>
                  <a:srgbClr val="111827"/>
                </a:solidFill>
                <a:latin typeface="Segoe UI"/>
              </a:rPr>
              <a:t>metodológicas</a:t>
            </a:r>
            <a:r>
              <a:rPr sz="2400" b="1" i="0" dirty="0">
                <a:solidFill>
                  <a:srgbClr val="111827"/>
                </a:solidFill>
                <a:latin typeface="Segoe UI"/>
              </a:rPr>
              <a:t> </a:t>
            </a:r>
            <a:r>
              <a:rPr sz="2400" b="1" i="0" dirty="0" err="1">
                <a:solidFill>
                  <a:srgbClr val="111827"/>
                </a:solidFill>
                <a:latin typeface="Segoe UI"/>
              </a:rPr>
              <a:t>que</a:t>
            </a:r>
            <a:r>
              <a:rPr sz="2400" b="1" i="0" dirty="0">
                <a:solidFill>
                  <a:srgbClr val="111827"/>
                </a:solidFill>
                <a:latin typeface="Segoe UI"/>
              </a:rPr>
              <a:t> </a:t>
            </a:r>
            <a:r>
              <a:rPr sz="2400" b="1" i="0" dirty="0" err="1">
                <a:solidFill>
                  <a:srgbClr val="111827"/>
                </a:solidFill>
                <a:latin typeface="Segoe UI"/>
              </a:rPr>
              <a:t>abren</a:t>
            </a:r>
            <a:r>
              <a:rPr sz="2400" b="1" i="0" dirty="0">
                <a:solidFill>
                  <a:srgbClr val="111827"/>
                </a:solidFill>
                <a:latin typeface="Segoe UI"/>
              </a:rPr>
              <a:t> </a:t>
            </a:r>
            <a:r>
              <a:rPr sz="2400" b="1" i="0" dirty="0" err="1">
                <a:solidFill>
                  <a:srgbClr val="111827"/>
                </a:solidFill>
                <a:latin typeface="Segoe UI"/>
              </a:rPr>
              <a:t>líneas</a:t>
            </a:r>
            <a:r>
              <a:rPr sz="2400" b="1" i="0" dirty="0">
                <a:solidFill>
                  <a:srgbClr val="111827"/>
                </a:solidFill>
                <a:latin typeface="Segoe UI"/>
              </a:rPr>
              <a:t> de </a:t>
            </a:r>
            <a:r>
              <a:rPr sz="2400" b="1" i="0" dirty="0" err="1">
                <a:solidFill>
                  <a:srgbClr val="111827"/>
                </a:solidFill>
                <a:latin typeface="Segoe UI"/>
              </a:rPr>
              <a:t>mejora</a:t>
            </a:r>
            <a:r>
              <a:rPr sz="2400" b="1" i="0" dirty="0">
                <a:solidFill>
                  <a:srgbClr val="111827"/>
                </a:solidFill>
                <a:latin typeface="Segoe UI"/>
              </a:rPr>
              <a:t> </a:t>
            </a:r>
            <a:r>
              <a:rPr sz="2400" b="1" i="0" dirty="0" err="1">
                <a:solidFill>
                  <a:srgbClr val="111827"/>
                </a:solidFill>
                <a:latin typeface="Segoe UI"/>
              </a:rPr>
              <a:t>concretas</a:t>
            </a:r>
            <a:endParaRPr sz="2400" b="1" i="0" dirty="0">
              <a:solidFill>
                <a:srgbClr val="111827"/>
              </a:solidFill>
              <a:latin typeface="Segoe UI"/>
            </a:endParaRPr>
          </a:p>
        </p:txBody>
      </p:sp>
      <p:sp>
        <p:nvSpPr>
          <p:cNvPr id="5" name="TextBox 4"/>
          <p:cNvSpPr txBox="1"/>
          <p:nvPr/>
        </p:nvSpPr>
        <p:spPr>
          <a:xfrm>
            <a:off x="3856685" y="704469"/>
            <a:ext cx="10881360" cy="347472"/>
          </a:xfrm>
          <a:prstGeom prst="rect">
            <a:avLst/>
          </a:prstGeom>
          <a:noFill/>
        </p:spPr>
        <p:txBody>
          <a:bodyPr wrap="square">
            <a:spAutoFit/>
          </a:bodyPr>
          <a:lstStyle/>
          <a:p>
            <a:pPr algn="l"/>
            <a:r>
              <a:rPr sz="1400" b="0" i="0" dirty="0" err="1">
                <a:solidFill>
                  <a:srgbClr val="64748B"/>
                </a:solidFill>
                <a:latin typeface="Segoe UI"/>
              </a:rPr>
              <a:t>Evaluación</a:t>
            </a:r>
            <a:r>
              <a:rPr sz="1400" b="0" i="0" dirty="0">
                <a:solidFill>
                  <a:srgbClr val="64748B"/>
                </a:solidFill>
                <a:latin typeface="Segoe UI"/>
              </a:rPr>
              <a:t> </a:t>
            </a:r>
            <a:r>
              <a:rPr sz="1400" b="0" i="0" dirty="0" err="1">
                <a:solidFill>
                  <a:srgbClr val="64748B"/>
                </a:solidFill>
                <a:latin typeface="Segoe UI"/>
              </a:rPr>
              <a:t>crítica</a:t>
            </a:r>
            <a:r>
              <a:rPr sz="1400" b="0" i="0" dirty="0">
                <a:solidFill>
                  <a:srgbClr val="64748B"/>
                </a:solidFill>
                <a:latin typeface="Segoe UI"/>
              </a:rPr>
              <a:t> — </a:t>
            </a:r>
            <a:r>
              <a:rPr sz="1400" b="0" i="0" dirty="0" err="1">
                <a:solidFill>
                  <a:srgbClr val="64748B"/>
                </a:solidFill>
                <a:latin typeface="Segoe UI"/>
              </a:rPr>
              <a:t>limitaciones</a:t>
            </a:r>
            <a:r>
              <a:rPr sz="1400" b="0" i="0" dirty="0">
                <a:solidFill>
                  <a:srgbClr val="64748B"/>
                </a:solidFill>
                <a:latin typeface="Segoe UI"/>
              </a:rPr>
              <a:t> y </a:t>
            </a:r>
            <a:r>
              <a:rPr sz="1400" b="0" i="0" dirty="0" err="1">
                <a:solidFill>
                  <a:srgbClr val="64748B"/>
                </a:solidFill>
                <a:latin typeface="Segoe UI"/>
              </a:rPr>
              <a:t>mejoras</a:t>
            </a:r>
            <a:r>
              <a:rPr sz="1400" b="0" i="0" dirty="0">
                <a:solidFill>
                  <a:srgbClr val="64748B"/>
                </a:solidFill>
                <a:latin typeface="Segoe UI"/>
              </a:rPr>
              <a:t> </a:t>
            </a:r>
            <a:r>
              <a:rPr sz="1400" b="0" i="0" dirty="0" err="1">
                <a:solidFill>
                  <a:srgbClr val="64748B"/>
                </a:solidFill>
                <a:latin typeface="Segoe UI"/>
              </a:rPr>
              <a:t>futuras</a:t>
            </a:r>
            <a:endParaRPr sz="1400" b="0" i="0" dirty="0">
              <a:solidFill>
                <a:srgbClr val="64748B"/>
              </a:solidFill>
              <a:latin typeface="Segoe UI"/>
            </a:endParaRPr>
          </a:p>
        </p:txBody>
      </p:sp>
      <p:sp>
        <p:nvSpPr>
          <p:cNvPr id="6" name="Rectangle 5"/>
          <p:cNvSpPr/>
          <p:nvPr/>
        </p:nvSpPr>
        <p:spPr>
          <a:xfrm>
            <a:off x="411480" y="1133856"/>
            <a:ext cx="11365992"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55680" y="6510528"/>
            <a:ext cx="914400" cy="274320"/>
          </a:xfrm>
          <a:prstGeom prst="rect">
            <a:avLst/>
          </a:prstGeom>
          <a:noFill/>
        </p:spPr>
        <p:txBody>
          <a:bodyPr wrap="square">
            <a:spAutoFit/>
          </a:bodyPr>
          <a:lstStyle/>
          <a:p>
            <a:pPr algn="r"/>
            <a:r>
              <a:rPr sz="900" b="0" i="0">
                <a:solidFill>
                  <a:srgbClr val="64748B"/>
                </a:solidFill>
                <a:latin typeface="Segoe UI"/>
              </a:rPr>
              <a:t>18 / 20</a:t>
            </a:r>
          </a:p>
        </p:txBody>
      </p:sp>
      <p:sp>
        <p:nvSpPr>
          <p:cNvPr id="8" name="Rounded Rectangle 7"/>
          <p:cNvSpPr/>
          <p:nvPr/>
        </p:nvSpPr>
        <p:spPr>
          <a:xfrm>
            <a:off x="411480" y="1298448"/>
            <a:ext cx="5440680" cy="5120640"/>
          </a:xfrm>
          <a:prstGeom prst="roundRect">
            <a:avLst>
              <a:gd name="adj" fmla="val 7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11480" y="1298448"/>
            <a:ext cx="109728" cy="5120640"/>
          </a:xfrm>
          <a:prstGeom prst="roundRect">
            <a:avLst>
              <a:gd name="adj" fmla="val 7000"/>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1435608"/>
            <a:ext cx="4983480" cy="347472"/>
          </a:xfrm>
          <a:prstGeom prst="rect">
            <a:avLst/>
          </a:prstGeom>
          <a:noFill/>
        </p:spPr>
        <p:txBody>
          <a:bodyPr wrap="square">
            <a:spAutoFit/>
          </a:bodyPr>
          <a:lstStyle/>
          <a:p>
            <a:pPr algn="l"/>
            <a:r>
              <a:rPr sz="1700" b="1" i="0">
                <a:solidFill>
                  <a:srgbClr val="F97316"/>
                </a:solidFill>
                <a:latin typeface="Segoe UI"/>
              </a:rPr>
              <a:t>Limitaciones del trabajo</a:t>
            </a:r>
          </a:p>
        </p:txBody>
      </p:sp>
      <p:sp>
        <p:nvSpPr>
          <p:cNvPr id="11" name="TextBox 10"/>
          <p:cNvSpPr txBox="1"/>
          <p:nvPr/>
        </p:nvSpPr>
        <p:spPr>
          <a:xfrm>
            <a:off x="713232" y="1828800"/>
            <a:ext cx="4983480" cy="4389120"/>
          </a:xfrm>
          <a:prstGeom prst="rect">
            <a:avLst/>
          </a:prstGeom>
          <a:noFill/>
        </p:spPr>
        <p:txBody>
          <a:bodyPr wrap="square">
            <a:spAutoFit/>
          </a:bodyPr>
          <a:lstStyle/>
          <a:p>
            <a:pPr>
              <a:spcBef>
                <a:spcPts val="600"/>
              </a:spcBef>
            </a:pPr>
            <a:r>
              <a:rPr sz="1200">
                <a:solidFill>
                  <a:srgbClr val="111827"/>
                </a:solidFill>
                <a:latin typeface="Segoe UI"/>
              </a:rPr>
              <a:t>•  77% del dataset es sintético (SMOTE): métricas pueden ser más optimistas que en datos reales</a:t>
            </a:r>
          </a:p>
          <a:p>
            <a:pPr>
              <a:spcBef>
                <a:spcPts val="600"/>
              </a:spcBef>
            </a:pPr>
            <a:r>
              <a:rPr sz="1200">
                <a:solidFill>
                  <a:srgbClr val="111827"/>
                </a:solidFill>
                <a:latin typeface="Segoe UI"/>
              </a:rPr>
              <a:t>•  Variable objetivo construida desde IMC → incluir BMI como feature crea circularidad</a:t>
            </a:r>
          </a:p>
          <a:p>
            <a:pPr>
              <a:spcBef>
                <a:spcPts val="600"/>
              </a:spcBef>
            </a:pPr>
            <a:r>
              <a:rPr sz="1200">
                <a:solidFill>
                  <a:srgbClr val="111827"/>
                </a:solidFill>
                <a:latin typeface="Segoe UI"/>
              </a:rPr>
              <a:t>•  Silhouette bajo (&lt;0.15) en clustering: límites entre niveles de obesidad son continuos</a:t>
            </a:r>
          </a:p>
          <a:p>
            <a:pPr>
              <a:spcBef>
                <a:spcPts val="600"/>
              </a:spcBef>
            </a:pPr>
            <a:r>
              <a:rPr sz="1200">
                <a:solidFill>
                  <a:srgbClr val="111827"/>
                </a:solidFill>
                <a:latin typeface="Segoe UI"/>
              </a:rPr>
              <a:t>•  DBSCAN con mejor Silhouette (0.32) pero inválido por ruido y clusters desbalanceados</a:t>
            </a:r>
          </a:p>
          <a:p>
            <a:pPr>
              <a:spcBef>
                <a:spcPts val="600"/>
              </a:spcBef>
            </a:pPr>
            <a:r>
              <a:rPr sz="1200">
                <a:solidFill>
                  <a:srgbClr val="111827"/>
                </a:solidFill>
                <a:latin typeface="Segoe UI"/>
              </a:rPr>
              <a:t>•  Reducción de dimensionalidad degradó clasificación: señal discriminativa se perdió al comprimir</a:t>
            </a:r>
          </a:p>
          <a:p>
            <a:pPr>
              <a:spcBef>
                <a:spcPts val="600"/>
              </a:spcBef>
            </a:pPr>
            <a:r>
              <a:rPr sz="1200">
                <a:solidFill>
                  <a:srgbClr val="111827"/>
                </a:solidFill>
                <a:latin typeface="Segoe UI"/>
              </a:rPr>
              <a:t>•  Datos de México, Perú y Colombia: generalización a otras poblaciones es incierta</a:t>
            </a:r>
          </a:p>
          <a:p>
            <a:pPr>
              <a:spcBef>
                <a:spcPts val="600"/>
              </a:spcBef>
            </a:pPr>
            <a:r>
              <a:rPr sz="1200">
                <a:solidFill>
                  <a:srgbClr val="111827"/>
                </a:solidFill>
                <a:latin typeface="Segoe UI"/>
              </a:rPr>
              <a:t>•  GMM 'full' concentró el 66% en un componente y dejó dos perfiles solapados: mejor Silhouette (0.147) pero menor accionabilidad que K-Means (trade-off asumido)</a:t>
            </a:r>
          </a:p>
        </p:txBody>
      </p:sp>
      <p:sp>
        <p:nvSpPr>
          <p:cNvPr id="12" name="Rounded Rectangle 11"/>
          <p:cNvSpPr/>
          <p:nvPr/>
        </p:nvSpPr>
        <p:spPr>
          <a:xfrm>
            <a:off x="6080760" y="1298448"/>
            <a:ext cx="5715000" cy="5120640"/>
          </a:xfrm>
          <a:prstGeom prst="roundRect">
            <a:avLst>
              <a:gd name="adj" fmla="val 7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080760" y="1298448"/>
            <a:ext cx="109728" cy="5120640"/>
          </a:xfrm>
          <a:prstGeom prst="roundRect">
            <a:avLst>
              <a:gd name="adj" fmla="val 7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82512" y="1435608"/>
            <a:ext cx="5257800" cy="347472"/>
          </a:xfrm>
          <a:prstGeom prst="rect">
            <a:avLst/>
          </a:prstGeom>
          <a:noFill/>
        </p:spPr>
        <p:txBody>
          <a:bodyPr wrap="square">
            <a:spAutoFit/>
          </a:bodyPr>
          <a:lstStyle/>
          <a:p>
            <a:pPr algn="l"/>
            <a:r>
              <a:rPr sz="1700" b="1" i="0">
                <a:solidFill>
                  <a:srgbClr val="16A34A"/>
                </a:solidFill>
                <a:latin typeface="Segoe UI"/>
              </a:rPr>
              <a:t>Mejoras futuras propuestas</a:t>
            </a:r>
          </a:p>
        </p:txBody>
      </p:sp>
      <p:sp>
        <p:nvSpPr>
          <p:cNvPr id="15" name="TextBox 14"/>
          <p:cNvSpPr txBox="1"/>
          <p:nvPr/>
        </p:nvSpPr>
        <p:spPr>
          <a:xfrm>
            <a:off x="6382512" y="1828800"/>
            <a:ext cx="5257800" cy="4389120"/>
          </a:xfrm>
          <a:prstGeom prst="rect">
            <a:avLst/>
          </a:prstGeom>
          <a:noFill/>
        </p:spPr>
        <p:txBody>
          <a:bodyPr wrap="square">
            <a:spAutoFit/>
          </a:bodyPr>
          <a:lstStyle/>
          <a:p>
            <a:pPr>
              <a:spcBef>
                <a:spcPts val="500"/>
              </a:spcBef>
            </a:pPr>
            <a:r>
              <a:rPr sz="1200">
                <a:solidFill>
                  <a:srgbClr val="111827"/>
                </a:solidFill>
                <a:latin typeface="Segoe UI"/>
              </a:rPr>
              <a:t>•  Modelo solo con hábitos (excluir Peso, Talla, BMI) para un clasificador más útil en la práctica</a:t>
            </a:r>
          </a:p>
          <a:p>
            <a:pPr>
              <a:spcBef>
                <a:spcPts val="500"/>
              </a:spcBef>
            </a:pPr>
            <a:r>
              <a:rPr sz="1200">
                <a:solidFill>
                  <a:srgbClr val="111827"/>
                </a:solidFill>
                <a:latin typeface="Segoe UI"/>
              </a:rPr>
              <a:t>•  Validar con datos reales no sintéticos para confirmar generalización</a:t>
            </a:r>
          </a:p>
          <a:p>
            <a:pPr>
              <a:spcBef>
                <a:spcPts val="500"/>
              </a:spcBef>
            </a:pPr>
            <a:r>
              <a:rPr sz="1200">
                <a:solidFill>
                  <a:srgbClr val="111827"/>
                </a:solidFill>
                <a:latin typeface="Segoe UI"/>
              </a:rPr>
              <a:t>•  Explorar SHAP values para interpretabilidad fina por instancia</a:t>
            </a:r>
          </a:p>
          <a:p>
            <a:pPr>
              <a:spcBef>
                <a:spcPts val="500"/>
              </a:spcBef>
            </a:pPr>
            <a:r>
              <a:rPr sz="1200">
                <a:solidFill>
                  <a:srgbClr val="111827"/>
                </a:solidFill>
                <a:latin typeface="Segoe UI"/>
              </a:rPr>
              <a:t>•  GridSearchCV completo sobre espacio más amplio de hiperparámetros</a:t>
            </a:r>
          </a:p>
          <a:p>
            <a:pPr>
              <a:spcBef>
                <a:spcPts val="500"/>
              </a:spcBef>
            </a:pPr>
            <a:r>
              <a:rPr sz="1200">
                <a:solidFill>
                  <a:srgbClr val="111827"/>
                </a:solidFill>
                <a:latin typeface="Segoe UI"/>
              </a:rPr>
              <a:t>•  Aplicación web (Streamlit/FastAPI) para consultas del clasificador</a:t>
            </a:r>
          </a:p>
          <a:p>
            <a:pPr>
              <a:spcBef>
                <a:spcPts val="500"/>
              </a:spcBef>
            </a:pPr>
            <a:r>
              <a:rPr sz="1200">
                <a:solidFill>
                  <a:srgbClr val="111827"/>
                </a:solidFill>
                <a:latin typeface="Segoe UI"/>
              </a:rPr>
              <a:t>•  Análisis de clustering con más algoritmos (HDBSCAN) y mayor rango de k</a:t>
            </a:r>
          </a:p>
          <a:p>
            <a:pPr>
              <a:spcBef>
                <a:spcPts val="500"/>
              </a:spcBef>
            </a:pPr>
            <a:r>
              <a:rPr sz="1200">
                <a:solidFill>
                  <a:srgbClr val="111827"/>
                </a:solidFill>
                <a:latin typeface="Segoe UI"/>
              </a:rPr>
              <a:t>•  Segmentación demográfica: analizar diferencias por país o grupo etario</a:t>
            </a:r>
          </a:p>
          <a:p>
            <a:pPr>
              <a:spcBef>
                <a:spcPts val="500"/>
              </a:spcBef>
            </a:pPr>
            <a:r>
              <a:rPr sz="1200">
                <a:solidFill>
                  <a:srgbClr val="111827"/>
                </a:solidFill>
                <a:latin typeface="Segoe UI"/>
              </a:rPr>
              <a:t>•  Incorporar datos longitudinales para evaluar evolución del riesgo</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875520" y="3108960"/>
            <a:ext cx="4389120" cy="4389120"/>
          </a:xfrm>
          <a:prstGeom prst="ellipse">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972800" y="4206240"/>
            <a:ext cx="2926080" cy="292608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115568"/>
            <a:ext cx="256032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510528"/>
            <a:ext cx="914400" cy="274320"/>
          </a:xfrm>
          <a:prstGeom prst="rect">
            <a:avLst/>
          </a:prstGeom>
          <a:noFill/>
        </p:spPr>
        <p:txBody>
          <a:bodyPr wrap="square">
            <a:spAutoFit/>
          </a:bodyPr>
          <a:lstStyle/>
          <a:p>
            <a:pPr algn="r"/>
            <a:r>
              <a:rPr sz="900" b="0" i="0">
                <a:solidFill>
                  <a:srgbClr val="94A3B8"/>
                </a:solidFill>
                <a:latin typeface="Segoe UI"/>
              </a:rPr>
              <a:t>19 / 20</a:t>
            </a:r>
          </a:p>
        </p:txBody>
      </p:sp>
      <p:sp>
        <p:nvSpPr>
          <p:cNvPr id="7" name="TextBox 6"/>
          <p:cNvSpPr txBox="1"/>
          <p:nvPr/>
        </p:nvSpPr>
        <p:spPr>
          <a:xfrm>
            <a:off x="658368" y="274320"/>
            <a:ext cx="10058400" cy="685800"/>
          </a:xfrm>
          <a:prstGeom prst="rect">
            <a:avLst/>
          </a:prstGeom>
          <a:noFill/>
        </p:spPr>
        <p:txBody>
          <a:bodyPr wrap="square">
            <a:spAutoFit/>
          </a:bodyPr>
          <a:lstStyle/>
          <a:p>
            <a:pPr algn="l"/>
            <a:r>
              <a:rPr sz="3800" b="1" i="0">
                <a:solidFill>
                  <a:srgbClr val="F9FAFB"/>
                </a:solidFill>
                <a:latin typeface="Segoe UI"/>
              </a:rPr>
              <a:t>Conclusión Final</a:t>
            </a:r>
          </a:p>
        </p:txBody>
      </p:sp>
      <p:sp>
        <p:nvSpPr>
          <p:cNvPr id="8" name="TextBox 7"/>
          <p:cNvSpPr txBox="1"/>
          <p:nvPr/>
        </p:nvSpPr>
        <p:spPr>
          <a:xfrm>
            <a:off x="685800" y="1207008"/>
            <a:ext cx="10515600" cy="347472"/>
          </a:xfrm>
          <a:prstGeom prst="rect">
            <a:avLst/>
          </a:prstGeom>
          <a:noFill/>
        </p:spPr>
        <p:txBody>
          <a:bodyPr wrap="square">
            <a:spAutoFit/>
          </a:bodyPr>
          <a:lstStyle/>
          <a:p>
            <a:pPr algn="l"/>
            <a:r>
              <a:rPr sz="1300" b="0" i="0">
                <a:solidFill>
                  <a:srgbClr val="8AA4BC"/>
                </a:solidFill>
                <a:latin typeface="Segoe UI"/>
              </a:rPr>
              <a:t>Obesity Levels Analysis · CRISP-DM · Magíster en Data Science · USS</a:t>
            </a:r>
          </a:p>
        </p:txBody>
      </p:sp>
      <p:sp>
        <p:nvSpPr>
          <p:cNvPr id="9" name="Rounded Rectangle 8"/>
          <p:cNvSpPr/>
          <p:nvPr/>
        </p:nvSpPr>
        <p:spPr>
          <a:xfrm>
            <a:off x="411480" y="1719072"/>
            <a:ext cx="11384280" cy="877824"/>
          </a:xfrm>
          <a:prstGeom prst="roundRect">
            <a:avLst>
              <a:gd name="adj" fmla="val 7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11480" y="1792224"/>
            <a:ext cx="82296" cy="73152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1764792"/>
            <a:ext cx="3474720" cy="365760"/>
          </a:xfrm>
          <a:prstGeom prst="rect">
            <a:avLst/>
          </a:prstGeom>
          <a:noFill/>
        </p:spPr>
        <p:txBody>
          <a:bodyPr wrap="square">
            <a:spAutoFit/>
          </a:bodyPr>
          <a:lstStyle/>
          <a:p>
            <a:pPr algn="l"/>
            <a:r>
              <a:rPr sz="1300" b="1" i="0">
                <a:solidFill>
                  <a:srgbClr val="2563EB"/>
                </a:solidFill>
                <a:latin typeface="Segoe UI"/>
              </a:rPr>
              <a:t>Clustering Gaussian Mixture (k=4)</a:t>
            </a:r>
          </a:p>
        </p:txBody>
      </p:sp>
      <p:sp>
        <p:nvSpPr>
          <p:cNvPr id="12" name="TextBox 11"/>
          <p:cNvSpPr txBox="1"/>
          <p:nvPr/>
        </p:nvSpPr>
        <p:spPr>
          <a:xfrm>
            <a:off x="4297680" y="1773936"/>
            <a:ext cx="7315200" cy="777240"/>
          </a:xfrm>
          <a:prstGeom prst="rect">
            <a:avLst/>
          </a:prstGeom>
          <a:noFill/>
        </p:spPr>
        <p:txBody>
          <a:bodyPr wrap="square">
            <a:spAutoFit/>
          </a:bodyPr>
          <a:lstStyle/>
          <a:p>
            <a:pPr algn="l"/>
            <a:r>
              <a:rPr sz="1100" b="0" i="0">
                <a:solidFill>
                  <a:srgbClr val="D4DFEE"/>
                </a:solidFill>
                <a:latin typeface="Segoe UI"/>
              </a:rPr>
              <a:t>Cuatro perfiles de riesgo diferenciados por IMC, peso y actividad física. Seleccionado por adecuación a la estructura no globular (mixtura elíptica + Silhouette superior). El grupo de obesidad severa concentra 100% de historia familiar.</a:t>
            </a:r>
          </a:p>
        </p:txBody>
      </p:sp>
      <p:sp>
        <p:nvSpPr>
          <p:cNvPr id="13" name="Rounded Rectangle 12"/>
          <p:cNvSpPr/>
          <p:nvPr/>
        </p:nvSpPr>
        <p:spPr>
          <a:xfrm>
            <a:off x="411480" y="2688336"/>
            <a:ext cx="11384280" cy="877824"/>
          </a:xfrm>
          <a:prstGeom prst="roundRect">
            <a:avLst>
              <a:gd name="adj" fmla="val 7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11480" y="2761488"/>
            <a:ext cx="82296" cy="73152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5800" y="2734056"/>
            <a:ext cx="3474720" cy="365760"/>
          </a:xfrm>
          <a:prstGeom prst="rect">
            <a:avLst/>
          </a:prstGeom>
          <a:noFill/>
        </p:spPr>
        <p:txBody>
          <a:bodyPr wrap="square">
            <a:spAutoFit/>
          </a:bodyPr>
          <a:lstStyle/>
          <a:p>
            <a:pPr algn="l"/>
            <a:r>
              <a:rPr sz="1300" b="1" i="0">
                <a:solidFill>
                  <a:srgbClr val="16A34A"/>
                </a:solidFill>
                <a:latin typeface="Segoe UI"/>
              </a:rPr>
              <a:t>Clasificación — XGBoost (mejor de 6)</a:t>
            </a:r>
          </a:p>
        </p:txBody>
      </p:sp>
      <p:sp>
        <p:nvSpPr>
          <p:cNvPr id="16" name="TextBox 15"/>
          <p:cNvSpPr txBox="1"/>
          <p:nvPr/>
        </p:nvSpPr>
        <p:spPr>
          <a:xfrm>
            <a:off x="4297680" y="2743200"/>
            <a:ext cx="7315200" cy="777240"/>
          </a:xfrm>
          <a:prstGeom prst="rect">
            <a:avLst/>
          </a:prstGeom>
          <a:noFill/>
        </p:spPr>
        <p:txBody>
          <a:bodyPr wrap="square">
            <a:spAutoFit/>
          </a:bodyPr>
          <a:lstStyle/>
          <a:p>
            <a:pPr algn="l"/>
            <a:r>
              <a:rPr sz="1100" b="0" i="0">
                <a:solidFill>
                  <a:srgbClr val="D4DFEE"/>
                </a:solidFill>
                <a:latin typeface="Segoe UI"/>
              </a:rPr>
              <a:t>F1 macro 0.9637 en test. RF optimizado alcanzó 0.9904. Modelos de ensemble superaron métodos lineales y basados en distancia.</a:t>
            </a:r>
          </a:p>
        </p:txBody>
      </p:sp>
      <p:sp>
        <p:nvSpPr>
          <p:cNvPr id="17" name="Rounded Rectangle 16"/>
          <p:cNvSpPr/>
          <p:nvPr/>
        </p:nvSpPr>
        <p:spPr>
          <a:xfrm>
            <a:off x="411480" y="3657600"/>
            <a:ext cx="11384280" cy="877824"/>
          </a:xfrm>
          <a:prstGeom prst="roundRect">
            <a:avLst>
              <a:gd name="adj" fmla="val 7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11480" y="3730752"/>
            <a:ext cx="82296" cy="7315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5800" y="3703320"/>
            <a:ext cx="3474720" cy="365760"/>
          </a:xfrm>
          <a:prstGeom prst="rect">
            <a:avLst/>
          </a:prstGeom>
          <a:noFill/>
        </p:spPr>
        <p:txBody>
          <a:bodyPr wrap="square">
            <a:spAutoFit/>
          </a:bodyPr>
          <a:lstStyle/>
          <a:p>
            <a:pPr algn="l"/>
            <a:r>
              <a:rPr sz="1300" b="1" i="0">
                <a:solidFill>
                  <a:srgbClr val="7C3AED"/>
                </a:solidFill>
                <a:latin typeface="Segoe UI"/>
              </a:rPr>
              <a:t>FP-Growth — Lift &gt; 6</a:t>
            </a:r>
          </a:p>
        </p:txBody>
      </p:sp>
      <p:sp>
        <p:nvSpPr>
          <p:cNvPr id="20" name="TextBox 19"/>
          <p:cNvSpPr txBox="1"/>
          <p:nvPr/>
        </p:nvSpPr>
        <p:spPr>
          <a:xfrm>
            <a:off x="4297680" y="3712464"/>
            <a:ext cx="7315200" cy="777240"/>
          </a:xfrm>
          <a:prstGeom prst="rect">
            <a:avLst/>
          </a:prstGeom>
          <a:noFill/>
        </p:spPr>
        <p:txBody>
          <a:bodyPr wrap="square">
            <a:spAutoFit/>
          </a:bodyPr>
          <a:lstStyle/>
          <a:p>
            <a:pPr algn="l"/>
            <a:r>
              <a:rPr sz="1100" b="0" i="0">
                <a:solidFill>
                  <a:srgbClr val="D4DFEE"/>
                </a:solidFill>
                <a:latin typeface="Segoe UI"/>
              </a:rPr>
              <a:t>Historia familiar + hábitos hipercalóricos + sedentarismo forman predictor combinado. 7.312 itemsets frecuentes. 6 reglas novedosas con Lift máximo 6.38.</a:t>
            </a:r>
          </a:p>
        </p:txBody>
      </p:sp>
      <p:sp>
        <p:nvSpPr>
          <p:cNvPr id="21" name="Rounded Rectangle 20"/>
          <p:cNvSpPr/>
          <p:nvPr/>
        </p:nvSpPr>
        <p:spPr>
          <a:xfrm>
            <a:off x="411480" y="4626864"/>
            <a:ext cx="11384280" cy="877824"/>
          </a:xfrm>
          <a:prstGeom prst="roundRect">
            <a:avLst>
              <a:gd name="adj" fmla="val 7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11480" y="4700016"/>
            <a:ext cx="82296" cy="73152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85800" y="4672584"/>
            <a:ext cx="3474720" cy="365760"/>
          </a:xfrm>
          <a:prstGeom prst="rect">
            <a:avLst/>
          </a:prstGeom>
          <a:noFill/>
        </p:spPr>
        <p:txBody>
          <a:bodyPr wrap="square">
            <a:spAutoFit/>
          </a:bodyPr>
          <a:lstStyle/>
          <a:p>
            <a:pPr algn="l"/>
            <a:r>
              <a:rPr sz="1300" b="1" i="0">
                <a:solidFill>
                  <a:srgbClr val="F97316"/>
                </a:solidFill>
                <a:latin typeface="Segoe UI"/>
              </a:rPr>
              <a:t>PCA y SVD degradaron clasificación</a:t>
            </a:r>
          </a:p>
        </p:txBody>
      </p:sp>
      <p:sp>
        <p:nvSpPr>
          <p:cNvPr id="24" name="TextBox 23"/>
          <p:cNvSpPr txBox="1"/>
          <p:nvPr/>
        </p:nvSpPr>
        <p:spPr>
          <a:xfrm>
            <a:off x="4297680" y="4681728"/>
            <a:ext cx="7315200" cy="777240"/>
          </a:xfrm>
          <a:prstGeom prst="rect">
            <a:avLst/>
          </a:prstGeom>
          <a:noFill/>
        </p:spPr>
        <p:txBody>
          <a:bodyPr wrap="square">
            <a:spAutoFit/>
          </a:bodyPr>
          <a:lstStyle/>
          <a:p>
            <a:pPr algn="l"/>
            <a:r>
              <a:rPr sz="1100" b="0" i="0">
                <a:solidFill>
                  <a:srgbClr val="D4DFEE"/>
                </a:solidFill>
                <a:latin typeface="Segoe UI"/>
              </a:rPr>
              <a:t>F1 cayó de 0.9637 a 0.8410 (PCA) y 0.8528 (SVD). Más complejidad no implica mejor resultado.</a:t>
            </a:r>
          </a:p>
        </p:txBody>
      </p:sp>
      <p:sp>
        <p:nvSpPr>
          <p:cNvPr id="25" name="Rounded Rectangle 24"/>
          <p:cNvSpPr/>
          <p:nvPr/>
        </p:nvSpPr>
        <p:spPr>
          <a:xfrm>
            <a:off x="411480" y="5596128"/>
            <a:ext cx="11384280" cy="877824"/>
          </a:xfrm>
          <a:prstGeom prst="roundRect">
            <a:avLst>
              <a:gd name="adj" fmla="val 7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11480" y="5669280"/>
            <a:ext cx="82296" cy="731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85800" y="5641848"/>
            <a:ext cx="3474720" cy="365760"/>
          </a:xfrm>
          <a:prstGeom prst="rect">
            <a:avLst/>
          </a:prstGeom>
          <a:noFill/>
        </p:spPr>
        <p:txBody>
          <a:bodyPr wrap="square">
            <a:spAutoFit/>
          </a:bodyPr>
          <a:lstStyle/>
          <a:p>
            <a:pPr algn="l"/>
            <a:r>
              <a:rPr sz="1300" b="1" i="0">
                <a:solidFill>
                  <a:srgbClr val="FFFFFF"/>
                </a:solidFill>
                <a:latin typeface="Segoe UI"/>
              </a:rPr>
              <a:t>Mensaje central del análisis</a:t>
            </a:r>
          </a:p>
        </p:txBody>
      </p:sp>
      <p:sp>
        <p:nvSpPr>
          <p:cNvPr id="28" name="TextBox 27"/>
          <p:cNvSpPr txBox="1"/>
          <p:nvPr/>
        </p:nvSpPr>
        <p:spPr>
          <a:xfrm>
            <a:off x="4297680" y="5650992"/>
            <a:ext cx="7315200" cy="777240"/>
          </a:xfrm>
          <a:prstGeom prst="rect">
            <a:avLst/>
          </a:prstGeom>
          <a:noFill/>
        </p:spPr>
        <p:txBody>
          <a:bodyPr wrap="square">
            <a:spAutoFit/>
          </a:bodyPr>
          <a:lstStyle/>
          <a:p>
            <a:pPr algn="l"/>
            <a:r>
              <a:rPr sz="1100" b="0" i="0">
                <a:solidFill>
                  <a:srgbClr val="D4DFEE"/>
                </a:solidFill>
                <a:latin typeface="Segoe UI"/>
              </a:rPr>
              <a:t>Las mejores decisiones no dependieron de aplicar más modelos, sino de comparar alternativas, justificar supuestos y evaluar cada iteración con métricas consistentes.</a:t>
            </a:r>
          </a:p>
        </p:txBody>
      </p:sp>
      <p:sp>
        <p:nvSpPr>
          <p:cNvPr id="29" name="TextBox 28"/>
          <p:cNvSpPr txBox="1"/>
          <p:nvPr/>
        </p:nvSpPr>
        <p:spPr>
          <a:xfrm>
            <a:off x="685800" y="6510528"/>
            <a:ext cx="10515600" cy="274320"/>
          </a:xfrm>
          <a:prstGeom prst="rect">
            <a:avLst/>
          </a:prstGeom>
          <a:noFill/>
        </p:spPr>
        <p:txBody>
          <a:bodyPr wrap="square">
            <a:spAutoFit/>
          </a:bodyPr>
          <a:lstStyle/>
          <a:p>
            <a:pPr algn="l"/>
            <a:r>
              <a:rPr sz="1000" b="0" i="0">
                <a:solidFill>
                  <a:srgbClr val="7E96AE"/>
                </a:solidFill>
                <a:latin typeface="Segoe UI"/>
              </a:rPr>
              <a:t>Dante Gil Zenteno · Magíster en Data Science, USS · Junio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3240</Words>
  <Application>Microsoft Office PowerPoint</Application>
  <PresentationFormat>Personalizado</PresentationFormat>
  <Paragraphs>488</Paragraphs>
  <Slides>20</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20</vt:i4>
      </vt:variant>
    </vt:vector>
  </HeadingPairs>
  <TitlesOfParts>
    <vt:vector size="24" baseType="lpstr">
      <vt:lpstr>Arial</vt:lpstr>
      <vt:lpstr>Calibri</vt:lpstr>
      <vt:lpstr>Segoe UI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DANTE GIL ZENTENO</cp:lastModifiedBy>
  <cp:revision>2</cp:revision>
  <dcterms:created xsi:type="dcterms:W3CDTF">2013-01-27T09:14:16Z</dcterms:created>
  <dcterms:modified xsi:type="dcterms:W3CDTF">2026-06-15T04:21:52Z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f4e9a4a-eb20-4aad-9a64-8872817c1a6f_Enabled">
    <vt:lpwstr>true</vt:lpwstr>
  </property>
  <property fmtid="{D5CDD505-2E9C-101B-9397-08002B2CF9AE}" pid="3" name="MSIP_Label_9f4e9a4a-eb20-4aad-9a64-8872817c1a6f_SetDate">
    <vt:lpwstr>2026-06-15T04:21:52Z</vt:lpwstr>
  </property>
  <property fmtid="{D5CDD505-2E9C-101B-9397-08002B2CF9AE}" pid="4" name="MSIP_Label_9f4e9a4a-eb20-4aad-9a64-8872817c1a6f_Method">
    <vt:lpwstr>Standard</vt:lpwstr>
  </property>
  <property fmtid="{D5CDD505-2E9C-101B-9397-08002B2CF9AE}" pid="5" name="MSIP_Label_9f4e9a4a-eb20-4aad-9a64-8872817c1a6f_Name">
    <vt:lpwstr>defa4170-0d19-0005-0004-bc88714345d2</vt:lpwstr>
  </property>
  <property fmtid="{D5CDD505-2E9C-101B-9397-08002B2CF9AE}" pid="6" name="MSIP_Label_9f4e9a4a-eb20-4aad-9a64-8872817c1a6f_SiteId">
    <vt:lpwstr>7a599002-001c-432c-846e-1ddca9f6b299</vt:lpwstr>
  </property>
  <property fmtid="{D5CDD505-2E9C-101B-9397-08002B2CF9AE}" pid="7" name="MSIP_Label_9f4e9a4a-eb20-4aad-9a64-8872817c1a6f_ActionId">
    <vt:lpwstr>abcb2bb4-bbe2-4c91-9776-af069b4d896f</vt:lpwstr>
  </property>
  <property fmtid="{D5CDD505-2E9C-101B-9397-08002B2CF9AE}" pid="8" name="MSIP_Label_9f4e9a4a-eb20-4aad-9a64-8872817c1a6f_ContentBits">
    <vt:lpwstr>0</vt:lpwstr>
  </property>
  <property fmtid="{D5CDD505-2E9C-101B-9397-08002B2CF9AE}" pid="9" name="MSIP_Label_9f4e9a4a-eb20-4aad-9a64-8872817c1a6f_Tag">
    <vt:lpwstr>10, 3, 0, 1</vt:lpwstr>
  </property>
</Properties>
</file>