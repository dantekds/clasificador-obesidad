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1274552" cy="457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Análisis de Niveles de Obesidad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FD8"/>
                </a:solidFill>
              </a:rPr>
              <a:t>mediante Métodos de Ciencia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Dataset: Estimation of Obesity Levels — UCI ML Repository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6702552" cy="2651760"/>
          </a:xfrm>
          <a:prstGeom prst="rect">
            <a:avLst/>
          </a:prstGeom>
          <a:solidFill>
            <a:srgbClr val="222D6E"/>
          </a:solidFill>
          <a:ln w="9525"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Alumno: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Dante Gil Zenteno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472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Docente: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4472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Dr. Mauricio Sepúlveda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0142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Asignatura: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1421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Taller de Aplicaciones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5811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Programa: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58114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Magíster en Data Science — Facultad de Ingeniería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AA"/>
                </a:solidFill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Contexto del Problema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1: Comprensión del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66928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5E"/>
                </a:solidFill>
              </a:rPr>
              <a:t>El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2.111 registros de México, Perú y Colombia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17 atributos: hábitos alimentarios, actividad física y características personales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Variable objetivo NObeyesdad: 7 niveles de obesidad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Clases balanceadas (272–351 registros cada una)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Sin valores nulos ni duplicados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Fuente: Mendoza Palechor &amp; De la Hoz Manotas (2019), Data in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5E"/>
                </a:solidFill>
              </a:rPr>
              <a:t>Preguntas Guía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¿Existen grupos de personas con perfiles de riesgo similares?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¿Qué algoritmo predice mejor el nivel de obesidad?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444444"/>
                </a:solidFill>
              </a:rPr>
              <a:t>• ¿Qué combinaciones de hábitos se asocian con ciertos niveles de obesidad?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5E"/>
                </a:solidFill>
              </a:rPr>
              <a:t>Objetivo General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17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Aplicar CRISP-DM sobre el dataset de obesidad usando tres métodos de extracción de conocimiento: agrupamiento, clasificación y asociación con FP-Growth.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Metodología CRISP-DM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Estructura de trabajo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566160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Comprensión
del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Definición del problema, preguntas guía, métricas de éxito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65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Comprensión
de los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603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Carga del CSV, inspección, estadísticas, calidad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566160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965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Preparación
de los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5603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Limpieza, codificación, escalado, versiones por modelo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3566160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43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Modelamiento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37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K-Means · Clasificación · FP-Growth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84048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840480"/>
            <a:ext cx="3566160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343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Evaluación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937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Métricas en test, Lift, interpretación de reglas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840480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840480"/>
            <a:ext cx="3566160" cy="4572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Fase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343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Presentación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937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PPT 15 diapositivas + notebook reproducible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Descripción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2: Comprensión de los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Variables del Dataset (17)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Género (Gender)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Edad (Age)  |  Altura (Height)  |  Peso (Weight)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Historia familiar sobrepeso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Consumo alimentos hipercalóricos (FAVC)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Frecuencia de vegetales (FCVC)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Número de comidas principales (NCP)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Snacks entre comidas (CAEC)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Tabaquismo (SMOKE)  |  Agua (CH2O)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Monitoreo de calorías (SCC)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Actividad física (FAF)  |  Tiempo pantallas (TUE)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Consumo de alcohol (CALC)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Medio de transporte (MTRANS)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→ Nivel de obesidad: NObeyesdad  ★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Niveles de Obesidad (Variable Objetivo)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783080"/>
            <a:ext cx="3474720" cy="384048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2352" y="18470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Nivel de Obesidad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783080"/>
            <a:ext cx="1188720" cy="384048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1847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Registros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783080"/>
            <a:ext cx="1188720" cy="384048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65792" y="1847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167128"/>
            <a:ext cx="3474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22311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Obesity_Type_I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16712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22311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351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16712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22311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16.6%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551176"/>
            <a:ext cx="3474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26151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Obesity_Type_III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551176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26151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324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551176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26151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15.3%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935224"/>
            <a:ext cx="3474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2" y="2999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Obesity_Type_II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935224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7072" y="2999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297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935224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999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14.1%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319272"/>
            <a:ext cx="3474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02352" y="3383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Overweight_Level_I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3319272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7072" y="3383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3319272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5792" y="3383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13.7%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703320"/>
            <a:ext cx="3474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2352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Overweight_Level_II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703320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7072" y="3767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3703320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65792" y="3767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13.7%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4087368"/>
            <a:ext cx="3474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02352" y="41513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Normal_Weight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4087368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2" y="41513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287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92640" y="4087368"/>
            <a:ext cx="1188720" cy="384048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65792" y="41513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13.6%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4471416"/>
            <a:ext cx="3474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02352" y="45354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Insufficient_Weight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4471416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77072" y="45354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272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4471416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65792" y="45354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12.9%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Preparación y Procesamiento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3: Preparación de los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240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Calidad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Sin nulos (0 valores faltantes)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Sin filas duplicadas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Rangos numéricos consistentes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71600"/>
            <a:ext cx="2240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Identificación de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2024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Numéricas (8): Age, Height, Weight, FCVC, NCP, CH2O, FAF, TUE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Categóricas (8): Gender, FAVC, CAEC, SMOKE, SCC, CALC, MTRANS, family_history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Target (1): NObeyesdad — 7 clases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240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Para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2024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OrdinalEncoder en variables categóricas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StandardScaler en todas las variables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Target excluido → sin fuga de datos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371600"/>
            <a:ext cx="2240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Para Clasificación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192024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Pipeline con ColumnTransformer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OrdinalEncoder + StandardScaler dentro del pipeline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train_test_split estratificado 80%/20%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371600"/>
            <a:ext cx="2240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1371600"/>
            <a:ext cx="2240280" cy="457200"/>
          </a:xfrm>
          <a:prstGeom prst="rect">
            <a:avLst/>
          </a:prstGeom>
          <a:solidFill>
            <a:srgbClr val="1E6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Para FP-Growth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92024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Variables numéricas discretizadas en rangos (Age, Weight, Height, etc.)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Variables categóricas prefijadas: Gender=Female, CAEC=Sometimes…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44444"/>
                </a:solidFill>
              </a:rPr>
              <a:t>• Formato OHE booleano para mlxtend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Análisis Exploratorio de Datos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2 — Distribuciones, correlaciones y patrones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6 / 15</a:t>
            </a:r>
          </a:p>
        </p:txBody>
      </p:sp>
      <p:pic>
        <p:nvPicPr>
          <p:cNvPr id="7" name="Picture 6" descr="01_distribucion_obje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5943600" cy="2377440"/>
          </a:xfrm>
          <a:prstGeom prst="rect">
            <a:avLst/>
          </a:prstGeom>
        </p:spPr>
      </p:pic>
      <p:pic>
        <p:nvPicPr>
          <p:cNvPr id="8" name="Picture 7" descr="03_cor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5486400" cy="426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59436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Hallazgos clave: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26364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7 clases balanceadas (272–351 por nivel)   • Weight y Height con mayor correlación al target   • Age tiene menor variación entre clases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Clustering — Algoritmo y Número de Grupos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4: Modelamiento (Agrupamiento)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7 / 15</a:t>
            </a:r>
          </a:p>
        </p:txBody>
      </p:sp>
      <p:pic>
        <p:nvPicPr>
          <p:cNvPr id="7" name="Picture 6" descr="06_evaluacio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7498079" cy="28838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371600"/>
            <a:ext cx="41148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Justificación del Algoritmo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74519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K-Means: escala bien con 2.111 registros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Variables mixtas escaladas → centroides interpretables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Alternativas evaluadas: DBSCAN (requiere calibración de eps) y Agglomerative (lento y similar resultado)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Elección de k=4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0690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k=2 maximiza Silhouette (0.190) pero solo separa "obeso / no-obeso" — insuficiente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k=4 mapea los 7 niveles de obesidad en 4 perfiles de riesgo diferenciados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Permite diseñar intervenciones distintas por grupo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Silhouette scores bajos en todo el rango (&lt;0.20) son normales en datos de salud con variables sintéticas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Clustering — Interpretación de los 4 Grupos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4: Modelamiento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8 / 15</a:t>
            </a:r>
          </a:p>
        </p:txBody>
      </p:sp>
      <p:pic>
        <p:nvPicPr>
          <p:cNvPr id="7" name="Picture 6" descr="07_clusters_visu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7132320" cy="25472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371600"/>
            <a:ext cx="4572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371600"/>
            <a:ext cx="228600" cy="1234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Cluster 0 · 22.4%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1719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</a:rPr>
              <a:t>Bajo peso / 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2011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IMC 21.4 · Peso 56.6 kg
Edad 20.8 · FAF 1.10
Hist. familiar 41%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697480"/>
            <a:ext cx="4572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697480"/>
            <a:ext cx="22860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Cluster 1 · 23.1%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30449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Obesidad Severa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3337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IMC 37.8 · Peso 106.6 kg
Edad 22.9 · FAF 0.73
Hist. familiar 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4023360"/>
            <a:ext cx="4572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4023360"/>
            <a:ext cx="228600" cy="1234440"/>
          </a:xfrm>
          <a:prstGeom prst="rect">
            <a:avLst/>
          </a:prstGeom>
          <a:solidFill>
            <a:srgbClr val="E6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19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Cluster 2 · 36.4%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4370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9A00"/>
                </a:solidFill>
              </a:rPr>
              <a:t>Obesidad Moderada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19" y="4663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IMC 28.9 · Peso 90.2 kg
Edad 22.3 · FAF 1.20
Hist. familiar 90%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349240"/>
            <a:ext cx="4572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5349240"/>
            <a:ext cx="228600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Cluster 3 · 18.1%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19" y="5696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Obesidad Leve/I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19" y="5989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IMC 31.2 · Peso 91.0 kg
Edad 34.4 · FAF 0.88
Hist. familiar 92%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Clasificación — Modelos Comparados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4: Modelamiento (Clasificación)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9 / 15</a:t>
            </a:r>
          </a:p>
        </p:txBody>
      </p:sp>
      <p:pic>
        <p:nvPicPr>
          <p:cNvPr id="7" name="Picture 6" descr="08_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8686800" cy="39485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Configuración del experimento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7830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Train / Test: 80% / 20%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Estratificación por clase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Pipeline con preprocesamiento dentro (sin data leakage)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Métricas: accuracy, precision, recall y F1 macro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random_state =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Modelos evaluados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52628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Regresión Logística Multinomial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Árbol de Decisión (max_depth=12)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Random Forest (100 árboles)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K-Nearest Neighbors (k=7)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Clasificación — Resultados en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5: Evaluación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10 / 15</a:t>
            </a:r>
          </a:p>
        </p:txBody>
      </p:sp>
      <p:pic>
        <p:nvPicPr>
          <p:cNvPr id="7" name="Picture 6" descr="09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5943600" cy="4622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Métricas en Datos de Testeo (20%)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83080"/>
            <a:ext cx="228600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783080"/>
            <a:ext cx="77724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874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4040" y="1783080"/>
            <a:ext cx="82296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8745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7000" y="1783080"/>
            <a:ext cx="77724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874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64240" y="1783080"/>
            <a:ext cx="82296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60" y="18745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 Macro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228600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Random Forest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240280"/>
            <a:ext cx="77724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331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0.9621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2240280"/>
            <a:ext cx="82296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3317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0.9618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87000" y="2240280"/>
            <a:ext cx="77724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2331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0.9572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64240" y="2240280"/>
            <a:ext cx="822960" cy="457200"/>
          </a:xfrm>
          <a:prstGeom prst="rect">
            <a:avLst/>
          </a:prstGeom>
          <a:solidFill>
            <a:srgbClr val="E8F5E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09960" y="23317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0.9596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69748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7889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Árbol de Decisión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697480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2788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0.9408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269748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27889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0.9406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87000" y="2697480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0" y="2788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0.9412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64240" y="269748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09960" y="27889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0.9403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154680"/>
            <a:ext cx="22860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2461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KNN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315468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3246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0.8793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64040" y="3154680"/>
            <a:ext cx="8229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32461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0.8796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7000" y="315468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0" y="3246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0.8751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64240" y="3154680"/>
            <a:ext cx="8229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09960" y="32461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0.8767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3611880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7033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Regresión Logística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3611880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3703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0.8317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64040" y="361188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0" y="37033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0.8309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87000" y="3611880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32720" y="3703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0.8272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64240" y="361188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09960" y="37033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0.8278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2062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★ Random Forest es el mejor modelo con F1 Macro = 0.9596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75488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La clase Normal_Weight tiene menor precision (0.85) por confusión
con Overweight — normal dado que son límites continuos.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Mejor Modelo y Mejoras Futuras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5: Evaluación — Mejoras propuestas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11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228600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Mejor Modelo: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F1 Macro test: 0.9596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Accuracy: 96.2%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100 árboles · max_features='sqrt' (default)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Robusto a variables categóricas codificadas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Sin ajuste de hiperparámetros — resultado base ya excelente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49039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Mejoras Futuras (8)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160520"/>
            <a:ext cx="56692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42062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E"/>
                </a:solidFill>
              </a:rPr>
              <a:t>• Ingeniería de Variables: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2062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Crear IMC = Peso/Altura², interacciones FAF×FAVC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60520"/>
            <a:ext cx="5669280" cy="36576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2062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E"/>
                </a:solidFill>
              </a:rPr>
              <a:t>• Hiperparámetros: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2062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GridSearchCV o RandomizedSearchCV para RF/GB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26280"/>
            <a:ext cx="56692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E"/>
                </a:solidFill>
              </a:rPr>
              <a:t>• Gradient Boosting / XGBoost: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5720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Modelos más potentes que Random 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26280"/>
            <a:ext cx="5669280" cy="36576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572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E"/>
                </a:solidFill>
              </a:rPr>
              <a:t>• Variables Ordinales: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5720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CAEC y CALC son ordinales — no solo nominales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92040"/>
            <a:ext cx="56692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49377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E"/>
                </a:solidFill>
              </a:rPr>
              <a:t>• Validación Cruzada: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9377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k=5 folds estratificados para estimación robusta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892040"/>
            <a:ext cx="5669280" cy="36576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9377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E"/>
                </a:solidFill>
              </a:rPr>
              <a:t>• Datos Reales: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9377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77% del set fue generado con SMOTE — validar en datos reales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257800"/>
            <a:ext cx="56692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53035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E"/>
                </a:solidFill>
              </a:rPr>
              <a:t>• Reducción Dimensional: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3035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PCA para clustering más compacto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257800"/>
            <a:ext cx="5669280" cy="36576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53035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35E"/>
                </a:solidFill>
              </a:rPr>
              <a:t>• Balanceo de Clases: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3035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SMOTE si se trabaja solo con registros reales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FP-Growth — Preparación de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Fase 4: Modelamiento (Asociación)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5E"/>
                </a:solidFill>
              </a:rPr>
              <a:t>Transformación a Formato Transaccional Binario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53949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Variables Numéricas → Discretizadas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Age  → Adolescente / Joven / Adulto / Mayor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Height  → Bajo / MedioBajo / MedioAlto / Alto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Weight  → Leve / Normal / Alto / MuyAlto / Extremo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FCVC  → Bajo / Medio / Alto  (consumo vegetales)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NCP  → Bajo / Normal / Alto  (comidas principales)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CH2O  → Bajo / Medio / Alto  (agua consumida)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FAF  → Nulo / Bajo / Moderado / Alto  (actividad)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44444"/>
                </a:solidFill>
              </a:rPr>
              <a:t>• TUE  → Bajo / Medio / Alto  (tiempo pantallas)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5943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Ítems Resultantes (ejemplos)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Gender=Female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family_history_with_overweight=yes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Age=Joven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Weight=Alto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FAVC=yes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FAF=Nulo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MTRANS=Public_Transportation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44444"/>
                </a:solidFill>
              </a:rPr>
              <a:t>• NObeyesdad=Obesity_Type_III   ← target incluido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1206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6BB8"/>
                </a:solidFill>
              </a:rPr>
              <a:t>Parámetros FP-Growth: min_support = 0.15 (315 registros mínimos) · min_confidence = 0.70 · Lift &gt;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12648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5E"/>
                </a:solidFill>
              </a:rPr>
              <a:t>→ Resultado: 7.312 itemsets frecuentes · 5.497 reglas con NObeyesdad como consecuente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Reglas de Asociación — Mejores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FP-Growth · Filtro: Lift &gt; 2.0, Confidence ≥ 70%, NObeyesdad como consecuente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13 / 15</a:t>
            </a:r>
          </a:p>
        </p:txBody>
      </p:sp>
      <p:pic>
        <p:nvPicPr>
          <p:cNvPr id="7" name="Picture 6" descr="10_reglas_asoci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5880"/>
            <a:ext cx="6858000" cy="26376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5E"/>
                </a:solidFill>
              </a:rPr>
              <a:t>Top Reglas (NObeyesdad como consecuente)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783080"/>
            <a:ext cx="251460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51776" y="185623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Antecedentes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1783080"/>
            <a:ext cx="59436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12096" y="18562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Consecuente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69880" y="1783080"/>
            <a:ext cx="54864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06456" y="18562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1783080"/>
            <a:ext cx="54864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55096" y="18562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67160" y="1783080"/>
            <a:ext cx="594360" cy="457200"/>
          </a:xfrm>
          <a:prstGeom prst="rect">
            <a:avLst/>
          </a:prstGeom>
          <a:solidFill>
            <a:srgbClr val="1A235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03736" y="18562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24028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776" y="231343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family_history=yes, Weight=Extremo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22402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12096" y="23134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22402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06456" y="23134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18520" y="22402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55096" y="23134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0.979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567160" y="22402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03736" y="23134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697480"/>
            <a:ext cx="25146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277063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FAVC=yes, FAF=Nulo, Weight=Alto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26974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12096" y="27706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26974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06456" y="27706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0.167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18520" y="26974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55096" y="27706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0.971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567160" y="26974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03736" y="27706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315468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51776" y="322783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CALC=Sometimes, Gender=Female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31546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12096" y="32278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69880" y="31546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06456" y="32278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0.158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018520" y="31546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55096" y="32278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567160" y="31546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03736" y="32278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3611880"/>
            <a:ext cx="25146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51776" y="368503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NCP=Normal, SCC=no, FAVC=yes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75520" y="36118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12096" y="36850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69880" y="36118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06456" y="36850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0.152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018520" y="36118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55096" y="36850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0.970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567160" y="36118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603736" y="36850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406908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51776" y="414223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CH2O=Bajo, FAF=Nulo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75520" y="40690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12096" y="41422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469880" y="40690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06456" y="41422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018520" y="4069080"/>
            <a:ext cx="548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55096" y="41422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0.943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567160" y="4069080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603736" y="41422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5.47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0" y="4526280"/>
            <a:ext cx="25146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51776" y="459943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MTRANS=Public, FCVC=Alto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75520" y="45262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12096" y="45994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Obesity_III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469880" y="45262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06456" y="45994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0.155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018520" y="4526280"/>
            <a:ext cx="5486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055096" y="45994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0.974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67160" y="4526280"/>
            <a:ext cx="59436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603736" y="4599432"/>
            <a:ext cx="557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6.35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4892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</a:rPr>
              <a:t>★ Lift &gt; 6 indica que la regla es 6× más probable que por azar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 Reglas Novedosas de Asociación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FP-Growth · Interpretación y novedad de las reglas seleccionadas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19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2880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Mujer con historial familiar + hábitos frecuentes (CAEC, FAVC, NCP normal)
→ Obesity_Type_III  (Conf. 97.9%)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83464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8036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Combina factor genético con patrón conductual complejo — no trivial.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7160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37160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2880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FAVC=yes + FCVC=Alto + MTRANS=Public + sin control calórico
→ Obesity_Type_III  (Conf. 97.6%)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83464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88036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El transporte público sedentario potencia el efecto de la dieta hipercalórica.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37160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37160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198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182880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Misma combinación de la Regla 1 + SMOKE=no
→ Obesity_Type_III y SMOKE=no  (Conf. 97.6%)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283464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288036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Confirma que no fumar no protege de obesidad severa cuando los hábitos alimentarios son malos.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84048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84048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19" y="3913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29768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CALC=Sometimes + FAVC=yes + FCVC=Alto + historial familiar
→ CAEC=Sometimes + Obesity_III  (Conf. 97.0%)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30352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34924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Snacking y consumo de alcohol moderado refuerzan el riesgo — regla multivariada novedosa.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84048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384048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59" y="3913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29768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MTRANS=Public + FCVC=Alto + NCP=Normal + historial
→ FAVC=yes + Obesity_Type_III  (Conf. 97.4%)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530352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534924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Predice también el patrón de conducta (FAVC) no solo el nivel de obesidad.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384048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83879" y="3840480"/>
            <a:ext cx="3749039" cy="41148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Regla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198" y="3913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BFD8"/>
                </a:solidFill>
              </a:rPr>
              <a:t>Lift 6.32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19" y="4297680"/>
            <a:ext cx="36118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CALC=Sometimes + Gender=Female + historial + FCVC=Alto
→ Obesity_Type_III  (Conf. 96.9%)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79" y="5303520"/>
            <a:ext cx="3749039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19" y="5349240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6BB8"/>
                </a:solidFill>
              </a:rPr>
              <a:t>Novedad: Consumo de alcohol ocasional en mujeres con antecedentes familiares y dieta alta en calorías.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Conclusiones Finales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FD8"/>
                </a:solidFill>
              </a:rPr>
              <a:t>CRISP-DM · Dataset: Estimation of Obesity Levels — UCI ML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15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1612880" cy="1188720"/>
          </a:xfrm>
          <a:prstGeom prst="rect">
            <a:avLst/>
          </a:prstGeom>
          <a:solidFill>
            <a:srgbClr val="222D6E"/>
          </a:solidFill>
          <a:ln w="9525">
            <a:solidFill>
              <a:srgbClr val="333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182880" cy="11887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Clustering K-Means k=4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110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 perfiles de riesgo claramente diferenciados por IMC, peso y actividad física. Cluster 1 (23.1%): obesidad severa, 100% historia familiar, actividad baja.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11612880" cy="1188720"/>
          </a:xfrm>
          <a:prstGeom prst="rect">
            <a:avLst/>
          </a:prstGeom>
          <a:solidFill>
            <a:srgbClr val="222D6E"/>
          </a:solidFill>
          <a:ln w="9525">
            <a:solidFill>
              <a:srgbClr val="333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182880" cy="1188720"/>
          </a:xfrm>
          <a:prstGeom prst="rect">
            <a:avLst/>
          </a:prstGeom>
          <a:solidFill>
            <a:srgbClr val="66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FF66"/>
                </a:solidFill>
              </a:rPr>
              <a:t>Clasificación — 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1110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Mejor modelo con F1 Macro = 0.9596 sobre datos de testeo. 96% accuracy. Supera en 6-16 puntos a los demás modelos.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11612880" cy="1188720"/>
          </a:xfrm>
          <a:prstGeom prst="rect">
            <a:avLst/>
          </a:prstGeom>
          <a:solidFill>
            <a:srgbClr val="222D6E"/>
          </a:solidFill>
          <a:ln w="9525">
            <a:solidFill>
              <a:srgbClr val="333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86200"/>
            <a:ext cx="182880" cy="1188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Asociación FP-Growth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43400"/>
            <a:ext cx="1110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Lift máximo = 6.38 — las reglas son 6× más informativas que el azar. Historia familiar + hábitos hipercalóricos + transporte sedentario = predictor combinado robusto de obesidad severa.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79"/>
            <a:ext cx="11612880" cy="1188720"/>
          </a:xfrm>
          <a:prstGeom prst="rect">
            <a:avLst/>
          </a:prstGeom>
          <a:solidFill>
            <a:srgbClr val="222D6E"/>
          </a:solidFill>
          <a:ln w="9525">
            <a:solidFill>
              <a:srgbClr val="333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212079"/>
            <a:ext cx="182880" cy="1188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03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00"/>
                </a:solidFill>
              </a:rPr>
              <a:t>Hallazgo Clave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69279"/>
            <a:ext cx="1110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basta un solo factor: la obesidad tipo III emerge de la combinación de antecedentes genéticos + conducta alimentaria + sedentarismo. Esto valida el enfoque multivariado.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A"/>
                </a:solidFill>
              </a:rPr>
              <a:t>Notebook reproducible disponible · Dataset UCI · Alumno: Dante Gil Zenteno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