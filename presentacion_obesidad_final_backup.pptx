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40" y="8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3566160"/>
            <a:ext cx="4754880" cy="47548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4663440"/>
            <a:ext cx="3291840" cy="3291840"/>
          </a:xfrm>
          <a:prstGeom prst="ellipse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69680" y="-1463040"/>
            <a:ext cx="2377440" cy="237744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822960" y="5394960"/>
            <a:ext cx="2194560" cy="2194560"/>
          </a:xfrm>
          <a:prstGeom prst="ellipse">
            <a:avLst/>
          </a:prstGeom>
          <a:solidFill>
            <a:srgbClr val="2A4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395728"/>
            <a:ext cx="2377440" cy="38100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A5"/>
                </a:solidFill>
                <a:latin typeface="Segoe UI"/>
              </a:rPr>
              <a:t>TALLER DE APLICACIONES · MAGÍSTER EN 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Análisis de Niveles de Obesidad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ACBDE"/>
                </a:solidFill>
                <a:latin typeface="Segoe UI"/>
              </a:rPr>
              <a:t>Clustering · Clasificación · Reglas de Asociación · Experimentos de Transformación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A5BC"/>
                </a:solidFill>
                <a:latin typeface="Segoe UI"/>
              </a:rPr>
              <a:t>Metodología CRISP-DM aplicada al dataset Estimation of Obesity Levels
UCI Machine Learning Repository · 2.111 registros · México, Perú y Colombia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041647"/>
            <a:ext cx="64008" cy="45720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95AE"/>
                </a:solidFill>
                <a:latin typeface="Segoe UI"/>
              </a:rPr>
              <a:t>ALUMNO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2452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Dante Gil Zenteno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754879"/>
            <a:ext cx="64008" cy="45720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690871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95AE"/>
                </a:solidFill>
                <a:latin typeface="Segoe UI"/>
              </a:rPr>
              <a:t>DOCENTE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9377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Dr. Mauricio Sepúlveda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468111"/>
            <a:ext cx="64008" cy="45720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5404103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95AE"/>
                </a:solidFill>
                <a:latin typeface="Segoe UI"/>
              </a:rPr>
              <a:t>FACULTAD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65099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Facultad de Ingeniería — USS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E95AE"/>
                </a:solidFill>
                <a:latin typeface="Segoe U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Objetivo del Trabajo y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CRISP-DM · Fase 1 — Comprensión del negocio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02 ·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5486400" cy="4983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128016" cy="4983480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5727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2A47"/>
                </a:solidFill>
                <a:latin typeface="Segoe UI"/>
              </a:rPr>
              <a:t>El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5740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243342"/>
                </a:solidFill>
                <a:latin typeface="Segoe UI"/>
              </a:rPr>
              <a:t>•  2.111 registros de México, Perú y Colombia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243342"/>
                </a:solidFill>
                <a:latin typeface="Segoe UI"/>
              </a:rPr>
              <a:t>•  17 atributos: hábitos alimentarios, actividad física y características personales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243342"/>
                </a:solidFill>
                <a:latin typeface="Segoe UI"/>
              </a:rPr>
              <a:t>•  Variable objetivo NObeyesdad: 7 niveles de obesidad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243342"/>
                </a:solidFill>
                <a:latin typeface="Segoe UI"/>
              </a:rPr>
              <a:t>•  Clases balanceadas (272–351 registros por nivel)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243342"/>
                </a:solidFill>
                <a:latin typeface="Segoe UI"/>
              </a:rPr>
              <a:t>•  Sin valores nulos ni duplicados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243342"/>
                </a:solidFill>
                <a:latin typeface="Segoe UI"/>
              </a:rPr>
              <a:t>•  77% de registros sintéticos vía SMOTE — Mendoza Palechor &amp; De la Hoz (2019)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760720"/>
            <a:ext cx="489204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589788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B7B"/>
                </a:solidFill>
                <a:latin typeface="Segoe UI"/>
              </a:rPr>
              <a:t>Fuente: UCI Machine Learning Repository · doi:10.1016/j.dib.2019.104344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62356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128016" cy="2880360"/>
          </a:xfrm>
          <a:prstGeom prst="roundRect">
            <a:avLst>
              <a:gd name="adj" fmla="val 7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5727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2A47"/>
                </a:solidFill>
                <a:latin typeface="Segoe UI"/>
              </a:rPr>
              <a:t>Preguntas Guía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0574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¿Existen grupos de personas con perfiles de riesgo similares?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¿Qué algoritmo predice mejor el nivel de obesidad?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¿Qué combinaciones de hábitos se asocian con la obesidad?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¿Cómo cambian los resultados con reducción de dimensionalidad?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¿Aportan valor nuevos atributos de ingeniería de características?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526280"/>
            <a:ext cx="562356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4526280"/>
            <a:ext cx="128016" cy="1874519"/>
          </a:xfrm>
          <a:prstGeom prst="roundRect">
            <a:avLst>
              <a:gd name="adj" fmla="val 7000"/>
            </a:avLst>
          </a:prstGeom>
          <a:solidFill>
            <a:srgbClr val="F2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46817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2A47"/>
                </a:solidFill>
                <a:latin typeface="Segoe UI"/>
              </a:rPr>
              <a:t>Objetivo 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5102352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Aplicar CRISP-DM con agrupamiento, clasificación y asociación FP-Growth, incorporando tres experimentos de transformación de datos y comparando su impacto en las métricas.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Metodología CRISP-DM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Seis fases que estructuran todo el análisis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03 ·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6072" y="1691640"/>
            <a:ext cx="731520" cy="731520"/>
          </a:xfrm>
          <a:prstGeom prst="ellipse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180136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15636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Comprensión del Negocio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203911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B7B"/>
                </a:solidFill>
                <a:latin typeface="Segoe UI"/>
              </a:rPr>
              <a:t>Preguntas guía y métricas de éxito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62272" y="1691640"/>
            <a:ext cx="731520" cy="731520"/>
          </a:xfrm>
          <a:prstGeom prst="ellipse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180136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15636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Comprensión de los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03911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B7B"/>
                </a:solidFill>
                <a:latin typeface="Segoe UI"/>
              </a:rPr>
              <a:t>Inspección, calidad y balance de clases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417320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48471" y="1691640"/>
            <a:ext cx="731520" cy="731520"/>
          </a:xfrm>
          <a:prstGeom prst="ellipse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1" y="180136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7" y="15636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Preparación de los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7" y="203911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B7B"/>
                </a:solidFill>
                <a:latin typeface="Segoe UI"/>
              </a:rPr>
              <a:t>Codificación y escalado por técnica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898648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76072" y="3172968"/>
            <a:ext cx="731520" cy="73152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072" y="328269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8" y="30449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Modelamiento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5608" y="35204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B7B"/>
                </a:solidFill>
                <a:latin typeface="Segoe UI"/>
              </a:rPr>
              <a:t>K-Means · 5 clasificadores · FP-Growth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2898648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62272" y="3172968"/>
            <a:ext cx="731520" cy="73152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62272" y="328269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8" y="30449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Evaluación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808" y="35204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B7B"/>
                </a:solidFill>
                <a:latin typeface="Segoe UI"/>
              </a:rPr>
              <a:t>Métricas en test, Lift y experimentos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2898648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48471" y="3172968"/>
            <a:ext cx="731520" cy="73152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48471" y="328269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7" y="30449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Comunicación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7" y="35204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B7B"/>
                </a:solidFill>
                <a:latin typeface="Segoe UI"/>
              </a:rPr>
              <a:t>Presentación + notebook reproducible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4526280"/>
            <a:ext cx="11384280" cy="1874519"/>
          </a:xfrm>
          <a:prstGeom prst="roundRect">
            <a:avLst>
              <a:gd name="adj" fmla="val 7000"/>
            </a:avLst>
          </a:prstGeom>
          <a:solidFill>
            <a:srgbClr val="E4F4F4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1480" y="4526280"/>
            <a:ext cx="128016" cy="1874519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4663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A47"/>
                </a:solidFill>
                <a:latin typeface="Segoe UI"/>
              </a:rPr>
              <a:t>Qué aportó la metodología a este proyecto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50749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Definir preguntas guía ANTES de tocar datos evitó modelar sin entender el problema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La inspección temprana (nulos, duplicados, balance) descartó problemas de calidad y retrabajos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Preparar los datos POR TÉCNICA (escalado / pipelines / discretización) eliminó fugas de datos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La fase de evaluación obligó a comparar en test y a documentar también los resultados que no mejoran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Descripción del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CRISP-DM · Fase 2 — Comprensión de los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04 ·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4846320" cy="4983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128016" cy="4983480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A47"/>
                </a:solidFill>
                <a:latin typeface="Segoe UI"/>
              </a:rPr>
              <a:t>Variables (17)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93392"/>
            <a:ext cx="4389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Género · Edad · Altura · Peso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Historia familiar de sobrepeso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Alimentos hipercalóricos (FAVC)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Frecuencia de vegetales (FCVC)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Comidas principales (NCP)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Snacks entre comidas (CAEC)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Tabaquismo (SMOKE) · Agua (CH2O)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Monitoreo de calorías (SCC)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Actividad física (FAF) · Pantallas (TUE)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Alcohol (CALC) · Transporte (MTRANS)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50992"/>
            <a:ext cx="420624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5806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5B"/>
                </a:solidFill>
                <a:latin typeface="Segoe UI"/>
              </a:rPr>
              <a:t>★ Target: NObeyesdad — 7 clases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48132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A47"/>
                </a:solidFill>
                <a:latin typeface="Segoe UI"/>
              </a:rPr>
              <a:t>Distribución de la Variable Objetivo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920240"/>
            <a:ext cx="3474720" cy="420624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41848" y="19751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Nivel de Obesidad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920240"/>
            <a:ext cx="1325880" cy="420624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16568" y="1975104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Registros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78440" y="1920240"/>
            <a:ext cx="1325880" cy="420624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42448" y="1975104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340864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41848" y="2395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Obesity_Type_I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340864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16568" y="239572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351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78440" y="2340864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42448" y="239572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16.6%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2761488"/>
            <a:ext cx="347472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41848" y="28163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Obesity_Type_III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2761488"/>
            <a:ext cx="132588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16568" y="281635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324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78440" y="2761488"/>
            <a:ext cx="132588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42448" y="281635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15.3%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3182112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41848" y="32369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Obesity_Type_II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3182112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16568" y="3236976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297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78440" y="3182112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42448" y="3236976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14.1%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3602736"/>
            <a:ext cx="347472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41848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Overweight_Level_I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3602736"/>
            <a:ext cx="132588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16568" y="36576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290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78440" y="3602736"/>
            <a:ext cx="132588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42448" y="36576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13.7%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4023360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41848" y="407822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Overweight_Level_II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4023360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16568" y="4078224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290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78440" y="4023360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442448" y="4078224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13.7%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4443984"/>
            <a:ext cx="347472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41848" y="44988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Normal_Weight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52560" y="4443984"/>
            <a:ext cx="132588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16568" y="449884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287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78440" y="4443984"/>
            <a:ext cx="132588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442448" y="449884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13.6%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77840" y="4864608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641848" y="49194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Insufficient_Weight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52560" y="4864608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16568" y="491947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272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378440" y="4864608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442448" y="491947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12.9%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77840" y="544068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B7B"/>
                </a:solidFill>
                <a:latin typeface="Segoe UI"/>
              </a:rPr>
              <a:t>Clases balanceadas → métricas macro confiables y sin necesidad de re-balancear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Preparación y Transformación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CRISP-DM · Fase 3 — Una preparación específica por técnica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05 ·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217627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7784" y="1627632"/>
            <a:ext cx="502920" cy="3810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Calidad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221284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Sin nulos ni duplicados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Rangos numéricos consistentes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1417320"/>
            <a:ext cx="217627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71216" y="1627632"/>
            <a:ext cx="502920" cy="3810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71216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216" y="221284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8 numéricas · 8 categóricas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Target: 7 clases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417320"/>
            <a:ext cx="217627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84648" y="1627632"/>
            <a:ext cx="502920" cy="38100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4648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21284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OrdinalEncoder + StandardScaler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Target excluido — sin fuga de datos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1775" y="1417320"/>
            <a:ext cx="217627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98079" y="1627632"/>
            <a:ext cx="502920" cy="38100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79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Clasificación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21284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Pipeline con preprocesamiento dentro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Split estratificado 80/20 · seed 42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5207" y="1417320"/>
            <a:ext cx="217627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811511" y="1627632"/>
            <a:ext cx="502920" cy="38100"/>
          </a:xfrm>
          <a:prstGeom prst="rect">
            <a:avLst/>
          </a:prstGeom>
          <a:solidFill>
            <a:srgbClr val="F2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11511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FP-Growth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1" y="221284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Numéricas discretizadas en rangos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Ítems binarios: Gender=Female…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709160"/>
            <a:ext cx="1138428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11480" y="4709160"/>
            <a:ext cx="128016" cy="1691640"/>
          </a:xfrm>
          <a:prstGeom prst="roundRect">
            <a:avLst>
              <a:gd name="adj" fmla="val 7000"/>
            </a:avLst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4846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E57C2"/>
                </a:solidFill>
                <a:latin typeface="Segoe UI"/>
              </a:rPr>
              <a:t>Transformaciones experimentales evaluadas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285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43342"/>
                </a:solidFill>
                <a:latin typeface="Segoe UI"/>
              </a:rPr>
              <a:t>PCA (14 componentes — 95% de varianza)   ·   TruncatedSVD sobre One-Hot (11 componentes — 90% de varianza)   ·   5 atributos nuevos: BMI, BMI_Category, Healthy_Habits_Score, Risky_Eating_Score, Sedentary_Risk_Score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Análisis Exploratorio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Distribuciones, correlaciones y patrones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06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6035040" cy="254569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1_distribucion_obje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048"/>
            <a:ext cx="5815584" cy="232623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629400" y="1417320"/>
            <a:ext cx="5166360" cy="40670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3_correl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1527048"/>
            <a:ext cx="4946904" cy="384759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11480" y="5623560"/>
            <a:ext cx="11384280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1480" y="5623560"/>
            <a:ext cx="128016" cy="868680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587044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Hallazgos:  7 clases balanceadas (272–351 por nivel)   ·   Weight y Height son las variables más correlacionadas con el target   ·   Age aporta menos discriminación entre clases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Clustering — Algoritmo y Número de Grupos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CRISP-DM · Fase 4 — Agrupamiento con K-Means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07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7406640" cy="298375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6_evaluacio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048"/>
            <a:ext cx="7187184" cy="276430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01000" y="1417320"/>
            <a:ext cx="3794760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128016" cy="2331720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¿Por qué K-Means?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659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Escala bien con 2.111 registros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Centroides interpretables como perfiles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Alternativas evaluadas: DBSCAN (calibrar eps) y jerárquico (lento, resultado similar)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931920"/>
            <a:ext cx="3794760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01000" y="3931920"/>
            <a:ext cx="128016" cy="2468880"/>
          </a:xfrm>
          <a:prstGeom prst="roundRect">
            <a:avLst>
              <a:gd name="adj" fmla="val 7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4069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¿Por qué k = 4?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4805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k=2 maximiza Silhouette pero solo separa "obeso / no obeso"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k=4 mapea los 7 niveles en 4 perfiles de riesgo accionables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Silhouettes &lt; 0.20 en todo el rango: esperable en datos de salud con registros sintéticos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Clustering — Cuatro Perfiles de Riesgo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Interpretación de cada grupo con la variable objetivo como lectura externa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08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6949440" cy="262302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7_clusters_visual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048"/>
            <a:ext cx="6729984" cy="240356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9520" y="1417320"/>
            <a:ext cx="4206240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89520" y="1417320"/>
            <a:ext cx="128016" cy="1152144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82127" y="149047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A47"/>
                </a:solidFill>
                <a:latin typeface="Segoe UI"/>
              </a:rPr>
              <a:t>Cluster 0 · 22.4%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17830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A5"/>
                </a:solidFill>
                <a:latin typeface="Segoe UI"/>
              </a:rPr>
              <a:t>Bajo peso / Normal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09397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B"/>
                </a:solidFill>
                <a:latin typeface="Segoe UI"/>
              </a:rPr>
              <a:t>IMC 21.4 · 56.6 kg · 20.8 años · FAF 1.10 · Hist. familiar 41%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697480"/>
            <a:ext cx="4206240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589520" y="2697480"/>
            <a:ext cx="128016" cy="1152144"/>
          </a:xfrm>
          <a:prstGeom prst="roundRect">
            <a:avLst>
              <a:gd name="adj" fmla="val 7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82127" y="277063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A47"/>
                </a:solidFill>
                <a:latin typeface="Segoe UI"/>
              </a:rPr>
              <a:t>Cluster 1 · 23.1%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306324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5B"/>
                </a:solidFill>
                <a:latin typeface="Segoe UI"/>
              </a:rPr>
              <a:t>Obesidad severa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337413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B"/>
                </a:solidFill>
                <a:latin typeface="Segoe UI"/>
              </a:rPr>
              <a:t>IMC 37.8 · 106.6 kg · 22.9 años · FAF 0.73 · Hist. familiar 100%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977639"/>
            <a:ext cx="4206240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89520" y="3977639"/>
            <a:ext cx="128016" cy="1152144"/>
          </a:xfrm>
          <a:prstGeom prst="roundRect">
            <a:avLst>
              <a:gd name="adj" fmla="val 7000"/>
            </a:avLst>
          </a:prstGeom>
          <a:solidFill>
            <a:srgbClr val="F2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2127" y="4050791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A47"/>
                </a:solidFill>
                <a:latin typeface="Segoe UI"/>
              </a:rPr>
              <a:t>Cluster 2 · 36.4%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4343399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A04E"/>
                </a:solidFill>
                <a:latin typeface="Segoe UI"/>
              </a:rPr>
              <a:t>Obesidad moderada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4654295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B"/>
                </a:solidFill>
                <a:latin typeface="Segoe UI"/>
              </a:rPr>
              <a:t>IMC 28.9 · 90.2 kg · 22.3 años · FAF 1.20 · Hist. familiar 90%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5257799"/>
            <a:ext cx="4206240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589520" y="5257799"/>
            <a:ext cx="128016" cy="1152144"/>
          </a:xfrm>
          <a:prstGeom prst="roundRect">
            <a:avLst>
              <a:gd name="adj" fmla="val 7000"/>
            </a:avLst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82127" y="5330951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A47"/>
                </a:solidFill>
                <a:latin typeface="Segoe UI"/>
              </a:rPr>
              <a:t>Cluster 3 · 18.1%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5623559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F9E6E"/>
                </a:solidFill>
                <a:latin typeface="Segoe UI"/>
              </a:rPr>
              <a:t>Obesidad leve / tipo 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5934455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B"/>
                </a:solidFill>
                <a:latin typeface="Segoe UI"/>
              </a:rPr>
              <a:t>IMC 31.2 · 91.0 kg · 34.4 años · FAF 0.88 · Hist. familiar 92%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Clasificación — Cinco Modelos Comparados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CRISP-DM · Fase 4 — Pipelines sin fuga de datos, evaluación en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09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8229600" cy="38604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8_comparacion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048"/>
            <a:ext cx="8010144" cy="36409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869680" y="1417320"/>
            <a:ext cx="292608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69680" y="1417320"/>
            <a:ext cx="128016" cy="2286000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25712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Configuración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5712" y="1938528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Train / Test: 80 / 20 estratificado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Preprocesamiento dentro del pipeline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Métricas macro (las 7 clases pesan igual)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random_state = 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886200"/>
            <a:ext cx="2926080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869680" y="3886200"/>
            <a:ext cx="128016" cy="2514600"/>
          </a:xfrm>
          <a:prstGeom prst="roundRect">
            <a:avLst>
              <a:gd name="adj" fmla="val 7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25712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Modelos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4407408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Regresión Logística multinomial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Árbol de Decisión (prof. 12)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Random Forest (100 árboles)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KNN (k=7)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XGBoost (200 árboles)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Clasificación — Resultados en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CRISP-DM · Fase 5 — Métricas sobre el 20% nunca visto en entrenamiento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10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5577840" cy="4387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9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048"/>
            <a:ext cx="5358384" cy="41676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A47"/>
                </a:solidFill>
                <a:latin typeface="Segoe UI"/>
              </a:rPr>
              <a:t>Métricas por modelo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74519"/>
            <a:ext cx="201168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1929383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Modelo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874519"/>
            <a:ext cx="91440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8" y="19293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874519"/>
            <a:ext cx="91440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53728" y="19293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Precisión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04120" y="1874519"/>
            <a:ext cx="82296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68128" y="1929383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Recall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27080" y="1874519"/>
            <a:ext cx="91440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91088" y="19293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F1 macro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331719"/>
            <a:ext cx="2011680" cy="457200"/>
          </a:xfrm>
          <a:prstGeom prst="rect">
            <a:avLst/>
          </a:prstGeom>
          <a:solidFill>
            <a:srgbClr val="E4F4F4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2386583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9E6E"/>
                </a:solidFill>
                <a:latin typeface="Segoe UI"/>
              </a:rPr>
              <a:t>Random Forest 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331719"/>
            <a:ext cx="914400" cy="457200"/>
          </a:xfrm>
          <a:prstGeom prst="rect">
            <a:avLst/>
          </a:prstGeom>
          <a:solidFill>
            <a:srgbClr val="E4F4F4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9328" y="23865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F9E6E"/>
                </a:solidFill>
                <a:latin typeface="Segoe UI"/>
              </a:rPr>
              <a:t>0.9598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2331719"/>
            <a:ext cx="914400" cy="457200"/>
          </a:xfrm>
          <a:prstGeom prst="rect">
            <a:avLst/>
          </a:prstGeom>
          <a:solidFill>
            <a:srgbClr val="E4F4F4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53728" y="23865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F9E6E"/>
                </a:solidFill>
                <a:latin typeface="Segoe UI"/>
              </a:rPr>
              <a:t>0.9623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04120" y="2331719"/>
            <a:ext cx="822960" cy="457200"/>
          </a:xfrm>
          <a:prstGeom prst="rect">
            <a:avLst/>
          </a:prstGeom>
          <a:solidFill>
            <a:srgbClr val="E4F4F4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68128" y="2386583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F9E6E"/>
                </a:solidFill>
                <a:latin typeface="Segoe UI"/>
              </a:rPr>
              <a:t>0.9588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27080" y="2331719"/>
            <a:ext cx="914400" cy="457200"/>
          </a:xfrm>
          <a:prstGeom prst="rect">
            <a:avLst/>
          </a:prstGeom>
          <a:solidFill>
            <a:srgbClr val="E4F4F4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91088" y="23865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F9E6E"/>
                </a:solidFill>
                <a:latin typeface="Segoe UI"/>
              </a:rPr>
              <a:t>0.9596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788919"/>
            <a:ext cx="20116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7648" y="2843783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XGBoost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2788919"/>
            <a:ext cx="9144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39328" y="28437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0.9551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2788919"/>
            <a:ext cx="9144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53728" y="28437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0.9558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04120" y="2788919"/>
            <a:ext cx="8229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2843783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0.9537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27080" y="2788919"/>
            <a:ext cx="9144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991088" y="28437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0.9541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246119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27648" y="3300983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Árbol de Decisión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20" y="3246119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9328" y="33009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0.9102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3246119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53728" y="33009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0.9107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04120" y="3246119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168128" y="3300983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0.9081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27080" y="3246119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991088" y="33009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0.9089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703319"/>
            <a:ext cx="20116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27648" y="3758183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Regresión Logística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20" y="3703319"/>
            <a:ext cx="9144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39328" y="37581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0.8723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89720" y="3703319"/>
            <a:ext cx="9144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53728" y="37581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0.8693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04120" y="3703319"/>
            <a:ext cx="8229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168128" y="3758183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0.8688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27080" y="3703319"/>
            <a:ext cx="9144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991088" y="37581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0.8671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4160519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327648" y="4215383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KNN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75320" y="4160519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339328" y="42153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0.8274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89720" y="4160519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53728" y="42153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0.8301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04120" y="4160519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168128" y="4215383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0.8221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27080" y="4160519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991088" y="42153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0.8129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63640" y="480060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263640" y="487375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9E6E"/>
                </a:solidFill>
                <a:latin typeface="Segoe UI"/>
              </a:rPr>
              <a:t>0.9596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9360" y="5330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B7B"/>
                </a:solidFill>
                <a:latin typeface="Segoe UI"/>
              </a:rPr>
              <a:t>F1 macro · Random Forest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098280" y="480060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98280" y="487375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EA5A5"/>
                </a:solidFill>
                <a:latin typeface="Segoe UI"/>
              </a:rPr>
              <a:t>96.0%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0" y="5330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B7B"/>
                </a:solidFill>
                <a:latin typeface="Segoe UI"/>
              </a:rPr>
              <a:t>Accuracy en test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3640" y="5897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B7B"/>
                </a:solidFill>
                <a:latin typeface="Segoe UI"/>
              </a:rPr>
              <a:t>Los errores se concentran en clases limítrofes (Normal / Overweight) — esperable porque sus fronteras de IMC son continuas.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FP-Growth — Reglas con Mejores Indicadores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min_support 0.15 · min_confidence 0.70 · Lift &gt; 2.0 · target como consecuente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11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6583680" cy="266723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0_reglas_asoci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048"/>
            <a:ext cx="6364224" cy="24477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694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Top reglas hacia NObeyesdad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1874519"/>
            <a:ext cx="265176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33488" y="192938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Antecedentes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1874519"/>
            <a:ext cx="73152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85248" y="1929383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Consecuente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52760" y="1874519"/>
            <a:ext cx="59436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16768" y="19293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Conf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247120" y="1874519"/>
            <a:ext cx="59436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11128" y="19293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Lift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2331719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33488" y="238658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43342"/>
                </a:solidFill>
                <a:latin typeface="Segoe UI"/>
              </a:rPr>
              <a:t>family_history=yes + Weight=Extremo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2331719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85248" y="2386583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Obesity_III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52760" y="2331719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16768" y="23865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0.98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247120" y="2331719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311128" y="23865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6.38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2788919"/>
            <a:ext cx="2651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33488" y="284378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43342"/>
                </a:solidFill>
                <a:latin typeface="Segoe UI"/>
              </a:rPr>
              <a:t>FAVC=yes + FAF=Nulo + Weight=Alto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2788919"/>
            <a:ext cx="73152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85248" y="2843783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Obesity_II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52760" y="2788919"/>
            <a:ext cx="5943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16768" y="28437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0.97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247120" y="2788919"/>
            <a:ext cx="5943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311128" y="28437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6.34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3246119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33488" y="330098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43342"/>
                </a:solidFill>
                <a:latin typeface="Segoe UI"/>
              </a:rPr>
              <a:t>MTRANS=Public + FCVC=Alto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3246119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85248" y="3300983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Obesity_III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52760" y="3246119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716768" y="33009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0.97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247120" y="3246119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311128" y="33009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6.35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80" y="3703319"/>
            <a:ext cx="2651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33488" y="375818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43342"/>
                </a:solidFill>
                <a:latin typeface="Segoe UI"/>
              </a:rPr>
              <a:t>NCP=Normal + SCC=no + FAVC=yes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21240" y="3703319"/>
            <a:ext cx="73152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85248" y="3758183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Obesity_III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52760" y="3703319"/>
            <a:ext cx="5943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16768" y="37581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0.97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247120" y="3703319"/>
            <a:ext cx="5943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311128" y="37581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6.32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69480" y="4160519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33488" y="421538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43342"/>
                </a:solidFill>
                <a:latin typeface="Segoe UI"/>
              </a:rPr>
              <a:t>CALC=Sometimes + Gender=Female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21240" y="4160519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985248" y="4215383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Obesity_III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52760" y="4160519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716768" y="42153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0.97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247120" y="4160519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311128" y="42153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6.31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69480" y="4617719"/>
            <a:ext cx="2651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33488" y="467258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43342"/>
                </a:solidFill>
                <a:latin typeface="Segoe UI"/>
              </a:rPr>
              <a:t>CH2O=Bajo + FAF=Nulo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921240" y="4617719"/>
            <a:ext cx="73152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985248" y="4672583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Obesity_I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52760" y="4617719"/>
            <a:ext cx="5943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716768" y="46725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0.94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247120" y="4617719"/>
            <a:ext cx="5943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1311128" y="46725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5.47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269480" y="4800600"/>
            <a:ext cx="452628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7269480" y="4800600"/>
            <a:ext cx="128016" cy="777240"/>
          </a:xfrm>
          <a:prstGeom prst="roundRect">
            <a:avLst>
              <a:gd name="adj" fmla="val 7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543800" y="50109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5B"/>
                </a:solidFill>
                <a:latin typeface="Segoe UI"/>
              </a:rPr>
              <a:t>Lift &gt; 6  ⇒  la regla es 6× más probable que el azar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6948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A47"/>
                </a:solidFill>
                <a:latin typeface="Segoe UI"/>
              </a:rPr>
              <a:t>7.312 itemsets frecuentes · 134.739 reglas generadas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6948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6B7B"/>
                </a:solidFill>
                <a:latin typeface="Segoe UI"/>
              </a:rPr>
              <a:t>Support = P(A∪B) · Confidence = P(B|A) · Lift = Confidence / P(B)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Seis Reglas Novedosas de Asociación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Seleccionadas por Lift alto, antecedentes múltiples y valor interpretativo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12 ·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370332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3703320" cy="4572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Regla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4996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EE7E7"/>
                </a:solidFill>
                <a:latin typeface="Segoe UI"/>
              </a:rPr>
              <a:t>Lift 6.38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938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43342"/>
                </a:solidFill>
                <a:latin typeface="Segoe UI"/>
              </a:rPr>
              <a:t>CAEC=Sometimes, CALC=Sometimes, FAVC=yes, FCVC=Alto, Gender=Female, MTRANS=Public_Transportation, NCP=Normal, SCC=no, family_history_with_overweight=yes  →  NObeyesdad=Obesity_Type_III   (Conf. 97.9% · Sup. 15.3%)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342900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EA5A5"/>
                </a:solidFill>
                <a:latin typeface="Segoe UI"/>
              </a:rPr>
              <a:t>Combina factor genético con patrón conductual complejo — no trivial.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17320"/>
            <a:ext cx="370332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1417320"/>
            <a:ext cx="3703320" cy="4572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14813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Regla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4996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EE7E7"/>
                </a:solidFill>
                <a:latin typeface="Segoe UI"/>
              </a:rPr>
              <a:t>Lift 6.38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92938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43342"/>
                </a:solidFill>
                <a:latin typeface="Segoe UI"/>
              </a:rPr>
              <a:t>CAEC=Sometimes, CALC=Sometimes, FAVC=yes, FCVC=Alto, Gender=Female, MTRANS=Public_Transportation, NCP=Normal, SCC=no, family_history_with_overweight=yes  →  NObeyesdad=Obesity_Type_III, SMOKE=no   (Conf. 97.6% · Sup. 15.2%)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971800"/>
            <a:ext cx="342900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4840" y="30632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EA5A5"/>
                </a:solidFill>
                <a:latin typeface="Segoe UI"/>
              </a:rPr>
              <a:t>El transporte público sedentario potencia el efecto de la dieta hipercalórica.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1417320"/>
            <a:ext cx="370332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83879" y="1417320"/>
            <a:ext cx="3703320" cy="4572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39" y="14813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Regla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19" y="14996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EE7E7"/>
                </a:solidFill>
                <a:latin typeface="Segoe UI"/>
              </a:rPr>
              <a:t>Lift 6.38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9" y="192938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43342"/>
                </a:solidFill>
                <a:latin typeface="Segoe UI"/>
              </a:rPr>
              <a:t>CALC=Sometimes, FAVC=yes, FCVC=Alto, Gender=Female, MTRANS=Public_Transportation, NCP=Normal, SCC=no, SMOKE=no, family_history_with_overweight=yes  →  CAEC=Sometimes, NObeyesdad=Obesity_Type_III   (Conf. 97.6% · Sup. 15.2%)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39" y="2971800"/>
            <a:ext cx="342900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39" y="30632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EA5A5"/>
                </a:solidFill>
                <a:latin typeface="Segoe UI"/>
              </a:rPr>
              <a:t>No fumar no protege de la obesidad severa cuando los hábitos alimentarios son malos.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931920"/>
            <a:ext cx="370332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" y="3931920"/>
            <a:ext cx="3703320" cy="4572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9959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Regla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40142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EE7E7"/>
                </a:solidFill>
                <a:latin typeface="Segoe UI"/>
              </a:rPr>
              <a:t>Lift 6.36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44398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43342"/>
                </a:solidFill>
                <a:latin typeface="Segoe UI"/>
              </a:rPr>
              <a:t>CALC=Sometimes, FAVC=yes, FCVC=Alto, Gender=Female, MTRANS=Public_Transportation, NCP=Normal, SCC=no, family_history_with_overweight=yes  →  CAEC=Sometimes, NObeyesdad=Obesity_Type_III, SMOKE=no   (Conf. 97.0% · Sup. 15.2%)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486400"/>
            <a:ext cx="342900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5778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EA5A5"/>
                </a:solidFill>
                <a:latin typeface="Segoe UI"/>
              </a:rPr>
              <a:t>Snacking y alcohol moderado refuerzan el riesgo — regla multivariada.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931920"/>
            <a:ext cx="370332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97680" y="3931920"/>
            <a:ext cx="3703320" cy="4572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34840" y="39959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Regla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0142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EE7E7"/>
                </a:solidFill>
                <a:latin typeface="Segoe UI"/>
              </a:rPr>
              <a:t>Lift 6.34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44398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43342"/>
                </a:solidFill>
                <a:latin typeface="Segoe UI"/>
              </a:rPr>
              <a:t>CAEC=Sometimes, CALC=Sometimes, FCVC=Alto, Gender=Female, MTRANS=Public_Transportation, NCP=Normal, SCC=no, family_history_with_overweight=yes  →  FAVC=yes, NObeyesdad=Obesity_Type_III   (Conf. 97.0% · Sup. 15.3%)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5486400"/>
            <a:ext cx="342900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34840" y="55778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EA5A5"/>
                </a:solidFill>
                <a:latin typeface="Segoe UI"/>
              </a:rPr>
              <a:t>Predice también el patrón de conducta (FAVC), no solo el nivel de obesidad.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79" y="3931920"/>
            <a:ext cx="370332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83879" y="3931920"/>
            <a:ext cx="3703320" cy="4572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21039" y="39959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Regla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61319" y="40142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EE7E7"/>
                </a:solidFill>
                <a:latin typeface="Segoe UI"/>
              </a:rPr>
              <a:t>Lift 6.34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39" y="444398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43342"/>
                </a:solidFill>
                <a:latin typeface="Segoe UI"/>
              </a:rPr>
              <a:t>CAEC=Sometimes, CALC=Sometimes, FCVC=Alto, Gender=Female, MTRANS=Public_Transportation, NCP=Normal, SCC=no, family_history_with_overweight=yes  →  FAVC=yes, NObeyesdad=Obesity_Type_III, SMOKE=no   (Conf. 96.7% · Sup. 15.2%)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39" y="5486400"/>
            <a:ext cx="342900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21039" y="55778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EA5A5"/>
                </a:solidFill>
                <a:latin typeface="Segoe UI"/>
              </a:rPr>
              <a:t>Alcohol ocasional en mujeres con antecedentes familiares y dieta alta en calorías.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Experimentos — PCA · TruncatedSVD · Ingeniería de Características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¿Cómo cambian clustering y clasificación con cada transformación?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13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7635240" cy="26913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16_comparacion_experi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048"/>
            <a:ext cx="7415784" cy="2471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Resultados (Random Forest · KMeans k=4)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874519"/>
            <a:ext cx="1463040" cy="420624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3608" y="192938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Experimento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1874519"/>
            <a:ext cx="777240" cy="420624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56648" y="1929383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Acc.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69880" y="1874519"/>
            <a:ext cx="731520" cy="420624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33888" y="1929383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201400" y="1874519"/>
            <a:ext cx="685800" cy="420624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65408" y="1929383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Silh.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295143"/>
            <a:ext cx="14630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93608" y="235000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2295143"/>
            <a:ext cx="7772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56648" y="2350007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69880" y="2295143"/>
            <a:ext cx="7315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33888" y="2350007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0.960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201400" y="2295143"/>
            <a:ext cx="685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265408" y="2350007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0.106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715767"/>
            <a:ext cx="1463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93608" y="277063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PCA (14c)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2715767"/>
            <a:ext cx="7772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56648" y="2770631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0.872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69880" y="2715767"/>
            <a:ext cx="73152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33888" y="2770631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0.868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201400" y="2715767"/>
            <a:ext cx="68580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65408" y="2770631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0.151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136391"/>
            <a:ext cx="14630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93608" y="319125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SVD (11c)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3136391"/>
            <a:ext cx="7772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56648" y="3191255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0.861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69880" y="3136391"/>
            <a:ext cx="7315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533888" y="3191255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0.858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201400" y="3136391"/>
            <a:ext cx="685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65408" y="3191255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0.147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557015"/>
            <a:ext cx="1463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93608" y="36118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FE (+5)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92640" y="3557015"/>
            <a:ext cx="7772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56648" y="3611879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0.991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69880" y="3557015"/>
            <a:ext cx="73152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33888" y="361187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201400" y="3557015"/>
            <a:ext cx="68580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265408" y="3611879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0.149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4206240"/>
            <a:ext cx="3584448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8229600" y="4206240"/>
            <a:ext cx="128016" cy="2240280"/>
          </a:xfrm>
          <a:prstGeom prst="roundRect">
            <a:avLst>
              <a:gd name="adj" fmla="val 7000"/>
            </a:avLst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03920" y="43159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E57C2"/>
                </a:solidFill>
                <a:latin typeface="Segoe UI"/>
              </a:rPr>
              <a:t>Lectura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4663440"/>
            <a:ext cx="3154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Clasificación: PCA/SVD pierden señal (F1 0.87 / 0.86 vs 0.96)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Clustering: PCA mejora la separación — Silhouette 0.11 → 0.15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FE: BMI eleva F1 a 0.99, pero casi determina el target (construido desde IMC)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Descubrimientos Destacados y Bibliografía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Hallazgos respaldados por métricas y contrastados con literatura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14 ·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562356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128016" cy="1554480"/>
          </a:xfrm>
          <a:prstGeom prst="roundRect">
            <a:avLst>
              <a:gd name="adj" fmla="val 7000"/>
            </a:avLst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4904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9E6E"/>
                </a:solidFill>
                <a:latin typeface="Segoe UI"/>
              </a:rPr>
              <a:t>1 · Mejor clasificador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37944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Random Forest: F1 macro 0.960 y accuracy 0.960 en test. Das et al. (2026) reportan resultados comparables con ensembles sobre este mismo dataset.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62356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128016" cy="1554480"/>
          </a:xfrm>
          <a:prstGeom prst="roundRect">
            <a:avLst>
              <a:gd name="adj" fmla="val 7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4904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5B"/>
                </a:solidFill>
                <a:latin typeface="Segoe UI"/>
              </a:rPr>
              <a:t>2 · La historia familiar domina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837944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Las reglas con mayor Lift (&gt;6) incluyen family_history=yes; los clusters de mayor IMC superan 90% de antecedentes. Coincide con el estudio HUNT (Næss et al., 2016): dos padres con sobrepeso → BMI z-score +0.76 en hijos.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562356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11480" y="3108960"/>
            <a:ext cx="128016" cy="1554480"/>
          </a:xfrm>
          <a:prstGeom prst="roundRect">
            <a:avLst>
              <a:gd name="adj" fmla="val 7000"/>
            </a:avLst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31821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E57C2"/>
                </a:solidFill>
                <a:latin typeface="Segoe UI"/>
              </a:rPr>
              <a:t>3 · El IMC casi determina el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529584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Con BMI como atributo, F1 sube de 0.960 a 0.990. El target fue construido desde el IMC (Mendoza Palechor, 2019) → el modelo útil en la práctica es el que predice solo con hábitos.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108960"/>
            <a:ext cx="562356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17920" y="3108960"/>
            <a:ext cx="128016" cy="1554480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10528" y="31821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A5"/>
                </a:solidFill>
                <a:latin typeface="Segoe UI"/>
              </a:rPr>
              <a:t>4 · Reducción dimensional: efecto mixto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529584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En clasificación PCA/SVD pierden señal (F1 0.868 / 0.858), pero PCA mejora el clustering (Silhouette 0.106 → 0.151). La utilidad depende de la tarea.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937760"/>
            <a:ext cx="11384280" cy="1508760"/>
          </a:xfrm>
          <a:prstGeom prst="roundRect">
            <a:avLst>
              <a:gd name="adj" fmla="val 7000"/>
            </a:avLst>
          </a:prstGeom>
          <a:solidFill>
            <a:srgbClr val="E4F4F4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11480" y="4937760"/>
            <a:ext cx="128016" cy="1508760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50292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Bibliografía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58384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Mendoza Palechor, F., &amp; De la Hoz Manotas, A. (2019). Dataset for estimation of obesity levels… Data in Brief, 25, 104344. doi:10.1016/j.dib.2019.104344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Das, S., et al. (2026). GBWOEM: A Gradient-Based Weight Optimization Model… F1000Research, 14, 1161. doi:10.12688/f1000research.169436.2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Næss, M., et al. (2016). Intergenerational Transmission of Overweight and Obesity — The HUNT Study. PLoS ONE, 11(11), e0166585. doi:10.1371/journal.pone.0166585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41280" y="-1645920"/>
            <a:ext cx="3474720" cy="34747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7120" y="-548640"/>
            <a:ext cx="1828800" cy="1828800"/>
          </a:xfrm>
          <a:prstGeom prst="ellipse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24128"/>
            <a:ext cx="2011680" cy="38100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Conclusiones y Mejoras Futuras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A5BC"/>
                </a:solidFill>
                <a:latin typeface="Segoe UI"/>
              </a:rPr>
              <a:t>CRISP-DM · Estimation of Obesity Levels — UCI Machine Learning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E7F9E"/>
                </a:solidFill>
                <a:latin typeface="Segoe UI"/>
              </a:rPr>
              <a:t>15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91640"/>
            <a:ext cx="11384280" cy="868680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764792"/>
            <a:ext cx="82296" cy="722376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A5"/>
                </a:solidFill>
                <a:latin typeface="Segoe UI"/>
              </a:rPr>
              <a:t>Clustering K-Means (k=4)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746504"/>
            <a:ext cx="7543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E2EC"/>
                </a:solidFill>
                <a:latin typeface="Segoe UI"/>
              </a:rPr>
              <a:t>Cuatro perfiles de riesgo diferenciados por IMC, peso y actividad física. El grupo de obesidad severa concentra 100% de historia familiar y la menor actividad física.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651760"/>
            <a:ext cx="11384280" cy="868680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2724912"/>
            <a:ext cx="82296" cy="722376"/>
          </a:xfrm>
          <a:prstGeom prst="rect">
            <a:avLst/>
          </a:prstGeom>
          <a:solidFill>
            <a:srgbClr val="7DE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E8B8"/>
                </a:solidFill>
                <a:latin typeface="Segoe UI"/>
              </a:rPr>
              <a:t>Clasificación — 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706624"/>
            <a:ext cx="7543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E2EC"/>
                </a:solidFill>
                <a:latin typeface="Segoe UI"/>
              </a:rPr>
              <a:t>Mejor modelo entre cinco algoritmos: F1 macro 0.9596 y accuracy 96.0% sobre datos de testeo.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611880"/>
            <a:ext cx="11384280" cy="868680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3685032"/>
            <a:ext cx="82296" cy="722376"/>
          </a:xfrm>
          <a:prstGeom prst="rect">
            <a:avLst/>
          </a:prstGeom>
          <a:solidFill>
            <a:srgbClr val="F2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A04E"/>
                </a:solidFill>
                <a:latin typeface="Segoe UI"/>
              </a:rPr>
              <a:t>Asociación FP-Growth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666744"/>
            <a:ext cx="7543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E2EC"/>
                </a:solidFill>
                <a:latin typeface="Segoe UI"/>
              </a:rPr>
              <a:t>Lift máximo 6.38: historia familiar + hábitos hipercalóricos + sedentarismo forman un predictor combinado robusto de obesidad severa. Seis reglas novedosas interpretadas.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572000"/>
            <a:ext cx="11384280" cy="868680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4645152"/>
            <a:ext cx="82296" cy="722376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617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E93D8"/>
                </a:solidFill>
                <a:latin typeface="Segoe UI"/>
              </a:rPr>
              <a:t>Experimentos de transformación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626864"/>
            <a:ext cx="7543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E2EC"/>
                </a:solidFill>
                <a:latin typeface="Segoe UI"/>
              </a:rPr>
              <a:t>PCA mejora el clustering (Silhouette 0.11 → 0.15) pero pierde señal en clasificación; la ingeniería de características eleva F1 a 0.99, con la advertencia de que el IMC casi determina el target.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532120"/>
            <a:ext cx="11384280" cy="868680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5605272"/>
            <a:ext cx="82296" cy="722376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5577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5B"/>
                </a:solidFill>
                <a:latin typeface="Segoe UI"/>
              </a:rPr>
              <a:t>Mejoras futuras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586984"/>
            <a:ext cx="7543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E2EC"/>
                </a:solidFill>
                <a:latin typeface="Segoe UI"/>
              </a:rPr>
              <a:t>Optimización de hiperparámetros con validación cruzada · modelo solo con hábitos (sin antropometría directa) · validación con datos reales no sintéticos · aplicación de consulta del clasificador (Streamlit).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5105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E95AE"/>
                </a:solidFill>
                <a:latin typeface="Segoe UI"/>
              </a:rPr>
              <a:t>Notebook reproducible · Dataset UCI · Dante Gil Zenteno — Magíster en Data Science, USS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2416</Words>
  <Application>Microsoft Office PowerPoint</Application>
  <PresentationFormat>Personalizado</PresentationFormat>
  <Paragraphs>319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Dantek_ROG</dc:creator>
  <cp:keywords/>
  <dc:description>generated using python-pptx</dc:description>
  <cp:lastModifiedBy>DANTE GIL ZENTENO</cp:lastModifiedBy>
  <cp:revision>2</cp:revision>
  <dcterms:created xsi:type="dcterms:W3CDTF">2013-01-27T09:14:16Z</dcterms:created>
  <dcterms:modified xsi:type="dcterms:W3CDTF">2026-06-13T15:47:01Z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f4e9a4a-eb20-4aad-9a64-8872817c1a6f_Enabled">
    <vt:lpwstr>true</vt:lpwstr>
  </property>
  <property fmtid="{D5CDD505-2E9C-101B-9397-08002B2CF9AE}" pid="3" name="MSIP_Label_9f4e9a4a-eb20-4aad-9a64-8872817c1a6f_SetDate">
    <vt:lpwstr>2026-06-13T15:47:01Z</vt:lpwstr>
  </property>
  <property fmtid="{D5CDD505-2E9C-101B-9397-08002B2CF9AE}" pid="4" name="MSIP_Label_9f4e9a4a-eb20-4aad-9a64-8872817c1a6f_Method">
    <vt:lpwstr>Standard</vt:lpwstr>
  </property>
  <property fmtid="{D5CDD505-2E9C-101B-9397-08002B2CF9AE}" pid="5" name="MSIP_Label_9f4e9a4a-eb20-4aad-9a64-8872817c1a6f_Name">
    <vt:lpwstr>defa4170-0d19-0005-0004-bc88714345d2</vt:lpwstr>
  </property>
  <property fmtid="{D5CDD505-2E9C-101B-9397-08002B2CF9AE}" pid="6" name="MSIP_Label_9f4e9a4a-eb20-4aad-9a64-8872817c1a6f_SiteId">
    <vt:lpwstr>7a599002-001c-432c-846e-1ddca9f6b299</vt:lpwstr>
  </property>
  <property fmtid="{D5CDD505-2E9C-101B-9397-08002B2CF9AE}" pid="7" name="MSIP_Label_9f4e9a4a-eb20-4aad-9a64-8872817c1a6f_ActionId">
    <vt:lpwstr>4d77cfac-c1f9-470e-b7a0-55ea4f6d43b8</vt:lpwstr>
  </property>
  <property fmtid="{D5CDD505-2E9C-101B-9397-08002B2CF9AE}" pid="8" name="MSIP_Label_9f4e9a4a-eb20-4aad-9a64-8872817c1a6f_ContentBits">
    <vt:lpwstr>0</vt:lpwstr>
  </property>
  <property fmtid="{D5CDD505-2E9C-101B-9397-08002B2CF9AE}" pid="9" name="MSIP_Label_9f4e9a4a-eb20-4aad-9a64-8872817c1a6f_Tag">
    <vt:lpwstr>10, 3, 0, 1</vt:lpwstr>
  </property>
</Properties>
</file>