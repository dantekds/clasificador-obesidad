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3566160"/>
            <a:ext cx="4754880" cy="4754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663440"/>
            <a:ext cx="3291840" cy="329184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463040"/>
            <a:ext cx="2377440" cy="23774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822960" y="5394960"/>
            <a:ext cx="2194560" cy="2194560"/>
          </a:xfrm>
          <a:prstGeom prst="ellipse">
            <a:avLst/>
          </a:prstGeom>
          <a:solidFill>
            <a:srgbClr val="2A4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395728"/>
            <a:ext cx="237744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777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A5"/>
                </a:solidFill>
                <a:latin typeface="Segoe UI"/>
              </a:rPr>
              <a:t>TALLER DE APLICACIONES · MAGÍSTER EN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Análisis de Niveles de Obesidad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ACBDE"/>
                </a:solidFill>
                <a:latin typeface="Segoe UI"/>
              </a:rPr>
              <a:t>Clustering · Clasificación · Reglas de Asociación · Experimentos de Transformación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5BC"/>
                </a:solidFill>
                <a:latin typeface="Segoe UI"/>
              </a:rPr>
              <a:t>Metodología CRISP-DM aplicada al dataset Estimation of Obesity Levels
UCI Machine Learning Repository · 2.111 registros · México, Perú y Colombia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41647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977639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ALUMNO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22452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Dante Gil Zenteno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754879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690871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DOCENTE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9377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Dr. Mauricio Sepúlveda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468111"/>
            <a:ext cx="64008" cy="4572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404103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E95AE"/>
                </a:solidFill>
                <a:latin typeface="Segoe UI"/>
              </a:rPr>
              <a:t>FACULTAD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6509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Facultad de Ingeniería — USS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355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E95AE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Objetivo del Trabajo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1 — Comprensión del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02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486400" cy="4983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4983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72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4983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2.111 registros de México, Perú y Colombia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17 atributos: hábitos alimentarios, actividad física y características personales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Variable objetivo NObeyesdad: 7 niveles de obesidad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Clases balanceadas (272–351 registros por nivel)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Sin valores nulos ni duplicados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243342"/>
                </a:solidFill>
                <a:latin typeface="Segoe UI"/>
              </a:rPr>
              <a:t>•  77% de registros sintéticos vía SMOTE — Mendoza Palechor &amp; De la Hoz (2019)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760720"/>
            <a:ext cx="489204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897880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B7B"/>
                </a:solidFill>
                <a:latin typeface="Segoe UI"/>
              </a:rPr>
              <a:t>Fuente: UCI Machine Learning Repository · doi:10.1016/j.dib.2019.104344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5623560" cy="2880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128016" cy="288036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7276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Preguntas Guía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5740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¿Existen grupos de personas con perfiles de riesgo similares?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¿Qué algoritmo predice mejor el nivel de obesidad?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¿Qué combinaciones de hábitos se asocian con la obesidad?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¿Cómo cambian los resultados con reducción de dimensionalidad?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¿Aportan valor nuevos atributos de ingeniería de características?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526280"/>
            <a:ext cx="562356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4526280"/>
            <a:ext cx="128016" cy="1874519"/>
          </a:xfrm>
          <a:prstGeom prst="roundRect">
            <a:avLst>
              <a:gd name="adj" fmla="val 7000"/>
            </a:avLst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6817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2A47"/>
                </a:solidFill>
                <a:latin typeface="Segoe UI"/>
              </a:rPr>
              <a:t>Objetivo General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102352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Aplicar CRISP-DM con agrupamiento, clasificación y asociación FP-Growth, incorporando tres experimentos de transformación de datos y comparando su impacto en las métricas.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Metodología CRISP-DM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Seis fases que estructuran todo el análisis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03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8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Comprensión del Negocio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Preguntas guía y métricas de éxito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62272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Comprensión de los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Inspección, calidad y balance de clases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17320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48471" y="1691640"/>
            <a:ext cx="731520" cy="73152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1" y="1801368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156362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Preparación de los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7" y="2039112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Codificación y escalado por técnica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76072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Modelamiento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5608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K-Means · 5 clasificadores · FP-Growth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62272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Evaluación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Métricas en test, Lift y experimentos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898648"/>
            <a:ext cx="37033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48471" y="3172968"/>
            <a:ext cx="731520" cy="731520"/>
          </a:xfrm>
          <a:prstGeom prst="ellipse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1" y="3282696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30449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Comunicación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08007" y="352044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B7B"/>
                </a:solidFill>
                <a:latin typeface="Segoe UI"/>
              </a:rPr>
              <a:t>Presentación + notebook reproducible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526280"/>
            <a:ext cx="11384280" cy="1874519"/>
          </a:xfrm>
          <a:prstGeom prst="roundRect">
            <a:avLst>
              <a:gd name="adj" fmla="val 7000"/>
            </a:avLst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11480" y="4526280"/>
            <a:ext cx="128016" cy="1874519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663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Qué aportó la metodología a este proyecto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074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Definir preguntas guía ANTES de tocar datos evitó modelar sin entender el problema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La inspección temprana (nulos, duplicados, balance) descartó problemas de calidad y retrabajos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Preparar los datos POR TÉCNICA (escalado / pipelines / discretización) eliminó fugas de datos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La fase de evaluación obligó a comparar en test y a documentar también los resultados que no mejoran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2 — Comprensión de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04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4846320" cy="4983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4983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54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Variables (17)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93392"/>
            <a:ext cx="4389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Género · Edad · Altura · Peso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Historia familiar de sobrepeso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Alimentos hipercalóricos (FAVC)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Frecuencia de vegetales (FCVC)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Comidas principales (NCP)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Snacks entre comidas (CAEC)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Tabaquismo (SMOKE) · Agua (CH2O)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Monitoreo de calorías (SCC)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Actividad física (FAF) · Pantallas (TUE)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43342"/>
                </a:solidFill>
                <a:latin typeface="Segoe UI"/>
              </a:rPr>
              <a:t>•  Alcohol (CALC) · Transporte (MTRANS)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420624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806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5B"/>
                </a:solidFill>
                <a:latin typeface="Segoe UI"/>
              </a:rPr>
              <a:t>★ Target: NObeyesdad — 7 clases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48132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Distribución de la Variable Objetivo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920240"/>
            <a:ext cx="347472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197510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Nivel de Obesidad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920240"/>
            <a:ext cx="132588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19751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Registros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1920240"/>
            <a:ext cx="132588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197510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2340864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41848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234086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39572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351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78440" y="2340864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42448" y="239572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16.6%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761488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1848" y="28163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Obesity_Type_III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2761488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6568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324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378440" y="2761488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281635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15.3%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3182112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41848" y="3236976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Obesity_Type_II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3182112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16568" y="323697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78440" y="3182112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3236976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14.1%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3602736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1848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Overweight_Level_I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52560" y="3602736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16568" y="3657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0" y="3602736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42448" y="36576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4023360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1848" y="407822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Overweight_Level_II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4023360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6568" y="407822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4023360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42448" y="4078224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13.7%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443984"/>
            <a:ext cx="34747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41848" y="44988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Normal_Weight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52560" y="4443984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16568" y="44988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287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378440" y="4443984"/>
            <a:ext cx="132588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442448" y="4498848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13.6%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864608"/>
            <a:ext cx="3474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41848" y="4919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Insufficient_Weight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52560" y="486460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16568" y="4919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272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378440" y="4864608"/>
            <a:ext cx="132588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42448" y="4919472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43342"/>
                </a:solidFill>
                <a:latin typeface="Segoe UI"/>
              </a:rPr>
              <a:t>12.9%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77840" y="544068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6B7B"/>
                </a:solidFill>
                <a:latin typeface="Segoe UI"/>
              </a:rPr>
              <a:t>Clases balanceadas → métricas macro confiables y sin necesidad de re-balancear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Preparación y Transformación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3 — Una preparación específica por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05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" y="1627632"/>
            <a:ext cx="502920" cy="381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Calidad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Sin nulos ni duplicados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Rangos numéricos consistentes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4912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6" y="1627632"/>
            <a:ext cx="502920" cy="38100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6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8 numéricas · 8 categóricas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Target: 7 clases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84648" y="1627632"/>
            <a:ext cx="50292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OrdinalEncoder + StandardScaler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Target excluido — sin fuga de datos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51775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79" y="1627632"/>
            <a:ext cx="50292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Clasificación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Pipeline con preprocesamiento dentro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Split estratificado 80/20 · seed 42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7" y="1417320"/>
            <a:ext cx="2176272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11511" y="1627632"/>
            <a:ext cx="502920" cy="38100"/>
          </a:xfrm>
          <a:prstGeom prst="rect">
            <a:avLst/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11511" y="17556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FP-Growth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1" y="221284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Numéricas discretizadas en rangos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Ítems binarios: Gender=Female…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09160"/>
            <a:ext cx="11384280" cy="1691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1480" y="4709160"/>
            <a:ext cx="128016" cy="169164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846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E57C2"/>
                </a:solidFill>
                <a:latin typeface="Segoe UI"/>
              </a:rPr>
              <a:t>Transformaciones experimentales evaluadas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85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43342"/>
                </a:solidFill>
                <a:latin typeface="Segoe UI"/>
              </a:rPr>
              <a:t>PCA (14 componentes — 95% de varianza)   ·   TruncatedSVD sobre One-Hot (11 componentes — 90% de varianza)   ·   5 atributos nuevos: BMI, BMI_Category, Healthy_Habits_Score, Risky_Eating_Score, Sedentary_Risk_Score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Análisis Exploratorio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Distribuciones, correlaciones y patrones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06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035040" cy="254569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distribucion_obje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5815584" cy="23262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29400" y="1417320"/>
            <a:ext cx="5166360" cy="40670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_correl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1527048"/>
            <a:ext cx="4946904" cy="3847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11480" y="562356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28016" cy="8686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7044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43342"/>
                </a:solidFill>
                <a:latin typeface="Segoe UI"/>
              </a:rPr>
              <a:t>Hallazgos:  7 clases balanceadas (272–351 por nivel)   ·   Weight y Height son las variables más correlacionadas con el target   ·   Age aporta menos discriminación entre clases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Clustering — Algoritmo y Número de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4 — Agrupamiento con K-Means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07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7406640" cy="298375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evaluacion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7187184" cy="276430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1417320"/>
            <a:ext cx="3794760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417320"/>
            <a:ext cx="128016" cy="233172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¿Por qué K-Means?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965960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Escala bien con 2.111 registros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Centroides interpretables como perfiles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Alternativas evaluadas: DBSCAN (calibrar eps) y jerárquico (lento, resultado similar)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931920"/>
            <a:ext cx="3794760" cy="2468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3931920"/>
            <a:ext cx="128016" cy="246888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069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¿Por qué k = 4?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48056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k=2 maximiza Silhouette pero solo separa "obeso / no obeso"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k=4 mapea los 7 niveles en 4 perfiles de riesgo accionables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Silhouettes &lt; 0.20 en todo el rango: esperable en datos de salud con registros sintéticos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Clustering — Cuatro Perfiles de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Interpretación de cada grupo con la variable objetivo como lectura externa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08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949440" cy="262302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_clusters_visu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6729984" cy="240356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417320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89520" y="1417320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49047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0 · 22.4%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2127" y="17830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A5"/>
                </a:solidFill>
                <a:latin typeface="Segoe UI"/>
              </a:rPr>
              <a:t>Bajo peso / Normal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20939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21.4 · 56.6 kg · 20.8 años · FAF 1.10 · Hist. familiar 41%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97480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0" y="2697480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82127" y="277063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1 · 23.1%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0632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Obesidad severa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3741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37.8 · 106.6 kg · 22.9 años · FAF 0.73 · Hist. familiar 100%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977639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89520" y="3977639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405079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2 · 36.4%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34339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4E"/>
                </a:solidFill>
                <a:latin typeface="Segoe UI"/>
              </a:rPr>
              <a:t>Obesidad moderada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46542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28.9 · 90.2 kg · 22.3 años · FAF 1.20 · Hist. familiar 90%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5257799"/>
            <a:ext cx="4206240" cy="115214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0" y="5257799"/>
            <a:ext cx="128016" cy="1152144"/>
          </a:xfrm>
          <a:prstGeom prst="roundRect">
            <a:avLst>
              <a:gd name="adj" fmla="val 7000"/>
            </a:avLst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7" y="533095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Cluster 3 · 18.1%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5623559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F9E6E"/>
                </a:solidFill>
                <a:latin typeface="Segoe UI"/>
              </a:rPr>
              <a:t>Obesidad leve / tipo 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593445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B7B"/>
                </a:solidFill>
                <a:latin typeface="Segoe UI"/>
              </a:rPr>
              <a:t>IMC 31.2 · 91.0 kg · 34.4 años · FAF 0.88 · Hist. familiar 92%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Clasificación — Cinco Modelos Comparados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4 — Pipelines sin fuga de datos, evaluación en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09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8229600" cy="386043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8010144" cy="36409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869680" y="1417320"/>
            <a:ext cx="2926080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417320"/>
            <a:ext cx="128016" cy="228600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25712" y="1554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Configuración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1938528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Train / Test: 80 / 20 estratificado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Preprocesamiento dentro del pipeline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Métricas macro (las 7 clases pesan igual)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random_state = 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886200"/>
            <a:ext cx="292608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69680" y="3886200"/>
            <a:ext cx="128016" cy="251460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Modelos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4407408"/>
            <a:ext cx="2560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Regresión Logística multinomial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Árbol de Decisión (prof. 12)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Random Forest (100 árboles)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KNN (k=7)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243342"/>
                </a:solidFill>
                <a:latin typeface="Segoe UI"/>
              </a:rPr>
              <a:t>•  XGBoost (200 árboles)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Clasificación — Resultados en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CRISP-DM · Fase 5 — Métricas sobre el 20% nunca visto en entrenamiento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10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5577840" cy="438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5358384" cy="41676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2A47"/>
                </a:solidFill>
                <a:latin typeface="Segoe UI"/>
              </a:rPr>
              <a:t>Métricas por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74519"/>
            <a:ext cx="201168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9293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Modelo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Precisión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04120" y="1874519"/>
            <a:ext cx="8229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68128" y="19293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27080" y="1874519"/>
            <a:ext cx="91440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91088" y="1929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F1 macro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31719"/>
            <a:ext cx="201168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3865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9E6E"/>
                </a:solidFill>
                <a:latin typeface="Segoe UI"/>
              </a:rPr>
              <a:t>Random Forest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0.9623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2331719"/>
            <a:ext cx="82296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8128" y="23865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27080" y="2331719"/>
            <a:ext cx="914400" cy="457200"/>
          </a:xfrm>
          <a:prstGeom prst="rect">
            <a:avLst/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91088" y="23865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F9E6E"/>
                </a:solidFill>
                <a:latin typeface="Segoe UI"/>
              </a:rPr>
              <a:t>0.9596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788919"/>
            <a:ext cx="2011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28437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XGBoost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0.9558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788919"/>
            <a:ext cx="8229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8128" y="28437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0.9537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27080" y="27889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91088" y="28437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0.9541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246119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3009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Árbol de Decisión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532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932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0.9102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372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0.9107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04120" y="3246119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68128" y="33009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0.9081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27080" y="32461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91088" y="33009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0.9089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703319"/>
            <a:ext cx="201168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37581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Regresión Logística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2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0.8723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5372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0.8693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04120" y="3703319"/>
            <a:ext cx="8229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68128" y="37581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0.8688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927080" y="3703319"/>
            <a:ext cx="9144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91088" y="37581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4160519"/>
            <a:ext cx="20116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7648" y="4215383"/>
            <a:ext cx="1920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KNN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7532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3932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0.8274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18972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5372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0.8301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104120" y="4160519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68128" y="4215383"/>
            <a:ext cx="731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0.8221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27080" y="4160519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91088" y="4215383"/>
            <a:ext cx="822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0.8129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4800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48737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9E6E"/>
                </a:solidFill>
                <a:latin typeface="Segoe UI"/>
              </a:rPr>
              <a:t>0.9596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B7B"/>
                </a:solidFill>
                <a:latin typeface="Segoe UI"/>
              </a:rPr>
              <a:t>F1 macro · Random Forest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4800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487375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EA5A5"/>
                </a:solidFill>
                <a:latin typeface="Segoe UI"/>
              </a:rPr>
              <a:t>96.0%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53309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6B7B"/>
                </a:solidFill>
                <a:latin typeface="Segoe UI"/>
              </a:rPr>
              <a:t>Accuracy en test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5897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6B7B"/>
                </a:solidFill>
                <a:latin typeface="Segoe UI"/>
              </a:rPr>
              <a:t>Los errores se concentran en clases limítrofes (Normal / Overweight) — esperable porque sus fronteras de IMC son continuas.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FP-Growth — Reglas con Mejores Indicadores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min_support 0.15 · min_confidence 0.70 · Lift &gt; 2.0 · target como consecuente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11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6583680" cy="266723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reglas_asoci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6364224" cy="24477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694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2A47"/>
                </a:solidFill>
                <a:latin typeface="Segoe UI"/>
              </a:rPr>
              <a:t>Top reglas hacia NObeyesdad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9480" y="1874519"/>
            <a:ext cx="26517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33488" y="19293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Antecedentes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1874519"/>
            <a:ext cx="73152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85248" y="19293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Consecuente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52760" y="1874519"/>
            <a:ext cx="5943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16768" y="1929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Conf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47120" y="1874519"/>
            <a:ext cx="594360" cy="457200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11128" y="1929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3317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3865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family_history=yes + Weight=Extremo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21240" y="23317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85248" y="23865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52760" y="23317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16768" y="2386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47120" y="23317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11128" y="2386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7889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28437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FAVC=yes + FAF=Nulo + Weight=Alto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27889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28437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52760" y="27889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16768" y="28437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47120" y="27889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311128" y="28437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32461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33488" y="33009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MTRANS=Public + FCVC=Alto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32461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85248" y="33009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52760" y="32461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16768" y="33009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47120" y="32461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311128" y="33009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7033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37581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NCP=Normal + SCC=no + FAVC=yes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21240" y="37033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85248" y="37581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52760" y="37033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16768" y="37581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47120" y="37033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311128" y="37581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4160519"/>
            <a:ext cx="2651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33488" y="42153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CALC=Sometimes + Gender=Female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21240" y="4160519"/>
            <a:ext cx="731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85248" y="42153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Obesity_III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652760" y="41605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16768" y="4215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247120" y="4160519"/>
            <a:ext cx="5943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311128" y="42153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6.31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4617719"/>
            <a:ext cx="2651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33488" y="4672583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43342"/>
                </a:solidFill>
                <a:latin typeface="Segoe UI"/>
              </a:rPr>
              <a:t>CH2O=Bajo + FAF=Nulo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921240" y="4617719"/>
            <a:ext cx="73152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85248" y="4672583"/>
            <a:ext cx="640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Obesity_I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652760" y="46177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16768" y="4672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0.94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247120" y="4617719"/>
            <a:ext cx="5943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11128" y="4672583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43342"/>
                </a:solidFill>
                <a:latin typeface="Segoe UI"/>
              </a:rPr>
              <a:t>5.47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69480" y="4800600"/>
            <a:ext cx="4526280" cy="777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269480" y="4800600"/>
            <a:ext cx="128016" cy="77724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43800" y="50109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Lift &gt; 6  ⇒  la regla es 6× más probable que el azar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9480" y="5715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A47"/>
                </a:solidFill>
                <a:latin typeface="Segoe UI"/>
              </a:rPr>
              <a:t>7.312 itemsets frecuentes · 134.739 reglas generadas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694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B7B"/>
                </a:solidFill>
                <a:latin typeface="Segoe UI"/>
              </a:rPr>
              <a:t>Support = P(A∪B) · Confidence = P(B|A) · Lift = Confidence / P(B)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Seis Reglas Novedosas de Asociación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Seleccionadas por Lift alto, antecedentes múltiples y valor interpretativo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12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FAVC=yes, FCVC=Alto, Gender=Female, MTRANS=Public_Transportation, NCP=Normal, SCC=no, family_history_with_overweight=yes  →  NObeyesdad=Obesity_Type_III   (Conf. 97.9% · Sup. 15.3%)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Combina factor genético con patrón conductual complejo — no trivial.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FAVC=yes, FCVC=Alto, Gender=Female, MTRANS=Public_Transportation, NCP=Normal, SCC=no, family_history_with_overweight=yes  →  NObeyesdad=Obesity_Type_III, SMOKE=no   (Conf. 97.6% · Sup. 15.2%)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El transporte público sedentario potencia el efecto de la dieta hipercalórica.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4173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4173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39" y="14813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19" y="14996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19293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CALC=Sometimes, FAVC=yes, FCVC=Alto, Gender=Female, MTRANS=Public_Transportation, NCP=Normal, SCC=no, SMOKE=no, family_history_with_overweight=yes  →  CAEC=Sometimes, NObeyesdad=Obesity_Type_III   (Conf. 97.6% · Sup. 15.2%)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39" y="29718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39" y="30632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No fumar no protege de la obesidad severa cuando los hábitos alimentarios son malos.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CALC=Sometimes, FAVC=yes, FCVC=Alto, Gender=Female, MTRANS=Public_Transportation, NCP=Normal, SCC=no, family_history_with_overweight=yes  →  CAEC=Sometimes, NObeyesdad=Obesity_Type_III, SMOKE=no   (Conf. 97.0% · Sup. 15.2%)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Snacking y alcohol moderado refuerzan el riesgo — regla multivariada.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34840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FCVC=Alto, Gender=Female, MTRANS=Public_Transportation, NCP=Normal, SCC=no, family_history_with_overweight=yes  →  FAVC=yes, NObeyesdad=Obesity_Type_III   (Conf. 97.0% · Sup. 15.3%)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Predice también el patrón de conducta (FAVC), no solo el nivel de obesidad.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3931920"/>
            <a:ext cx="370332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79" y="3931920"/>
            <a:ext cx="3703320" cy="4572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9" y="39959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Regla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19" y="401421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EE7E7"/>
                </a:solidFill>
                <a:latin typeface="Segoe UI"/>
              </a:rPr>
              <a:t>Lift 6.34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9" y="4443984"/>
            <a:ext cx="3429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43342"/>
                </a:solidFill>
                <a:latin typeface="Segoe UI"/>
              </a:rPr>
              <a:t>CAEC=Sometimes, CALC=Sometimes, FCVC=Alto, Gender=Female, MTRANS=Public_Transportation, NCP=Normal, SCC=no, family_history_with_overweight=yes  →  FAVC=yes, NObeyesdad=Obesity_Type_III, SMOKE=no   (Conf. 96.7% · Sup. 15.2%)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21039" y="5486400"/>
            <a:ext cx="3429000" cy="1524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39" y="5577840"/>
            <a:ext cx="3429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EA5A5"/>
                </a:solidFill>
                <a:latin typeface="Segoe UI"/>
              </a:rPr>
              <a:t>Alcohol ocasional en mujeres con antecedentes familiares y dieta alta en calorías.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Experimentos — PCA · TruncatedSVD · Ingeniería de Características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¿Cómo cambian clustering y clasificación con cada transformación?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13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7635240" cy="26913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6_comparacion_experi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048"/>
            <a:ext cx="7415784" cy="24719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Resultados (Random Forest · KMeans k=4)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874519"/>
            <a:ext cx="146304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2938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Experimento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0" y="1874519"/>
            <a:ext cx="77724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8" y="1929383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Acc.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69880" y="1874519"/>
            <a:ext cx="73152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33888" y="1929383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201400" y="1874519"/>
            <a:ext cx="685800" cy="420624"/>
          </a:xfrm>
          <a:prstGeom prst="rect">
            <a:avLst/>
          </a:prstGeom>
          <a:solidFill>
            <a:srgbClr val="162A47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65408" y="1929383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Silh.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295143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235000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295143"/>
            <a:ext cx="777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350007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69880" y="2295143"/>
            <a:ext cx="7315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33888" y="235000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0.960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01400" y="2295143"/>
            <a:ext cx="685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65408" y="2350007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715767"/>
            <a:ext cx="1463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2770631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PCA (14c)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2715767"/>
            <a:ext cx="7772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2770631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2715767"/>
            <a:ext cx="7315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33888" y="2770631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201400" y="2715767"/>
            <a:ext cx="685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65408" y="2770631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0.151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136391"/>
            <a:ext cx="14630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319125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SVD (11c)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3136391"/>
            <a:ext cx="77724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56648" y="3191255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0.861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9880" y="3136391"/>
            <a:ext cx="7315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33888" y="3191255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0.858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01400" y="3136391"/>
            <a:ext cx="68580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265408" y="3191255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0.147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557015"/>
            <a:ext cx="14630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8" y="36118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FE (+5)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3557015"/>
            <a:ext cx="77724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56648" y="3611879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3557015"/>
            <a:ext cx="73152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33888" y="361187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0.990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201400" y="3557015"/>
            <a:ext cx="68580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265408" y="3611879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43342"/>
                </a:solidFill>
                <a:latin typeface="Segoe UI"/>
              </a:rPr>
              <a:t>0.149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4206240"/>
            <a:ext cx="3584448" cy="2240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4206240"/>
            <a:ext cx="128016" cy="224028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4315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57C2"/>
                </a:solidFill>
                <a:latin typeface="Segoe UI"/>
              </a:rPr>
              <a:t>Lectura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663440"/>
            <a:ext cx="3154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Clasificación: PCA/SVD pierden señal (F1 0.87 / 0.86 vs 0.96)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Clustering: PCA mejora la separación — Silhouette 0.11 → 0.15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FE: BMI eleva F1 a 0.99, pero casi determina el target (construido desde IMC)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92608"/>
            <a:ext cx="146304" cy="566928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011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A47"/>
                </a:solidFill>
                <a:latin typeface="Segoe UI"/>
              </a:rPr>
              <a:t>Descubrimientos Destacados y Bibliografía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B7B"/>
                </a:solidFill>
                <a:latin typeface="Segoe UI"/>
              </a:rPr>
              <a:t>Hallazgos respaldados por métricas y contrastados con literatura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70432"/>
            <a:ext cx="11365992" cy="17780"/>
          </a:xfrm>
          <a:prstGeom prst="rect">
            <a:avLst/>
          </a:prstGeom>
          <a:solidFill>
            <a:srgbClr val="DDE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A8B5"/>
                </a:solidFill>
                <a:latin typeface="Segoe UI"/>
              </a:rPr>
              <a:t>14 ·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41732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2F9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9E6E"/>
                </a:solidFill>
                <a:latin typeface="Segoe UI"/>
              </a:rPr>
              <a:t>1 · Mejor clasificador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3794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Random Forest: F1 macro 0.960 y accuracy 0.960 en test. Das et al. (2026) reportan resultados comparables con ensembles sobre este mismo dataset.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4904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5B"/>
                </a:solidFill>
                <a:latin typeface="Segoe UI"/>
              </a:rPr>
              <a:t>2 · La historia familiar domina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183794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Las reglas con mayor Lift (&gt;6) incluyen family_history=yes; los clusters de mayor IMC superan 90% de antecedentes. Coincide con el estudio HUNT (Næss et al., 2016): dos padres con sobrepeso → BMI z-score +0.76 en hijos.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10896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31821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E57C2"/>
                </a:solidFill>
                <a:latin typeface="Segoe UI"/>
              </a:rPr>
              <a:t>3 · El IMC casi determina el 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352958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Con BMI como atributo, F1 sube de 0.960 a 0.990. El target fue construido desde el IMC (Mendoza Palechor, 2019) → el modelo útil en la práctica es el que predice solo con hábitos.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108960"/>
            <a:ext cx="5623560" cy="15544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3108960"/>
            <a:ext cx="128016" cy="155448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18211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A5"/>
                </a:solidFill>
                <a:latin typeface="Segoe UI"/>
              </a:rPr>
              <a:t>4 · Reducción dimensional: efecto mixto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529584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43342"/>
                </a:solidFill>
                <a:latin typeface="Segoe UI"/>
              </a:rPr>
              <a:t>En clasificación PCA/SVD pierden señal (F1 0.868 / 0.858), pero PCA mejora el clustering (Silhouette 0.106 → 0.151). La utilidad depende de la tarea.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937760"/>
            <a:ext cx="11384280" cy="1508760"/>
          </a:xfrm>
          <a:prstGeom prst="roundRect">
            <a:avLst>
              <a:gd name="adj" fmla="val 7000"/>
            </a:avLst>
          </a:prstGeom>
          <a:solidFill>
            <a:srgbClr val="E4F4F4"/>
          </a:solidFill>
          <a:ln w="9525">
            <a:solidFill>
              <a:srgbClr val="DD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" y="4937760"/>
            <a:ext cx="128016" cy="1508760"/>
          </a:xfrm>
          <a:prstGeom prst="roundRect">
            <a:avLst>
              <a:gd name="adj" fmla="val 7000"/>
            </a:avLst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02920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2A47"/>
                </a:solidFill>
                <a:latin typeface="Segoe UI"/>
              </a:rPr>
              <a:t>Bibliografía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58384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Mendoza Palechor, F., &amp; De la Hoz Manotas, A. (2019). Dataset for estimation of obesity levels… Data in Brief, 25, 104344. doi:10.1016/j.dib.2019.104344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Das, S., et al. (2026). GBWOEM: A Gradient-Based Weight Optimization Model… F1000Research, 14, 1161. doi:10.12688/f1000research.169436.2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243342"/>
                </a:solidFill>
                <a:latin typeface="Segoe UI"/>
              </a:rPr>
              <a:t>•  Næss, M., et al. (2016). Intergenerational Transmission of Overweight and Obesity — The HUNT Study. PLoS ONE, 11(11), e0166585. doi:10.1371/journal.pone.0166585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1645920"/>
            <a:ext cx="3474720" cy="347472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-548640"/>
            <a:ext cx="1828800" cy="1828800"/>
          </a:xfrm>
          <a:prstGeom prst="ellipse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24128"/>
            <a:ext cx="2011680" cy="38100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Segoe UI"/>
              </a:rPr>
              <a:t>Conclusiones y Mejoras Futuras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FA5BC"/>
                </a:solidFill>
                <a:latin typeface="Segoe UI"/>
              </a:rPr>
              <a:t>CRISP-DM · Estimation of Obesity Levels — UCI Machine Learning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E7F9E"/>
                </a:solidFill>
                <a:latin typeface="Segoe UI"/>
              </a:rPr>
              <a:t>15 ·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9164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764792"/>
            <a:ext cx="82296" cy="722376"/>
          </a:xfrm>
          <a:prstGeom prst="rect">
            <a:avLst/>
          </a:prstGeom>
          <a:solidFill>
            <a:srgbClr val="0E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A5"/>
                </a:solidFill>
                <a:latin typeface="Segoe UI"/>
              </a:rPr>
              <a:t>Clustering K-Means (k=4)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4650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Cuatro perfiles de riesgo diferenciados por IMC, peso y actividad física. El grupo de obesidad severa concentra 100% de historia familiar y la menor actividad física.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65176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724912"/>
            <a:ext cx="82296" cy="722376"/>
          </a:xfrm>
          <a:prstGeom prst="rect">
            <a:avLst/>
          </a:prstGeom>
          <a:solidFill>
            <a:srgbClr val="7DE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E8B8"/>
                </a:solidFill>
                <a:latin typeface="Segoe UI"/>
              </a:rPr>
              <a:t>Clasificación —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70662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Mejor modelo entre cinco algoritmos: F1 macro 0.9596 y accuracy 96.0% sobre datos de testeo.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1188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85032"/>
            <a:ext cx="82296" cy="722376"/>
          </a:xfrm>
          <a:prstGeom prst="rect">
            <a:avLst/>
          </a:prstGeom>
          <a:solidFill>
            <a:srgbClr val="F2A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7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2A04E"/>
                </a:solidFill>
                <a:latin typeface="Segoe UI"/>
              </a:rPr>
              <a:t>Asociación FP-Growth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66674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Lift máximo 6.38: historia familiar + hábitos hipercalóricos + sedentarismo forman un predictor combinado robusto de obesidad severa. Seis reglas novedosas interpretadas.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57200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645152"/>
            <a:ext cx="82296" cy="722376"/>
          </a:xfrm>
          <a:prstGeom prst="rect">
            <a:avLst/>
          </a:prstGeom>
          <a:solidFill>
            <a:srgbClr val="CE9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E93D8"/>
                </a:solidFill>
                <a:latin typeface="Segoe UI"/>
              </a:rPr>
              <a:t>Experimentos de transformación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2686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PCA mejora el clustering (Silhouette 0.11 → 0.15) pero pierde señal en clasificación; la ingeniería de características eleva F1 a 0.99, con la advertencia de que el IMC casi determina el target.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532120"/>
            <a:ext cx="11384280" cy="868680"/>
          </a:xfrm>
          <a:prstGeom prst="roundRect">
            <a:avLst>
              <a:gd name="adj" fmla="val 7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5605272"/>
            <a:ext cx="82296" cy="722376"/>
          </a:xfrm>
          <a:prstGeom prst="rect">
            <a:avLst/>
          </a:prstGeom>
          <a:solidFill>
            <a:srgbClr val="FF6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77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5B"/>
                </a:solidFill>
                <a:latin typeface="Segoe UI"/>
              </a:rPr>
              <a:t>Mejoras futuras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586984"/>
            <a:ext cx="7543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E2EC"/>
                </a:solidFill>
                <a:latin typeface="Segoe UI"/>
              </a:rPr>
              <a:t>Optimización de hiperparámetros con validación cruzada · modelo solo con hábitos (sin antropometría directa) · validación con datos reales no sintéticos · aplicación de consulta del clasificador (Streamlit).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5105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E95AE"/>
                </a:solidFill>
                <a:latin typeface="Segoe UI"/>
              </a:rPr>
              <a:t>Notebook reproducible · Dataset UCI · Dante Gil Zenteno — Magíster en Data Science, USS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